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3">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EDC"/>
    <a:srgbClr val="FFFFCC"/>
    <a:srgbClr val="E7DBB3"/>
    <a:srgbClr val="D9C587"/>
    <a:srgbClr val="C2A33E"/>
    <a:srgbClr val="B99A3A"/>
    <a:srgbClr val="22B8C8"/>
    <a:srgbClr val="00FF99"/>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نمط فاتح 1 - تميي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نمط فاتح 1 - تميي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بلا نمط، بلا شبكة">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بلا نمط، شبكة جدول">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نمط متوسط 4 - تميي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78" autoAdjust="0"/>
    <p:restoredTop sz="90327" autoAdjust="0"/>
  </p:normalViewPr>
  <p:slideViewPr>
    <p:cSldViewPr snapToGrid="0">
      <p:cViewPr varScale="1">
        <p:scale>
          <a:sx n="74" d="100"/>
          <a:sy n="74" d="100"/>
        </p:scale>
        <p:origin x="1013" y="7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C69088C-3781-431A-A476-0B78C67E8465}" type="datetimeFigureOut">
              <a:rPr lang="ar-SA" smtClean="0"/>
              <a:t>06/07/1447</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E6C79077-6BA3-4C8B-A598-C096553750B8}" type="slidenum">
              <a:rPr lang="ar-SA" smtClean="0"/>
              <a:t>‹#›</a:t>
            </a:fld>
            <a:endParaRPr lang="ar-SA"/>
          </a:p>
        </p:txBody>
      </p:sp>
    </p:spTree>
    <p:extLst>
      <p:ext uri="{BB962C8B-B14F-4D97-AF65-F5344CB8AC3E}">
        <p14:creationId xmlns:p14="http://schemas.microsoft.com/office/powerpoint/2010/main" val="189501687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txBody>
          <a:bodyPr/>
          <a:lstStyle/>
          <a:p>
            <a:endParaRPr lang="ar-SA"/>
          </a:p>
        </p:txBody>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E6C79077-6BA3-4C8B-A598-C096553750B8}" type="slidenum">
              <a:rPr lang="ar-SA" smtClean="0"/>
              <a:t>6</a:t>
            </a:fld>
            <a:endParaRPr lang="ar-SA"/>
          </a:p>
        </p:txBody>
      </p:sp>
    </p:spTree>
    <p:extLst>
      <p:ext uri="{BB962C8B-B14F-4D97-AF65-F5344CB8AC3E}">
        <p14:creationId xmlns:p14="http://schemas.microsoft.com/office/powerpoint/2010/main" val="2373998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B637-ECD6-259C-280F-2EA63AA293A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45293833-B992-64D9-2901-E8F13F0CB469}"/>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70A0624E-ACC8-CA3F-EAF7-22C126EAAFF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52A506A7-68B0-6DAE-2E00-BD0C3EC1CC3A}"/>
              </a:ext>
            </a:extLst>
          </p:cNvPr>
          <p:cNvSpPr>
            <a:spLocks noGrp="1"/>
          </p:cNvSpPr>
          <p:nvPr>
            <p:ph type="sldNum" sz="quarter" idx="5"/>
          </p:nvPr>
        </p:nvSpPr>
        <p:spPr/>
        <p:txBody>
          <a:bodyPr/>
          <a:lstStyle/>
          <a:p>
            <a:fld id="{E6C79077-6BA3-4C8B-A598-C096553750B8}" type="slidenum">
              <a:rPr lang="ar-SA" smtClean="0"/>
              <a:t>7</a:t>
            </a:fld>
            <a:endParaRPr lang="ar-SA"/>
          </a:p>
        </p:txBody>
      </p:sp>
    </p:spTree>
    <p:extLst>
      <p:ext uri="{BB962C8B-B14F-4D97-AF65-F5344CB8AC3E}">
        <p14:creationId xmlns:p14="http://schemas.microsoft.com/office/powerpoint/2010/main" val="359372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C30F-147A-4A36-37DC-42DE57042CE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968BAC1-9729-9E4D-BBEA-E98DD62301F7}"/>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9B0B09CC-76D3-6707-180D-8E83FC035DBA}"/>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755ED23-79EB-89E1-97DF-648BCE07E22B}"/>
              </a:ext>
            </a:extLst>
          </p:cNvPr>
          <p:cNvSpPr>
            <a:spLocks noGrp="1"/>
          </p:cNvSpPr>
          <p:nvPr>
            <p:ph type="sldNum" sz="quarter" idx="5"/>
          </p:nvPr>
        </p:nvSpPr>
        <p:spPr/>
        <p:txBody>
          <a:bodyPr/>
          <a:lstStyle/>
          <a:p>
            <a:fld id="{E6C79077-6BA3-4C8B-A598-C096553750B8}" type="slidenum">
              <a:rPr lang="ar-SA" smtClean="0"/>
              <a:t>8</a:t>
            </a:fld>
            <a:endParaRPr lang="ar-SA"/>
          </a:p>
        </p:txBody>
      </p:sp>
    </p:spTree>
    <p:extLst>
      <p:ext uri="{BB962C8B-B14F-4D97-AF65-F5344CB8AC3E}">
        <p14:creationId xmlns:p14="http://schemas.microsoft.com/office/powerpoint/2010/main" val="2634711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6C69-28BD-5722-4E2A-B074ECD6C5FC}"/>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36DF82C-FC83-FAAA-4899-62DB23A89E1D}"/>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A5BBEDBC-E37A-856B-836C-AD17F79AA752}"/>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5851B4A-C9B0-488E-A52B-37D82596E5D3}"/>
              </a:ext>
            </a:extLst>
          </p:cNvPr>
          <p:cNvSpPr>
            <a:spLocks noGrp="1"/>
          </p:cNvSpPr>
          <p:nvPr>
            <p:ph type="sldNum" sz="quarter" idx="5"/>
          </p:nvPr>
        </p:nvSpPr>
        <p:spPr/>
        <p:txBody>
          <a:bodyPr/>
          <a:lstStyle/>
          <a:p>
            <a:fld id="{E6C79077-6BA3-4C8B-A598-C096553750B8}" type="slidenum">
              <a:rPr lang="ar-SA" smtClean="0"/>
              <a:t>9</a:t>
            </a:fld>
            <a:endParaRPr lang="ar-SA"/>
          </a:p>
        </p:txBody>
      </p:sp>
    </p:spTree>
    <p:extLst>
      <p:ext uri="{BB962C8B-B14F-4D97-AF65-F5344CB8AC3E}">
        <p14:creationId xmlns:p14="http://schemas.microsoft.com/office/powerpoint/2010/main" val="224220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D8971-7AD0-5201-4674-14B8D30A5CA2}"/>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41B83BD1-EDAB-B248-1F07-43FC56E73AB6}"/>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D2B9CC39-28B6-B710-6A7C-FF224D5C2D57}"/>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500A32C-F269-3CBD-19AC-BCFC8BCB054E}"/>
              </a:ext>
            </a:extLst>
          </p:cNvPr>
          <p:cNvSpPr>
            <a:spLocks noGrp="1"/>
          </p:cNvSpPr>
          <p:nvPr>
            <p:ph type="sldNum" sz="quarter" idx="5"/>
          </p:nvPr>
        </p:nvSpPr>
        <p:spPr/>
        <p:txBody>
          <a:bodyPr/>
          <a:lstStyle/>
          <a:p>
            <a:fld id="{E6C79077-6BA3-4C8B-A598-C096553750B8}" type="slidenum">
              <a:rPr lang="ar-SA" smtClean="0"/>
              <a:t>10</a:t>
            </a:fld>
            <a:endParaRPr lang="ar-SA"/>
          </a:p>
        </p:txBody>
      </p:sp>
    </p:spTree>
    <p:extLst>
      <p:ext uri="{BB962C8B-B14F-4D97-AF65-F5344CB8AC3E}">
        <p14:creationId xmlns:p14="http://schemas.microsoft.com/office/powerpoint/2010/main" val="99886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4AE33-99C0-9EE6-F32E-A5328076A636}"/>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D9AEB0E-EC1B-71EB-1D70-5A3A46B040F3}"/>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B9251BFB-B575-8F18-A5E7-D03EE00ECD1B}"/>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D906099-939F-BAC7-6E34-C792DFA0B508}"/>
              </a:ext>
            </a:extLst>
          </p:cNvPr>
          <p:cNvSpPr>
            <a:spLocks noGrp="1"/>
          </p:cNvSpPr>
          <p:nvPr>
            <p:ph type="sldNum" sz="quarter" idx="5"/>
          </p:nvPr>
        </p:nvSpPr>
        <p:spPr/>
        <p:txBody>
          <a:bodyPr/>
          <a:lstStyle/>
          <a:p>
            <a:fld id="{E6C79077-6BA3-4C8B-A598-C096553750B8}" type="slidenum">
              <a:rPr lang="ar-SA" smtClean="0"/>
              <a:t>11</a:t>
            </a:fld>
            <a:endParaRPr lang="ar-SA"/>
          </a:p>
        </p:txBody>
      </p:sp>
    </p:spTree>
    <p:extLst>
      <p:ext uri="{BB962C8B-B14F-4D97-AF65-F5344CB8AC3E}">
        <p14:creationId xmlns:p14="http://schemas.microsoft.com/office/powerpoint/2010/main" val="3164516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15FC-93DA-7FBF-E573-A7D1EEC65284}"/>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EEB126D-190F-8DF4-8637-4FBB2C541220}"/>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30FFF54-57AE-0471-02EF-B1F9D046B66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45A285F-2ED3-DB0A-A117-EA1FF33ABDD0}"/>
              </a:ext>
            </a:extLst>
          </p:cNvPr>
          <p:cNvSpPr>
            <a:spLocks noGrp="1"/>
          </p:cNvSpPr>
          <p:nvPr>
            <p:ph type="sldNum" sz="quarter" idx="5"/>
          </p:nvPr>
        </p:nvSpPr>
        <p:spPr/>
        <p:txBody>
          <a:bodyPr/>
          <a:lstStyle/>
          <a:p>
            <a:fld id="{E6C79077-6BA3-4C8B-A598-C096553750B8}" type="slidenum">
              <a:rPr lang="ar-SA" smtClean="0"/>
              <a:t>12</a:t>
            </a:fld>
            <a:endParaRPr lang="ar-SA"/>
          </a:p>
        </p:txBody>
      </p:sp>
    </p:spTree>
    <p:extLst>
      <p:ext uri="{BB962C8B-B14F-4D97-AF65-F5344CB8AC3E}">
        <p14:creationId xmlns:p14="http://schemas.microsoft.com/office/powerpoint/2010/main" val="2606556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0DCC-2478-EC95-388C-EA6E7C16BC2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8D9ECA33-9D75-4BA8-4B56-47007982F0A9}"/>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2FF64C61-0AAF-8A6B-CFA9-4E551504FC70}"/>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EF551BD6-6EE3-0053-6F16-82B8F808570B}"/>
              </a:ext>
            </a:extLst>
          </p:cNvPr>
          <p:cNvSpPr>
            <a:spLocks noGrp="1"/>
          </p:cNvSpPr>
          <p:nvPr>
            <p:ph type="sldNum" sz="quarter" idx="5"/>
          </p:nvPr>
        </p:nvSpPr>
        <p:spPr/>
        <p:txBody>
          <a:bodyPr/>
          <a:lstStyle/>
          <a:p>
            <a:fld id="{E6C79077-6BA3-4C8B-A598-C096553750B8}" type="slidenum">
              <a:rPr lang="ar-SA" smtClean="0"/>
              <a:t>13</a:t>
            </a:fld>
            <a:endParaRPr lang="ar-SA"/>
          </a:p>
        </p:txBody>
      </p:sp>
    </p:spTree>
    <p:extLst>
      <p:ext uri="{BB962C8B-B14F-4D97-AF65-F5344CB8AC3E}">
        <p14:creationId xmlns:p14="http://schemas.microsoft.com/office/powerpoint/2010/main" val="340370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1D951-F57F-E67C-5DDF-FBD637A7BC61}"/>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ECCC48D-A3A2-B350-D340-0476BF11A21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C78D6DF8-B62A-99EC-2F8C-7D836894A28A}"/>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79BC819-81EB-E972-B3B1-4D3B724AB96E}"/>
              </a:ext>
            </a:extLst>
          </p:cNvPr>
          <p:cNvSpPr>
            <a:spLocks noGrp="1"/>
          </p:cNvSpPr>
          <p:nvPr>
            <p:ph type="sldNum" sz="quarter" idx="5"/>
          </p:nvPr>
        </p:nvSpPr>
        <p:spPr/>
        <p:txBody>
          <a:bodyPr/>
          <a:lstStyle/>
          <a:p>
            <a:fld id="{E6C79077-6BA3-4C8B-A598-C096553750B8}" type="slidenum">
              <a:rPr lang="ar-SA" smtClean="0"/>
              <a:t>14</a:t>
            </a:fld>
            <a:endParaRPr lang="ar-SA"/>
          </a:p>
        </p:txBody>
      </p:sp>
    </p:spTree>
    <p:extLst>
      <p:ext uri="{BB962C8B-B14F-4D97-AF65-F5344CB8AC3E}">
        <p14:creationId xmlns:p14="http://schemas.microsoft.com/office/powerpoint/2010/main" val="3091859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965D8-3D4E-92C4-B09B-8B90C6B11951}"/>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A35ED97D-A8E4-AEBD-28F2-64D9DEBC529B}"/>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8E46C879-21FE-B482-B99C-6B72CF2D76E0}"/>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B283EB2-B684-E8A2-0568-FEB7B6DE7E9D}"/>
              </a:ext>
            </a:extLst>
          </p:cNvPr>
          <p:cNvSpPr>
            <a:spLocks noGrp="1"/>
          </p:cNvSpPr>
          <p:nvPr>
            <p:ph type="sldNum" sz="quarter" idx="5"/>
          </p:nvPr>
        </p:nvSpPr>
        <p:spPr/>
        <p:txBody>
          <a:bodyPr/>
          <a:lstStyle/>
          <a:p>
            <a:fld id="{E6C79077-6BA3-4C8B-A598-C096553750B8}" type="slidenum">
              <a:rPr lang="ar-SA" smtClean="0"/>
              <a:t>15</a:t>
            </a:fld>
            <a:endParaRPr lang="ar-SA"/>
          </a:p>
        </p:txBody>
      </p:sp>
    </p:spTree>
    <p:extLst>
      <p:ext uri="{BB962C8B-B14F-4D97-AF65-F5344CB8AC3E}">
        <p14:creationId xmlns:p14="http://schemas.microsoft.com/office/powerpoint/2010/main" val="296024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37D74-9844-678D-F68E-C2F5A5C51D08}"/>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677E4AC-FD91-E8B3-6E2B-6C5442D6315C}"/>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3F7485A-5C61-55DC-F3FD-764071E5221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D123BBE3-F072-1A56-E531-14335AEB1D9C}"/>
              </a:ext>
            </a:extLst>
          </p:cNvPr>
          <p:cNvSpPr>
            <a:spLocks noGrp="1"/>
          </p:cNvSpPr>
          <p:nvPr>
            <p:ph type="sldNum" sz="quarter" idx="5"/>
          </p:nvPr>
        </p:nvSpPr>
        <p:spPr/>
        <p:txBody>
          <a:bodyPr/>
          <a:lstStyle/>
          <a:p>
            <a:fld id="{E6C79077-6BA3-4C8B-A598-C096553750B8}" type="slidenum">
              <a:rPr lang="ar-SA" smtClean="0"/>
              <a:t>16</a:t>
            </a:fld>
            <a:endParaRPr lang="ar-SA"/>
          </a:p>
        </p:txBody>
      </p:sp>
    </p:spTree>
    <p:extLst>
      <p:ext uri="{BB962C8B-B14F-4D97-AF65-F5344CB8AC3E}">
        <p14:creationId xmlns:p14="http://schemas.microsoft.com/office/powerpoint/2010/main" val="238401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A86C-25C6-1EA7-843E-A9B800FDDA57}"/>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DC9484C-4E0B-5D59-94BD-51B8686581AE}"/>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879741EF-B454-215F-362D-0F48B559F033}"/>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E85B213-92EF-6002-05B5-0709E65C14D4}"/>
              </a:ext>
            </a:extLst>
          </p:cNvPr>
          <p:cNvSpPr>
            <a:spLocks noGrp="1"/>
          </p:cNvSpPr>
          <p:nvPr>
            <p:ph type="sldNum" sz="quarter" idx="5"/>
          </p:nvPr>
        </p:nvSpPr>
        <p:spPr/>
        <p:txBody>
          <a:bodyPr/>
          <a:lstStyle/>
          <a:p>
            <a:fld id="{E6C79077-6BA3-4C8B-A598-C096553750B8}" type="slidenum">
              <a:rPr lang="ar-SA" smtClean="0"/>
              <a:t>17</a:t>
            </a:fld>
            <a:endParaRPr lang="ar-SA"/>
          </a:p>
        </p:txBody>
      </p:sp>
    </p:spTree>
    <p:extLst>
      <p:ext uri="{BB962C8B-B14F-4D97-AF65-F5344CB8AC3E}">
        <p14:creationId xmlns:p14="http://schemas.microsoft.com/office/powerpoint/2010/main" val="2024114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7EDFD-7677-7F17-BECB-EFE86C516FB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686D8935-35D7-A82B-93A9-02B4092C82A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E74DDE00-B987-2C9C-2E40-C45E10E624C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15FEBAF-6E18-481F-3B7A-D952EF83D090}"/>
              </a:ext>
            </a:extLst>
          </p:cNvPr>
          <p:cNvSpPr>
            <a:spLocks noGrp="1"/>
          </p:cNvSpPr>
          <p:nvPr>
            <p:ph type="sldNum" sz="quarter" idx="5"/>
          </p:nvPr>
        </p:nvSpPr>
        <p:spPr/>
        <p:txBody>
          <a:bodyPr/>
          <a:lstStyle/>
          <a:p>
            <a:fld id="{E6C79077-6BA3-4C8B-A598-C096553750B8}" type="slidenum">
              <a:rPr lang="ar-SA" smtClean="0"/>
              <a:t>18</a:t>
            </a:fld>
            <a:endParaRPr lang="ar-SA"/>
          </a:p>
        </p:txBody>
      </p:sp>
    </p:spTree>
    <p:extLst>
      <p:ext uri="{BB962C8B-B14F-4D97-AF65-F5344CB8AC3E}">
        <p14:creationId xmlns:p14="http://schemas.microsoft.com/office/powerpoint/2010/main" val="1815347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5577F-E0AA-28D5-9403-C36E9FAE7127}"/>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BF07132A-086A-8CFF-30A7-05F29AC849AD}"/>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E1A1082B-CA8F-EBC1-2E1E-FEEAAD08A60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64E868A-04BF-69AA-3A67-281726FB6251}"/>
              </a:ext>
            </a:extLst>
          </p:cNvPr>
          <p:cNvSpPr>
            <a:spLocks noGrp="1"/>
          </p:cNvSpPr>
          <p:nvPr>
            <p:ph type="sldNum" sz="quarter" idx="5"/>
          </p:nvPr>
        </p:nvSpPr>
        <p:spPr/>
        <p:txBody>
          <a:bodyPr/>
          <a:lstStyle/>
          <a:p>
            <a:fld id="{E6C79077-6BA3-4C8B-A598-C096553750B8}" type="slidenum">
              <a:rPr lang="ar-SA" smtClean="0"/>
              <a:t>19</a:t>
            </a:fld>
            <a:endParaRPr lang="ar-SA"/>
          </a:p>
        </p:txBody>
      </p:sp>
    </p:spTree>
    <p:extLst>
      <p:ext uri="{BB962C8B-B14F-4D97-AF65-F5344CB8AC3E}">
        <p14:creationId xmlns:p14="http://schemas.microsoft.com/office/powerpoint/2010/main" val="2414501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F50C4-E094-5109-55E0-852C69939D1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3B2DAE5-9447-E2BA-E733-C37FC318A46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1D21446E-BACE-DC55-464F-C97FBC24DBA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B0316C1-D863-091E-C76B-E7A4767DEA80}"/>
              </a:ext>
            </a:extLst>
          </p:cNvPr>
          <p:cNvSpPr>
            <a:spLocks noGrp="1"/>
          </p:cNvSpPr>
          <p:nvPr>
            <p:ph type="sldNum" sz="quarter" idx="5"/>
          </p:nvPr>
        </p:nvSpPr>
        <p:spPr/>
        <p:txBody>
          <a:bodyPr/>
          <a:lstStyle/>
          <a:p>
            <a:fld id="{E6C79077-6BA3-4C8B-A598-C096553750B8}" type="slidenum">
              <a:rPr lang="ar-SA" smtClean="0"/>
              <a:t>20</a:t>
            </a:fld>
            <a:endParaRPr lang="ar-SA"/>
          </a:p>
        </p:txBody>
      </p:sp>
    </p:spTree>
    <p:extLst>
      <p:ext uri="{BB962C8B-B14F-4D97-AF65-F5344CB8AC3E}">
        <p14:creationId xmlns:p14="http://schemas.microsoft.com/office/powerpoint/2010/main" val="504062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568BF-6B9B-256C-FE6A-7D5CE3D8CCC4}"/>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D33E3309-1A6B-50D2-5549-770F69A0BF24}"/>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10198D15-EA40-2E72-60D0-53845FFD0CE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74A5417E-3444-0F0C-85B1-E79C055C29C0}"/>
              </a:ext>
            </a:extLst>
          </p:cNvPr>
          <p:cNvSpPr>
            <a:spLocks noGrp="1"/>
          </p:cNvSpPr>
          <p:nvPr>
            <p:ph type="sldNum" sz="quarter" idx="5"/>
          </p:nvPr>
        </p:nvSpPr>
        <p:spPr/>
        <p:txBody>
          <a:bodyPr/>
          <a:lstStyle/>
          <a:p>
            <a:fld id="{E6C79077-6BA3-4C8B-A598-C096553750B8}" type="slidenum">
              <a:rPr lang="ar-SA" smtClean="0"/>
              <a:t>21</a:t>
            </a:fld>
            <a:endParaRPr lang="ar-SA"/>
          </a:p>
        </p:txBody>
      </p:sp>
    </p:spTree>
    <p:extLst>
      <p:ext uri="{BB962C8B-B14F-4D97-AF65-F5344CB8AC3E}">
        <p14:creationId xmlns:p14="http://schemas.microsoft.com/office/powerpoint/2010/main" val="2349456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9EBCF-CFEF-0821-B4FE-720289BB4840}"/>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0A88F2C-09E8-4951-220E-F36246039F22}"/>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00CAB4DC-9DF3-039B-C31E-E223FA1D8AF2}"/>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6A7E39AD-CF62-1A81-4BAB-9F53BC88894D}"/>
              </a:ext>
            </a:extLst>
          </p:cNvPr>
          <p:cNvSpPr>
            <a:spLocks noGrp="1"/>
          </p:cNvSpPr>
          <p:nvPr>
            <p:ph type="sldNum" sz="quarter" idx="5"/>
          </p:nvPr>
        </p:nvSpPr>
        <p:spPr/>
        <p:txBody>
          <a:bodyPr/>
          <a:lstStyle/>
          <a:p>
            <a:fld id="{E6C79077-6BA3-4C8B-A598-C096553750B8}" type="slidenum">
              <a:rPr lang="ar-SA" smtClean="0"/>
              <a:t>22</a:t>
            </a:fld>
            <a:endParaRPr lang="ar-SA"/>
          </a:p>
        </p:txBody>
      </p:sp>
    </p:spTree>
    <p:extLst>
      <p:ext uri="{BB962C8B-B14F-4D97-AF65-F5344CB8AC3E}">
        <p14:creationId xmlns:p14="http://schemas.microsoft.com/office/powerpoint/2010/main" val="346917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869D-301B-F149-240B-B0915F5C578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DB199A7C-C79C-3AA1-58F1-D582DF51FF55}"/>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1694752E-AA56-AD2A-86FB-FB89154F725C}"/>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D0781599-B207-BEA0-E50F-6BA682998FC4}"/>
              </a:ext>
            </a:extLst>
          </p:cNvPr>
          <p:cNvSpPr>
            <a:spLocks noGrp="1"/>
          </p:cNvSpPr>
          <p:nvPr>
            <p:ph type="sldNum" sz="quarter" idx="5"/>
          </p:nvPr>
        </p:nvSpPr>
        <p:spPr/>
        <p:txBody>
          <a:bodyPr/>
          <a:lstStyle/>
          <a:p>
            <a:fld id="{E6C79077-6BA3-4C8B-A598-C096553750B8}" type="slidenum">
              <a:rPr lang="ar-SA" smtClean="0"/>
              <a:t>23</a:t>
            </a:fld>
            <a:endParaRPr lang="ar-SA"/>
          </a:p>
        </p:txBody>
      </p:sp>
    </p:spTree>
    <p:extLst>
      <p:ext uri="{BB962C8B-B14F-4D97-AF65-F5344CB8AC3E}">
        <p14:creationId xmlns:p14="http://schemas.microsoft.com/office/powerpoint/2010/main" val="1111962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E4127-BF0C-25E1-91E4-EE81104D9E2F}"/>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C3A1ECBD-FC33-1511-AAA5-058A215C2F6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6AF1F24F-758E-4818-298F-E04A78DC2D22}"/>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6A9BEA5-5FB4-0ABC-F3D4-DDD16512487A}"/>
              </a:ext>
            </a:extLst>
          </p:cNvPr>
          <p:cNvSpPr>
            <a:spLocks noGrp="1"/>
          </p:cNvSpPr>
          <p:nvPr>
            <p:ph type="sldNum" sz="quarter" idx="5"/>
          </p:nvPr>
        </p:nvSpPr>
        <p:spPr/>
        <p:txBody>
          <a:bodyPr/>
          <a:lstStyle/>
          <a:p>
            <a:fld id="{E6C79077-6BA3-4C8B-A598-C096553750B8}" type="slidenum">
              <a:rPr lang="ar-SA" smtClean="0"/>
              <a:t>24</a:t>
            </a:fld>
            <a:endParaRPr lang="ar-SA"/>
          </a:p>
        </p:txBody>
      </p:sp>
    </p:spTree>
    <p:extLst>
      <p:ext uri="{BB962C8B-B14F-4D97-AF65-F5344CB8AC3E}">
        <p14:creationId xmlns:p14="http://schemas.microsoft.com/office/powerpoint/2010/main" val="3988669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A4938-C65A-335F-F135-55A201622126}"/>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6E46E8C4-3396-129A-E6E7-6B0285D2FD4D}"/>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AD8ECEB2-E252-5591-B709-A9FBCA6F27B7}"/>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E12BA4C-508B-FFAE-1C32-C8762F8FD9F7}"/>
              </a:ext>
            </a:extLst>
          </p:cNvPr>
          <p:cNvSpPr>
            <a:spLocks noGrp="1"/>
          </p:cNvSpPr>
          <p:nvPr>
            <p:ph type="sldNum" sz="quarter" idx="5"/>
          </p:nvPr>
        </p:nvSpPr>
        <p:spPr/>
        <p:txBody>
          <a:bodyPr/>
          <a:lstStyle/>
          <a:p>
            <a:fld id="{E6C79077-6BA3-4C8B-A598-C096553750B8}" type="slidenum">
              <a:rPr lang="ar-SA" smtClean="0"/>
              <a:t>25</a:t>
            </a:fld>
            <a:endParaRPr lang="ar-SA"/>
          </a:p>
        </p:txBody>
      </p:sp>
    </p:spTree>
    <p:extLst>
      <p:ext uri="{BB962C8B-B14F-4D97-AF65-F5344CB8AC3E}">
        <p14:creationId xmlns:p14="http://schemas.microsoft.com/office/powerpoint/2010/main" val="31067634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A7D1-726B-2BA6-9032-293532E8353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7DD938AD-567D-59BB-A0B9-A85E647997A0}"/>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C4F8B294-94DF-97B6-36DA-28B2B780FDE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325FE6E-8741-8F54-7B17-DBD18E6956CC}"/>
              </a:ext>
            </a:extLst>
          </p:cNvPr>
          <p:cNvSpPr>
            <a:spLocks noGrp="1"/>
          </p:cNvSpPr>
          <p:nvPr>
            <p:ph type="sldNum" sz="quarter" idx="5"/>
          </p:nvPr>
        </p:nvSpPr>
        <p:spPr/>
        <p:txBody>
          <a:bodyPr/>
          <a:lstStyle/>
          <a:p>
            <a:fld id="{E6C79077-6BA3-4C8B-A598-C096553750B8}" type="slidenum">
              <a:rPr lang="ar-SA" smtClean="0"/>
              <a:t>26</a:t>
            </a:fld>
            <a:endParaRPr lang="ar-SA"/>
          </a:p>
        </p:txBody>
      </p:sp>
    </p:spTree>
    <p:extLst>
      <p:ext uri="{BB962C8B-B14F-4D97-AF65-F5344CB8AC3E}">
        <p14:creationId xmlns:p14="http://schemas.microsoft.com/office/powerpoint/2010/main" val="2205807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A3FDD-A509-1202-13F4-F601F605B73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379C1FA-D555-5E51-F7D7-520E979809A1}"/>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498F2D72-E4DB-2A6C-1FE0-3E259A5E2BAA}"/>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1AAF7B7F-D546-D3DF-2CEB-C4FB66696FFB}"/>
              </a:ext>
            </a:extLst>
          </p:cNvPr>
          <p:cNvSpPr>
            <a:spLocks noGrp="1"/>
          </p:cNvSpPr>
          <p:nvPr>
            <p:ph type="sldNum" sz="quarter" idx="5"/>
          </p:nvPr>
        </p:nvSpPr>
        <p:spPr/>
        <p:txBody>
          <a:bodyPr/>
          <a:lstStyle/>
          <a:p>
            <a:fld id="{E6C79077-6BA3-4C8B-A598-C096553750B8}" type="slidenum">
              <a:rPr lang="ar-SA" smtClean="0"/>
              <a:t>27</a:t>
            </a:fld>
            <a:endParaRPr lang="ar-SA"/>
          </a:p>
        </p:txBody>
      </p:sp>
    </p:spTree>
    <p:extLst>
      <p:ext uri="{BB962C8B-B14F-4D97-AF65-F5344CB8AC3E}">
        <p14:creationId xmlns:p14="http://schemas.microsoft.com/office/powerpoint/2010/main" val="1748202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2968C-CF3D-392D-ED95-687F6EC870F7}"/>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D0B559E1-964A-F66D-54BD-C75E83BDF97A}"/>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CD236A44-78DB-17EB-D710-FED60380D55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A4E3783-BFFC-8655-D3C4-A495E6CF7A0D}"/>
              </a:ext>
            </a:extLst>
          </p:cNvPr>
          <p:cNvSpPr>
            <a:spLocks noGrp="1"/>
          </p:cNvSpPr>
          <p:nvPr>
            <p:ph type="sldNum" sz="quarter" idx="5"/>
          </p:nvPr>
        </p:nvSpPr>
        <p:spPr/>
        <p:txBody>
          <a:bodyPr/>
          <a:lstStyle/>
          <a:p>
            <a:fld id="{E6C79077-6BA3-4C8B-A598-C096553750B8}" type="slidenum">
              <a:rPr lang="ar-SA" smtClean="0"/>
              <a:t>28</a:t>
            </a:fld>
            <a:endParaRPr lang="ar-SA"/>
          </a:p>
        </p:txBody>
      </p:sp>
    </p:spTree>
    <p:extLst>
      <p:ext uri="{BB962C8B-B14F-4D97-AF65-F5344CB8AC3E}">
        <p14:creationId xmlns:p14="http://schemas.microsoft.com/office/powerpoint/2010/main" val="771028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AA8FE-C9F5-2641-5A6D-66905F3F3B50}"/>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0A840B5-700B-4FAC-B4DD-9E6BA7A5535E}"/>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FE5D3377-AC97-D3CA-CBBF-93FF12E14D81}"/>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160BED6-C8C9-43FE-DFEA-56B51FF00483}"/>
              </a:ext>
            </a:extLst>
          </p:cNvPr>
          <p:cNvSpPr>
            <a:spLocks noGrp="1"/>
          </p:cNvSpPr>
          <p:nvPr>
            <p:ph type="sldNum" sz="quarter" idx="5"/>
          </p:nvPr>
        </p:nvSpPr>
        <p:spPr/>
        <p:txBody>
          <a:bodyPr/>
          <a:lstStyle/>
          <a:p>
            <a:fld id="{E6C79077-6BA3-4C8B-A598-C096553750B8}" type="slidenum">
              <a:rPr lang="ar-SA" smtClean="0"/>
              <a:t>29</a:t>
            </a:fld>
            <a:endParaRPr lang="ar-SA"/>
          </a:p>
        </p:txBody>
      </p:sp>
    </p:spTree>
    <p:extLst>
      <p:ext uri="{BB962C8B-B14F-4D97-AF65-F5344CB8AC3E}">
        <p14:creationId xmlns:p14="http://schemas.microsoft.com/office/powerpoint/2010/main" val="1482295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2B9CE-09BC-5080-608C-FB6BE824A82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1A05E79-D736-C794-AB4E-4D6982BC0FE7}"/>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B7C99925-27AE-3CF8-2A7C-B5CBF8BD17AB}"/>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ABF1628-1C45-0CD3-724D-CD480EAA1F1F}"/>
              </a:ext>
            </a:extLst>
          </p:cNvPr>
          <p:cNvSpPr>
            <a:spLocks noGrp="1"/>
          </p:cNvSpPr>
          <p:nvPr>
            <p:ph type="sldNum" sz="quarter" idx="5"/>
          </p:nvPr>
        </p:nvSpPr>
        <p:spPr/>
        <p:txBody>
          <a:bodyPr/>
          <a:lstStyle/>
          <a:p>
            <a:fld id="{E6C79077-6BA3-4C8B-A598-C096553750B8}" type="slidenum">
              <a:rPr lang="ar-SA" smtClean="0"/>
              <a:t>30</a:t>
            </a:fld>
            <a:endParaRPr lang="ar-SA"/>
          </a:p>
        </p:txBody>
      </p:sp>
    </p:spTree>
    <p:extLst>
      <p:ext uri="{BB962C8B-B14F-4D97-AF65-F5344CB8AC3E}">
        <p14:creationId xmlns:p14="http://schemas.microsoft.com/office/powerpoint/2010/main" val="20117855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84CC-762F-1307-8853-0F6CFCD2A25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ACAEA388-4DFE-C4DF-228D-E49C3AD0BF84}"/>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FCE8DA3F-06F4-FB60-F714-CD8BE12B0489}"/>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F7F05057-5F98-087B-D27D-481F86E8E1D7}"/>
              </a:ext>
            </a:extLst>
          </p:cNvPr>
          <p:cNvSpPr>
            <a:spLocks noGrp="1"/>
          </p:cNvSpPr>
          <p:nvPr>
            <p:ph type="sldNum" sz="quarter" idx="5"/>
          </p:nvPr>
        </p:nvSpPr>
        <p:spPr/>
        <p:txBody>
          <a:bodyPr/>
          <a:lstStyle/>
          <a:p>
            <a:fld id="{E6C79077-6BA3-4C8B-A598-C096553750B8}" type="slidenum">
              <a:rPr lang="ar-SA" smtClean="0"/>
              <a:t>31</a:t>
            </a:fld>
            <a:endParaRPr lang="ar-SA"/>
          </a:p>
        </p:txBody>
      </p:sp>
    </p:spTree>
    <p:extLst>
      <p:ext uri="{BB962C8B-B14F-4D97-AF65-F5344CB8AC3E}">
        <p14:creationId xmlns:p14="http://schemas.microsoft.com/office/powerpoint/2010/main" val="2464006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2CFDA-0B92-950D-ED77-4BD72CF0E6E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617F95AB-F8F4-3625-1DDC-B86039EE6E15}"/>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5BE1B6D2-8C31-B72F-58B1-CBB9EE1B6B87}"/>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115E8470-50DA-5E04-66FE-00BFE8169DBB}"/>
              </a:ext>
            </a:extLst>
          </p:cNvPr>
          <p:cNvSpPr>
            <a:spLocks noGrp="1"/>
          </p:cNvSpPr>
          <p:nvPr>
            <p:ph type="sldNum" sz="quarter" idx="5"/>
          </p:nvPr>
        </p:nvSpPr>
        <p:spPr/>
        <p:txBody>
          <a:bodyPr/>
          <a:lstStyle/>
          <a:p>
            <a:fld id="{E6C79077-6BA3-4C8B-A598-C096553750B8}" type="slidenum">
              <a:rPr lang="ar-SA" smtClean="0"/>
              <a:t>32</a:t>
            </a:fld>
            <a:endParaRPr lang="ar-SA"/>
          </a:p>
        </p:txBody>
      </p:sp>
    </p:spTree>
    <p:extLst>
      <p:ext uri="{BB962C8B-B14F-4D97-AF65-F5344CB8AC3E}">
        <p14:creationId xmlns:p14="http://schemas.microsoft.com/office/powerpoint/2010/main" val="2305217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44BD2-3704-3070-EA73-6972D503532C}"/>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2F7AB14-94E4-AA86-2A3A-B3D0D1E30450}"/>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93209B8C-2FBE-1A1E-A0BE-FB6AE2EB4BDA}"/>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4281928-4C87-4DB5-69CE-AF89F3D8A5D3}"/>
              </a:ext>
            </a:extLst>
          </p:cNvPr>
          <p:cNvSpPr>
            <a:spLocks noGrp="1"/>
          </p:cNvSpPr>
          <p:nvPr>
            <p:ph type="sldNum" sz="quarter" idx="5"/>
          </p:nvPr>
        </p:nvSpPr>
        <p:spPr/>
        <p:txBody>
          <a:bodyPr/>
          <a:lstStyle/>
          <a:p>
            <a:fld id="{E6C79077-6BA3-4C8B-A598-C096553750B8}" type="slidenum">
              <a:rPr lang="ar-SA" smtClean="0"/>
              <a:t>33</a:t>
            </a:fld>
            <a:endParaRPr lang="ar-SA"/>
          </a:p>
        </p:txBody>
      </p:sp>
    </p:spTree>
    <p:extLst>
      <p:ext uri="{BB962C8B-B14F-4D97-AF65-F5344CB8AC3E}">
        <p14:creationId xmlns:p14="http://schemas.microsoft.com/office/powerpoint/2010/main" val="34117442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20F8F-1CB7-2DA4-F6A9-9CE442251BD2}"/>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5C7E91F-AF4C-BAD3-E67A-024F198A93D4}"/>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D6B3B969-F842-7690-5E72-395D2F62E164}"/>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28E8E823-3836-650B-CD95-D99E410A2D63}"/>
              </a:ext>
            </a:extLst>
          </p:cNvPr>
          <p:cNvSpPr>
            <a:spLocks noGrp="1"/>
          </p:cNvSpPr>
          <p:nvPr>
            <p:ph type="sldNum" sz="quarter" idx="5"/>
          </p:nvPr>
        </p:nvSpPr>
        <p:spPr/>
        <p:txBody>
          <a:bodyPr/>
          <a:lstStyle/>
          <a:p>
            <a:fld id="{E6C79077-6BA3-4C8B-A598-C096553750B8}" type="slidenum">
              <a:rPr lang="ar-SA" smtClean="0"/>
              <a:t>34</a:t>
            </a:fld>
            <a:endParaRPr lang="ar-SA"/>
          </a:p>
        </p:txBody>
      </p:sp>
    </p:spTree>
    <p:extLst>
      <p:ext uri="{BB962C8B-B14F-4D97-AF65-F5344CB8AC3E}">
        <p14:creationId xmlns:p14="http://schemas.microsoft.com/office/powerpoint/2010/main" val="517598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3A165-6EB9-7798-C2A5-65409D6FA7FB}"/>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929BAF8B-A18C-DFA0-429E-CC3FBE2A273D}"/>
              </a:ext>
            </a:extLst>
          </p:cNvPr>
          <p:cNvSpPr>
            <a:spLocks noGrp="1" noRot="1" noChangeAspect="1"/>
          </p:cNvSpPr>
          <p:nvPr>
            <p:ph type="sldImg"/>
          </p:nvPr>
        </p:nvSpPr>
        <p:spPr/>
        <p:txBody>
          <a:bodyPr/>
          <a:lstStyle/>
          <a:p>
            <a:endParaRPr lang="ar-SA"/>
          </a:p>
        </p:txBody>
      </p:sp>
      <p:sp>
        <p:nvSpPr>
          <p:cNvPr id="3" name="عنصر نائب للملاحظات 2">
            <a:extLst>
              <a:ext uri="{FF2B5EF4-FFF2-40B4-BE49-F238E27FC236}">
                <a16:creationId xmlns:a16="http://schemas.microsoft.com/office/drawing/2014/main" id="{09A9333D-0B7C-86C0-D363-620F8A79F571}"/>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E8EECE74-E3C5-D312-54F6-A9ECCD6F09ED}"/>
              </a:ext>
            </a:extLst>
          </p:cNvPr>
          <p:cNvSpPr>
            <a:spLocks noGrp="1"/>
          </p:cNvSpPr>
          <p:nvPr>
            <p:ph type="sldNum" sz="quarter" idx="5"/>
          </p:nvPr>
        </p:nvSpPr>
        <p:spPr/>
        <p:txBody>
          <a:bodyPr/>
          <a:lstStyle/>
          <a:p>
            <a:fld id="{E6C79077-6BA3-4C8B-A598-C096553750B8}" type="slidenum">
              <a:rPr lang="ar-SA" smtClean="0"/>
              <a:t>35</a:t>
            </a:fld>
            <a:endParaRPr lang="ar-SA"/>
          </a:p>
        </p:txBody>
      </p:sp>
    </p:spTree>
    <p:extLst>
      <p:ext uri="{BB962C8B-B14F-4D97-AF65-F5344CB8AC3E}">
        <p14:creationId xmlns:p14="http://schemas.microsoft.com/office/powerpoint/2010/main" val="3494744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5B5FF08-DF98-F43C-4F2F-EB61741FB30A}"/>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A211710E-B16D-42F8-0DE6-463570F7C4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CB5BCDAD-69B9-8320-DB2A-86E8A64A8A44}"/>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5" name="عنصر نائب للتذييل 4">
            <a:extLst>
              <a:ext uri="{FF2B5EF4-FFF2-40B4-BE49-F238E27FC236}">
                <a16:creationId xmlns:a16="http://schemas.microsoft.com/office/drawing/2014/main" id="{F8D68493-18D2-41F9-88CF-7A7389286C82}"/>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41622CC-2FDE-2F82-2EF7-C8C751B38C14}"/>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345782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CB364B7-AC16-18F2-3C98-27B63952DC1A}"/>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CFB1D5C6-D962-165C-258A-FF71FE8E3B4B}"/>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61D013F7-8535-74FA-AAB6-B31822B2C4E0}"/>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5" name="عنصر نائب للتذييل 4">
            <a:extLst>
              <a:ext uri="{FF2B5EF4-FFF2-40B4-BE49-F238E27FC236}">
                <a16:creationId xmlns:a16="http://schemas.microsoft.com/office/drawing/2014/main" id="{01FA0739-D50E-BAAB-9075-37546B35508F}"/>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699F16F-454D-462B-E26A-1B8C2B7D3775}"/>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3525966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30BEB17-1C3A-7810-EA4C-9BC5E00F5A9B}"/>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D3B542F0-ACF8-ED75-DE92-AB9378D8E5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7D6CDAB2-B288-BD51-81A3-F726D10D27C5}"/>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5" name="عنصر نائب للتذييل 4">
            <a:extLst>
              <a:ext uri="{FF2B5EF4-FFF2-40B4-BE49-F238E27FC236}">
                <a16:creationId xmlns:a16="http://schemas.microsoft.com/office/drawing/2014/main" id="{66871735-3097-7073-B229-C4F9C957EF7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099381F3-E2E5-1B81-9BFD-8B3503082459}"/>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473223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4B07FCF-9186-B313-DBB1-DB2F8666619F}"/>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DCB29EC0-B456-1259-5C0F-0E5D1C729DB8}"/>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E9B7B3CD-E4F3-FE7B-8754-B07A7B083844}"/>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05C5EDAA-A118-1B5E-C4F5-CD77A506F7BB}"/>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6" name="عنصر نائب للتذييل 5">
            <a:extLst>
              <a:ext uri="{FF2B5EF4-FFF2-40B4-BE49-F238E27FC236}">
                <a16:creationId xmlns:a16="http://schemas.microsoft.com/office/drawing/2014/main" id="{F2BB4EBC-D675-A75C-4688-3D3EFDE9691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194E464F-6246-7853-7CE5-08BA2BDDF0A1}"/>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4007572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AA77588-20E8-47A3-2683-4FB9F53B24AA}"/>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1FAF9914-61F0-BBB5-4F45-CAA07D871D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C169E0B2-DCB5-221E-9E0F-22E65AB27025}"/>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D1B1CAD4-C218-919F-CDE2-DD10D5A029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33631B43-7938-29CF-D4D4-3B6A088F6A13}"/>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67E3B78E-A1F9-BAC2-D29E-A6CC7726BC13}"/>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8" name="عنصر نائب للتذييل 7">
            <a:extLst>
              <a:ext uri="{FF2B5EF4-FFF2-40B4-BE49-F238E27FC236}">
                <a16:creationId xmlns:a16="http://schemas.microsoft.com/office/drawing/2014/main" id="{E902EAF1-F01D-16AC-47A1-F7FB582F203E}"/>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B74DEAC6-F5A9-111B-B60A-C6E53A9126F5}"/>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3323991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99CB497-18A9-25B1-4446-5612DD5D555B}"/>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853A2FF1-D54C-0C69-F015-E17B79FD23DD}"/>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4" name="عنصر نائب للتذييل 3">
            <a:extLst>
              <a:ext uri="{FF2B5EF4-FFF2-40B4-BE49-F238E27FC236}">
                <a16:creationId xmlns:a16="http://schemas.microsoft.com/office/drawing/2014/main" id="{768859BB-9742-78C5-E610-B2FD5D99AB56}"/>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69467944-8A99-7A79-64EB-4C0220B69759}"/>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122910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EE663F4C-FC03-21A9-5A63-7E6CADB632FD}"/>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3" name="عنصر نائب للتذييل 2">
            <a:extLst>
              <a:ext uri="{FF2B5EF4-FFF2-40B4-BE49-F238E27FC236}">
                <a16:creationId xmlns:a16="http://schemas.microsoft.com/office/drawing/2014/main" id="{89C815EF-B290-C096-77C8-FD85E2CC18D2}"/>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99FED5FA-3442-1B1F-47FE-8C5593C94B18}"/>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103363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C883C17-2377-30F3-089B-D326C71F8633}"/>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B1B64A8A-593E-59D6-9B6B-599BA7B2FC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A53C317A-1396-32B7-6700-1F05338D4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E64EC03-2193-D89A-C1CB-E65FCFE5FE41}"/>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6" name="عنصر نائب للتذييل 5">
            <a:extLst>
              <a:ext uri="{FF2B5EF4-FFF2-40B4-BE49-F238E27FC236}">
                <a16:creationId xmlns:a16="http://schemas.microsoft.com/office/drawing/2014/main" id="{15DB7752-6E23-59A4-546B-4BD072B11ABE}"/>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80E34018-AFC3-848A-A890-1AC86841AEF9}"/>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679820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44051AF-B228-F5D7-7401-A6278DB0186B}"/>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B5C358DD-6391-4AD5-3826-43A84A81D0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D5E7140A-4E0C-4842-2049-B05FF69DF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2F17F124-B670-7AB7-3DE9-63134FBC793C}"/>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6" name="عنصر نائب للتذييل 5">
            <a:extLst>
              <a:ext uri="{FF2B5EF4-FFF2-40B4-BE49-F238E27FC236}">
                <a16:creationId xmlns:a16="http://schemas.microsoft.com/office/drawing/2014/main" id="{ED208378-73B9-0F6E-2C34-6B3B26A545B0}"/>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1C751E10-A55E-28BC-6808-C2AA0C6B801C}"/>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483213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0440BD1-3B7A-5F20-33E4-2D7F048C359A}"/>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913067A9-14CE-5A55-73DD-1223A5A834BC}"/>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4376853-266B-E681-7A80-73255C251E68}"/>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5" name="عنصر نائب للتذييل 4">
            <a:extLst>
              <a:ext uri="{FF2B5EF4-FFF2-40B4-BE49-F238E27FC236}">
                <a16:creationId xmlns:a16="http://schemas.microsoft.com/office/drawing/2014/main" id="{1E2D0F23-467F-5D25-DF98-8320BA6DD05F}"/>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71DABCD2-DADE-35BD-0ABB-C225D080E999}"/>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3549433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2CBCA9C2-0022-A1E4-966A-B665EE7FCB08}"/>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8484C5E1-253B-F530-B947-60A4C623E900}"/>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FE99371-BB41-C4CA-A053-6514BF4EA99C}"/>
              </a:ext>
            </a:extLst>
          </p:cNvPr>
          <p:cNvSpPr>
            <a:spLocks noGrp="1"/>
          </p:cNvSpPr>
          <p:nvPr>
            <p:ph type="dt" sz="half" idx="10"/>
          </p:nvPr>
        </p:nvSpPr>
        <p:spPr/>
        <p:txBody>
          <a:bodyPr/>
          <a:lstStyle/>
          <a:p>
            <a:fld id="{97FDFC3C-6435-4418-8818-A23027F815A8}" type="datetimeFigureOut">
              <a:rPr lang="ar-SA" smtClean="0"/>
              <a:t>06/07/1447</a:t>
            </a:fld>
            <a:endParaRPr lang="ar-SA"/>
          </a:p>
        </p:txBody>
      </p:sp>
      <p:sp>
        <p:nvSpPr>
          <p:cNvPr id="5" name="عنصر نائب للتذييل 4">
            <a:extLst>
              <a:ext uri="{FF2B5EF4-FFF2-40B4-BE49-F238E27FC236}">
                <a16:creationId xmlns:a16="http://schemas.microsoft.com/office/drawing/2014/main" id="{578B1271-1E32-8D87-4E47-C74788529B2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7010F3D4-CB04-F6B7-6D66-2E07ACE9BAA4}"/>
              </a:ext>
            </a:extLst>
          </p:cNvPr>
          <p:cNvSpPr>
            <a:spLocks noGrp="1"/>
          </p:cNvSpPr>
          <p:nvPr>
            <p:ph type="sldNum" sz="quarter" idx="12"/>
          </p:nvPr>
        </p:nvSpPr>
        <p:spPr/>
        <p:txBody>
          <a:bodyPr/>
          <a:lstStyle/>
          <a:p>
            <a:fld id="{D60C1022-08FA-46AE-BC88-9D14C5C02C3E}" type="slidenum">
              <a:rPr lang="ar-SA" smtClean="0"/>
              <a:t>‹#›</a:t>
            </a:fld>
            <a:endParaRPr lang="ar-SA"/>
          </a:p>
        </p:txBody>
      </p:sp>
    </p:spTree>
    <p:extLst>
      <p:ext uri="{BB962C8B-B14F-4D97-AF65-F5344CB8AC3E}">
        <p14:creationId xmlns:p14="http://schemas.microsoft.com/office/powerpoint/2010/main" val="153689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51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B30AF6AB-E604-B505-8A4A-7E2D4C44A0C3}"/>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0655537D-F26E-BA7B-04CC-2BE3DF9A4E45}"/>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246CAC8C-38C0-A02A-1071-E01396857D3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7FDFC3C-6435-4418-8818-A23027F815A8}" type="datetimeFigureOut">
              <a:rPr lang="ar-SA" smtClean="0"/>
              <a:t>06/07/1447</a:t>
            </a:fld>
            <a:endParaRPr lang="ar-SA"/>
          </a:p>
        </p:txBody>
      </p:sp>
      <p:sp>
        <p:nvSpPr>
          <p:cNvPr id="5" name="عنصر نائب للتذييل 4">
            <a:extLst>
              <a:ext uri="{FF2B5EF4-FFF2-40B4-BE49-F238E27FC236}">
                <a16:creationId xmlns:a16="http://schemas.microsoft.com/office/drawing/2014/main" id="{007988DE-EF16-6635-F2FA-12373F2B1D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FA43DD02-4355-B3B9-3464-50AFF6C68FA4}"/>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D60C1022-08FA-46AE-BC88-9D14C5C02C3E}" type="slidenum">
              <a:rPr lang="ar-SA" smtClean="0"/>
              <a:t>‹#›</a:t>
            </a:fld>
            <a:endParaRPr lang="ar-SA"/>
          </a:p>
        </p:txBody>
      </p:sp>
    </p:spTree>
    <p:extLst>
      <p:ext uri="{BB962C8B-B14F-4D97-AF65-F5344CB8AC3E}">
        <p14:creationId xmlns:p14="http://schemas.microsoft.com/office/powerpoint/2010/main" val="417950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12.jpg"/><Relationship Id="rId4" Type="http://schemas.openxmlformats.org/officeDocument/2006/relationships/image" Target="../media/image11.jpg"/></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4.xml"/><Relationship Id="rId1" Type="http://schemas.openxmlformats.org/officeDocument/2006/relationships/slideLayout" Target="../slideLayouts/slideLayout9.xml"/><Relationship Id="rId5" Type="http://schemas.openxmlformats.org/officeDocument/2006/relationships/image" Target="../media/image15.jpg"/><Relationship Id="rId4" Type="http://schemas.openxmlformats.org/officeDocument/2006/relationships/image" Target="../media/image14.jpg"/></Relationships>
</file>

<file path=ppt/slides/_rels/slide3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9.xml"/><Relationship Id="rId5" Type="http://schemas.openxmlformats.org/officeDocument/2006/relationships/image" Target="../media/image18.jpg"/><Relationship Id="rId4" Type="http://schemas.openxmlformats.org/officeDocument/2006/relationships/image" Target="../media/image17.jpg"/></Relationships>
</file>

<file path=ppt/slides/_rels/slide3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8" Type="http://schemas.openxmlformats.org/officeDocument/2006/relationships/hyperlink" Target="#UC002"/><Relationship Id="rId13" Type="http://schemas.openxmlformats.org/officeDocument/2006/relationships/hyperlink" Target="#seq5"/><Relationship Id="rId18" Type="http://schemas.openxmlformats.org/officeDocument/2006/relationships/hyperlink" Target="#UC006"/><Relationship Id="rId26" Type="http://schemas.openxmlformats.org/officeDocument/2006/relationships/hyperlink" Target="#UC009"/><Relationship Id="rId3" Type="http://schemas.openxmlformats.org/officeDocument/2006/relationships/hyperlink" Target="#seq1"/><Relationship Id="rId21" Type="http://schemas.openxmlformats.org/officeDocument/2006/relationships/hyperlink" Target="#UC007"/><Relationship Id="rId7" Type="http://schemas.openxmlformats.org/officeDocument/2006/relationships/hyperlink" Target="#seq2"/><Relationship Id="rId12" Type="http://schemas.openxmlformats.org/officeDocument/2006/relationships/hyperlink" Target="#UC004"/><Relationship Id="rId17" Type="http://schemas.openxmlformats.org/officeDocument/2006/relationships/hyperlink" Target="#acti_6"/><Relationship Id="rId25" Type="http://schemas.openxmlformats.org/officeDocument/2006/relationships/hyperlink" Target="#seq9"/><Relationship Id="rId2" Type="http://schemas.openxmlformats.org/officeDocument/2006/relationships/notesSlide" Target="../notesSlides/notesSlide30.xml"/><Relationship Id="rId16" Type="http://schemas.openxmlformats.org/officeDocument/2006/relationships/hyperlink" Target="#seq6"/><Relationship Id="rId20" Type="http://schemas.openxmlformats.org/officeDocument/2006/relationships/hyperlink" Target="#acti_7"/><Relationship Id="rId1" Type="http://schemas.openxmlformats.org/officeDocument/2006/relationships/slideLayout" Target="../slideLayouts/slideLayout9.xml"/><Relationship Id="rId6" Type="http://schemas.openxmlformats.org/officeDocument/2006/relationships/hyperlink" Target="#UC001"/><Relationship Id="rId11" Type="http://schemas.openxmlformats.org/officeDocument/2006/relationships/hyperlink" Target="#seq4"/><Relationship Id="rId24" Type="http://schemas.openxmlformats.org/officeDocument/2006/relationships/hyperlink" Target="#UC008"/><Relationship Id="rId5" Type="http://schemas.openxmlformats.org/officeDocument/2006/relationships/slide" Target="slide25.xml"/><Relationship Id="rId15" Type="http://schemas.openxmlformats.org/officeDocument/2006/relationships/hyperlink" Target="#UC005"/><Relationship Id="rId23" Type="http://schemas.openxmlformats.org/officeDocument/2006/relationships/hyperlink" Target="#acti_8"/><Relationship Id="rId28" Type="http://schemas.openxmlformats.org/officeDocument/2006/relationships/hyperlink" Target="#UC010"/><Relationship Id="rId10" Type="http://schemas.openxmlformats.org/officeDocument/2006/relationships/hyperlink" Target="#UC003"/><Relationship Id="rId19" Type="http://schemas.openxmlformats.org/officeDocument/2006/relationships/hyperlink" Target="#seq7"/><Relationship Id="rId4" Type="http://schemas.openxmlformats.org/officeDocument/2006/relationships/hyperlink" Target="#acti_1"/><Relationship Id="rId9" Type="http://schemas.openxmlformats.org/officeDocument/2006/relationships/hyperlink" Target="#seq3"/><Relationship Id="rId14" Type="http://schemas.openxmlformats.org/officeDocument/2006/relationships/hyperlink" Target="#acti_5"/><Relationship Id="rId22" Type="http://schemas.openxmlformats.org/officeDocument/2006/relationships/hyperlink" Target="#seq8"/><Relationship Id="rId27" Type="http://schemas.openxmlformats.org/officeDocument/2006/relationships/hyperlink" Target="#seq10"/></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مربع نص 1">
            <a:extLst>
              <a:ext uri="{FF2B5EF4-FFF2-40B4-BE49-F238E27FC236}">
                <a16:creationId xmlns:a16="http://schemas.microsoft.com/office/drawing/2014/main" id="{6142533F-FE1A-BE57-FE17-D853B00453AA}"/>
              </a:ext>
            </a:extLst>
          </p:cNvPr>
          <p:cNvSpPr txBox="1"/>
          <p:nvPr/>
        </p:nvSpPr>
        <p:spPr>
          <a:xfrm>
            <a:off x="6708936" y="291392"/>
            <a:ext cx="4898608" cy="2156904"/>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marL="0" marR="0">
              <a:lnSpc>
                <a:spcPct val="115000"/>
              </a:lnSpc>
              <a:spcAft>
                <a:spcPts val="800"/>
              </a:spcAft>
              <a:buNone/>
            </a:pPr>
            <a:r>
              <a:rPr lang="ar-SA" sz="28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الجـــــامعــــة الســـــــورية الخاصــــــــة</a:t>
            </a:r>
            <a:endParaRPr lang="en-US" sz="2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pPr>
            <a:r>
              <a:rPr lang="ar-SA" sz="28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كليـــــة هندســـة الذكــــاء الاصطنـــاعي</a:t>
            </a:r>
            <a:endParaRPr lang="en-US" sz="2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Aft>
                <a:spcPts val="800"/>
              </a:spcAft>
              <a:buNone/>
            </a:pPr>
            <a:r>
              <a:rPr lang="ar-SA" sz="28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قسم هندسة البرمجيات ونظم المعلومات</a:t>
            </a:r>
            <a:endParaRPr lang="en-US" sz="2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صورة 2">
            <a:extLst>
              <a:ext uri="{FF2B5EF4-FFF2-40B4-BE49-F238E27FC236}">
                <a16:creationId xmlns:a16="http://schemas.microsoft.com/office/drawing/2014/main" id="{6E8E5F35-9D0D-90B4-8C8D-553ECDD64319}"/>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7032" b="82361" l="14902" r="85515"/>
                    </a14:imgEffect>
                  </a14:imgLayer>
                </a14:imgProps>
              </a:ext>
              <a:ext uri="{28A0092B-C50C-407E-A947-70E740481C1C}">
                <a14:useLocalDpi xmlns:a14="http://schemas.microsoft.com/office/drawing/2010/main" val="0"/>
              </a:ext>
            </a:extLst>
          </a:blip>
          <a:srcRect l="25518" t="26495" r="23432" b="38868"/>
          <a:stretch>
            <a:fillRect/>
          </a:stretch>
        </p:blipFill>
        <p:spPr bwMode="auto">
          <a:xfrm>
            <a:off x="908920" y="625753"/>
            <a:ext cx="2223447" cy="1488182"/>
          </a:xfrm>
          <a:prstGeom prst="rect">
            <a:avLst/>
          </a:prstGeom>
          <a:ln>
            <a:noFill/>
          </a:ln>
          <a:extLst>
            <a:ext uri="{53640926-AAD7-44D8-BBD7-CCE9431645EC}">
              <a14:shadowObscured xmlns:a14="http://schemas.microsoft.com/office/drawing/2010/main"/>
            </a:ext>
          </a:extLst>
        </p:spPr>
      </p:pic>
      <p:sp>
        <p:nvSpPr>
          <p:cNvPr id="5" name="مربع نص 4">
            <a:extLst>
              <a:ext uri="{FF2B5EF4-FFF2-40B4-BE49-F238E27FC236}">
                <a16:creationId xmlns:a16="http://schemas.microsoft.com/office/drawing/2014/main" id="{74DB0FA0-9212-CEEF-C6F2-6F382849C85F}"/>
              </a:ext>
            </a:extLst>
          </p:cNvPr>
          <p:cNvSpPr txBox="1"/>
          <p:nvPr/>
        </p:nvSpPr>
        <p:spPr>
          <a:xfrm>
            <a:off x="2740479" y="2497733"/>
            <a:ext cx="6155870" cy="1185196"/>
          </a:xfrm>
          <a:prstGeom prst="rect">
            <a:avLst/>
          </a:prstGeom>
          <a:noFill/>
        </p:spPr>
        <p:txBody>
          <a:bodyPr wrap="square">
            <a:spAutoFit/>
          </a:bodyPr>
          <a:lstStyle/>
          <a:p>
            <a:pPr marL="0" marR="0" algn="ctr">
              <a:lnSpc>
                <a:spcPct val="115000"/>
              </a:lnSpc>
              <a:spcAft>
                <a:spcPts val="800"/>
              </a:spcAft>
              <a:buNone/>
            </a:pPr>
            <a:r>
              <a:rPr lang="ar-SA" sz="6600" b="1" kern="100" dirty="0">
                <a:effectLst/>
                <a:latin typeface="Calibri" panose="020F0502020204030204" pitchFamily="34" charset="0"/>
                <a:ea typeface="Calibri" panose="020F0502020204030204" pitchFamily="34" charset="0"/>
                <a:cs typeface="Arial" panose="020B0604020202020204" pitchFamily="34" charset="0"/>
              </a:rPr>
              <a:t>نظام إدارة صيدلية</a:t>
            </a:r>
            <a:endParaRPr lang="en-US" sz="40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مربع نص 6">
            <a:extLst>
              <a:ext uri="{FF2B5EF4-FFF2-40B4-BE49-F238E27FC236}">
                <a16:creationId xmlns:a16="http://schemas.microsoft.com/office/drawing/2014/main" id="{8D5546BE-A6D6-BB93-3D80-91697588552E}"/>
              </a:ext>
            </a:extLst>
          </p:cNvPr>
          <p:cNvSpPr txBox="1"/>
          <p:nvPr/>
        </p:nvSpPr>
        <p:spPr>
          <a:xfrm>
            <a:off x="2508613" y="3594419"/>
            <a:ext cx="6155870" cy="1224887"/>
          </a:xfrm>
          <a:prstGeom prst="rect">
            <a:avLst/>
          </a:prstGeom>
          <a:noFill/>
        </p:spPr>
        <p:txBody>
          <a:bodyPr wrap="square">
            <a:spAutoFit/>
          </a:bodyPr>
          <a:lstStyle/>
          <a:p>
            <a:pPr marL="0" marR="0" algn="ctr" rtl="1">
              <a:lnSpc>
                <a:spcPct val="115000"/>
              </a:lnSpc>
              <a:spcAft>
                <a:spcPts val="800"/>
              </a:spcAft>
              <a:buNone/>
            </a:pPr>
            <a:r>
              <a:rPr lang="ar-SY" sz="32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مشروع فصلي</a:t>
            </a:r>
            <a:endParaRPr lang="en-US" sz="20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a:p>
            <a:pPr marL="0" marR="0" algn="ctr" rtl="1">
              <a:lnSpc>
                <a:spcPct val="115000"/>
              </a:lnSpc>
              <a:spcAft>
                <a:spcPts val="800"/>
              </a:spcAft>
              <a:buNone/>
            </a:pPr>
            <a:r>
              <a:rPr lang="ar-SY" sz="28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2025</a:t>
            </a:r>
            <a:r>
              <a:rPr lang="ar-SA" sz="28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-2026</a:t>
            </a:r>
            <a:endParaRPr lang="en-US" sz="20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0" name="مربع نص 1">
            <a:extLst>
              <a:ext uri="{FF2B5EF4-FFF2-40B4-BE49-F238E27FC236}">
                <a16:creationId xmlns:a16="http://schemas.microsoft.com/office/drawing/2014/main" id="{1CC49BE0-EFDE-321D-01EE-4E104C28DA49}"/>
              </a:ext>
            </a:extLst>
          </p:cNvPr>
          <p:cNvSpPr txBox="1"/>
          <p:nvPr/>
        </p:nvSpPr>
        <p:spPr>
          <a:xfrm>
            <a:off x="680356" y="5768397"/>
            <a:ext cx="11440887" cy="798211"/>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marL="0" marR="0">
              <a:lnSpc>
                <a:spcPct val="115000"/>
              </a:lnSpc>
              <a:spcAft>
                <a:spcPts val="800"/>
              </a:spcAft>
              <a:buNone/>
            </a:pPr>
            <a:r>
              <a:rPr lang="ar-SA" sz="2800" b="1" kern="100" dirty="0">
                <a:solidFill>
                  <a:srgbClr val="002060"/>
                </a:solidFill>
                <a:effectLst/>
                <a:latin typeface="Calibri" panose="020F0502020204030204" pitchFamily="34" charset="0"/>
                <a:ea typeface="Calibri" panose="020F0502020204030204" pitchFamily="34" charset="0"/>
                <a:cs typeface="Arial" panose="020B0604020202020204" pitchFamily="34" charset="0"/>
              </a:rPr>
              <a:t>إعــداد الطــــــلاب:</a:t>
            </a:r>
            <a:r>
              <a:rPr lang="ar-SA" sz="2000" b="1" kern="100" dirty="0">
                <a:latin typeface="Calibri" panose="020F0502020204030204" pitchFamily="34" charset="0"/>
                <a:ea typeface="Calibri" panose="020F0502020204030204" pitchFamily="34" charset="0"/>
                <a:cs typeface="Arial" panose="020B0604020202020204" pitchFamily="34" charset="0"/>
              </a:rPr>
              <a:t> </a:t>
            </a:r>
            <a:r>
              <a:rPr lang="ar-SA" sz="2800" b="1" kern="100" dirty="0">
                <a:solidFill>
                  <a:srgbClr val="002060"/>
                </a:solidFill>
                <a:effectLst/>
                <a:latin typeface="Calibri" panose="020F0502020204030204" pitchFamily="34" charset="0"/>
                <a:ea typeface="Calibri" panose="020F0502020204030204" pitchFamily="34" charset="0"/>
                <a:cs typeface="Arial" panose="020B0604020202020204" pitchFamily="34" charset="0"/>
              </a:rPr>
              <a:t>أحمـــــــد الحمصي </a:t>
            </a:r>
            <a:r>
              <a:rPr lang="ar-SA" sz="2000" b="1" kern="100" dirty="0">
                <a:latin typeface="Calibri" panose="020F0502020204030204" pitchFamily="34" charset="0"/>
                <a:ea typeface="Calibri" panose="020F0502020204030204" pitchFamily="34" charset="0"/>
                <a:cs typeface="Arial" panose="020B0604020202020204" pitchFamily="34" charset="0"/>
              </a:rPr>
              <a:t>- </a:t>
            </a:r>
            <a:r>
              <a:rPr lang="ar-SA" sz="2800" b="1" kern="100" dirty="0">
                <a:solidFill>
                  <a:srgbClr val="002060"/>
                </a:solidFill>
                <a:effectLst/>
                <a:latin typeface="Calibri" panose="020F0502020204030204" pitchFamily="34" charset="0"/>
                <a:ea typeface="Calibri" panose="020F0502020204030204" pitchFamily="34" charset="0"/>
                <a:cs typeface="Arial" panose="020B0604020202020204" pitchFamily="34" charset="0"/>
              </a:rPr>
              <a:t>محمد علي الصالح</a:t>
            </a:r>
            <a:r>
              <a:rPr lang="ar-SA" sz="2000" b="1" kern="100" dirty="0">
                <a:latin typeface="Calibri" panose="020F0502020204030204" pitchFamily="34" charset="0"/>
                <a:ea typeface="Calibri" panose="020F0502020204030204" pitchFamily="34" charset="0"/>
                <a:cs typeface="Arial" panose="020B0604020202020204" pitchFamily="34" charset="0"/>
              </a:rPr>
              <a:t> - </a:t>
            </a:r>
            <a:r>
              <a:rPr lang="ar-SA" sz="2800" b="1" kern="100" dirty="0">
                <a:solidFill>
                  <a:srgbClr val="002060"/>
                </a:solidFill>
                <a:effectLst/>
                <a:latin typeface="Calibri" panose="020F0502020204030204" pitchFamily="34" charset="0"/>
                <a:ea typeface="Calibri" panose="020F0502020204030204" pitchFamily="34" charset="0"/>
                <a:cs typeface="Arial" panose="020B0604020202020204" pitchFamily="34" charset="0"/>
              </a:rPr>
              <a:t>عبد الرحمن بردان</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مربع نص 1">
            <a:extLst>
              <a:ext uri="{FF2B5EF4-FFF2-40B4-BE49-F238E27FC236}">
                <a16:creationId xmlns:a16="http://schemas.microsoft.com/office/drawing/2014/main" id="{858D61D4-7BC1-F7BD-B338-6D86D221090A}"/>
              </a:ext>
            </a:extLst>
          </p:cNvPr>
          <p:cNvSpPr txBox="1"/>
          <p:nvPr/>
        </p:nvSpPr>
        <p:spPr>
          <a:xfrm>
            <a:off x="7128387" y="5178197"/>
            <a:ext cx="5063613" cy="590200"/>
          </a:xfrm>
          <a:prstGeom prst="rect">
            <a:avLst/>
          </a:prstGeom>
          <a:no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marL="0" marR="0" algn="ctr">
              <a:lnSpc>
                <a:spcPct val="115000"/>
              </a:lnSpc>
              <a:spcAft>
                <a:spcPts val="800"/>
              </a:spcAft>
              <a:buNone/>
            </a:pPr>
            <a:r>
              <a:rPr lang="ar-SA" sz="2400" b="1" kern="100" dirty="0">
                <a:solidFill>
                  <a:srgbClr val="002060"/>
                </a:solidFill>
                <a:effectLst/>
                <a:latin typeface="Calibri" panose="020F0502020204030204" pitchFamily="34" charset="0"/>
                <a:ea typeface="Calibri" panose="020F0502020204030204" pitchFamily="34" charset="0"/>
                <a:cs typeface="Arial" panose="020B0604020202020204" pitchFamily="34" charset="0"/>
              </a:rPr>
              <a:t>إشــــــراف الدكتــــــــور: بــــــدر أحـــــــــــــمد</a:t>
            </a: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955444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8" name="مربع نص 7">
            <a:extLst>
              <a:ext uri="{FF2B5EF4-FFF2-40B4-BE49-F238E27FC236}">
                <a16:creationId xmlns:a16="http://schemas.microsoft.com/office/drawing/2014/main" id="{D70A2F55-BACB-218E-BD7A-E4B1389D64DB}"/>
              </a:ext>
            </a:extLst>
          </p:cNvPr>
          <p:cNvSpPr txBox="1"/>
          <p:nvPr/>
        </p:nvSpPr>
        <p:spPr>
          <a:xfrm>
            <a:off x="0" y="5642010"/>
            <a:ext cx="4416554" cy="1215990"/>
          </a:xfrm>
          <a:prstGeom prst="rect">
            <a:avLst/>
          </a:prstGeom>
        </p:spPr>
        <p:txBody>
          <a:bodyPr anchor="t">
            <a:normAutofit/>
          </a:bodyPr>
          <a:lstStyle/>
          <a:p>
            <a:pPr marL="0" marR="0">
              <a:spcAft>
                <a:spcPts val="800"/>
              </a:spcAft>
              <a:buNone/>
            </a:pPr>
            <a:r>
              <a:rPr lang="ar-SA"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تعريف المشروع</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مربع نص 5">
            <a:extLst>
              <a:ext uri="{FF2B5EF4-FFF2-40B4-BE49-F238E27FC236}">
                <a16:creationId xmlns:a16="http://schemas.microsoft.com/office/drawing/2014/main" id="{F6B794A1-B38C-383E-C56A-D41F4D73DF18}"/>
              </a:ext>
            </a:extLst>
          </p:cNvPr>
          <p:cNvSpPr txBox="1"/>
          <p:nvPr/>
        </p:nvSpPr>
        <p:spPr>
          <a:xfrm>
            <a:off x="5425440" y="230674"/>
            <a:ext cx="6763516" cy="6627326"/>
          </a:xfrm>
          <a:prstGeom prst="rect">
            <a:avLst/>
          </a:prstGeom>
          <a:noFill/>
        </p:spPr>
        <p:txBody>
          <a:bodyPr>
            <a:normAutofit lnSpcReduction="10000"/>
          </a:bodyPr>
          <a:lstStyle/>
          <a:p>
            <a:pPr marL="0" marR="0" rtl="1">
              <a:spcAft>
                <a:spcPts val="800"/>
              </a:spcAft>
              <a:buNone/>
            </a:pPr>
            <a:r>
              <a:rPr lang="ar-SA" sz="4000" kern="100" dirty="0">
                <a:solidFill>
                  <a:schemeClr val="tx1">
                    <a:lumMod val="95000"/>
                    <a:lumOff val="5000"/>
                  </a:schemeClr>
                </a:solidFill>
                <a:effectLst/>
                <a:latin typeface="Calibri" panose="020F0502020204030204" pitchFamily="34" charset="0"/>
                <a:ea typeface="Calibri" panose="020F0502020204030204" pitchFamily="34" charset="0"/>
                <a:cs typeface="Arial" panose="020B0604020202020204" pitchFamily="34" charset="0"/>
              </a:rPr>
              <a:t>مشروع تطوير نظام إدارة صيدلية هـــــو مبادرة تهدف إلى إنشــــــاء نظام متكــامل يساهم في تحسين كفاءة إدارة العمليـــــات داخــــل الصيـــدلية، بمـــــا في ذلك إدارة المخـــزون، معالجـة المبيعات، وإصــدار الفواتير. يهـــــدف النظــــــــــام إلى أتمتة الإجراءات اليدوية التقليديـة، ممــــا يؤدي إلى تقليل الأخطاء وزيـــادة سرعــــــــــة الخدمة المقدمة للعملاء. سيساعد النظـــام أيضًا على توفير تقـــــــارير دقيقة تساعد الإدارة في اتخـــــــــــاذ قرارات مستنيرة </a:t>
            </a:r>
            <a:endParaRPr lang="en-US" sz="4000" kern="100" dirty="0">
              <a:solidFill>
                <a:schemeClr val="tx1">
                  <a:lumMod val="95000"/>
                  <a:lumOff val="5000"/>
                </a:schemeClr>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8756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420C6C5A-8CF2-1D33-5EFA-B524153A015F}"/>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2C09DCC4-9656-EFB2-A2FB-6370535B4F4A}"/>
              </a:ext>
            </a:extLst>
          </p:cNvPr>
          <p:cNvSpPr txBox="1"/>
          <p:nvPr/>
        </p:nvSpPr>
        <p:spPr>
          <a:xfrm>
            <a:off x="0" y="6007766"/>
            <a:ext cx="6858001" cy="850234"/>
          </a:xfrm>
          <a:prstGeom prst="rect">
            <a:avLst/>
          </a:prstGeom>
        </p:spPr>
        <p:txBody>
          <a:bodyPr anchor="t">
            <a:normAutofit fontScale="92500"/>
          </a:bodyPr>
          <a:lstStyle/>
          <a:p>
            <a:pPr marL="0" marR="0">
              <a:spcAft>
                <a:spcPts val="800"/>
              </a:spcAft>
              <a:buNone/>
            </a:pPr>
            <a:r>
              <a:rPr lang="ar-SA" sz="4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اهمية مشروع تطوير نظام إدارة صيدلية</a:t>
            </a:r>
            <a:endParaRPr lang="en-US" sz="4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مربع نص 5">
            <a:extLst>
              <a:ext uri="{FF2B5EF4-FFF2-40B4-BE49-F238E27FC236}">
                <a16:creationId xmlns:a16="http://schemas.microsoft.com/office/drawing/2014/main" id="{F45DC3F3-BCAF-46DE-DA90-864D3CD4D86C}"/>
              </a:ext>
            </a:extLst>
          </p:cNvPr>
          <p:cNvSpPr txBox="1"/>
          <p:nvPr/>
        </p:nvSpPr>
        <p:spPr>
          <a:xfrm>
            <a:off x="737419" y="0"/>
            <a:ext cx="10812897" cy="5879690"/>
          </a:xfrm>
          <a:prstGeom prst="rect">
            <a:avLst/>
          </a:prstGeom>
          <a:noFill/>
        </p:spPr>
        <p:txBody>
          <a:bodyPr>
            <a:normAutofit lnSpcReduction="10000"/>
          </a:bodyPr>
          <a:lstStyle/>
          <a:p>
            <a:r>
              <a:rPr lang="ar-SY" b="1" dirty="0"/>
              <a:t> </a:t>
            </a:r>
            <a:endParaRPr lang="en-US" dirty="0"/>
          </a:p>
          <a:p>
            <a:pPr marL="571500" lvl="0" indent="-571500">
              <a:buFont typeface="Arial" panose="020B0604020202020204" pitchFamily="34" charset="0"/>
              <a:buChar char="•"/>
            </a:pPr>
            <a:r>
              <a:rPr lang="ar-SA" sz="4000" dirty="0"/>
              <a:t>تحسين الكفاءة التشغيلية</a:t>
            </a:r>
            <a:r>
              <a:rPr lang="en-US" sz="4000" dirty="0"/>
              <a:t>.</a:t>
            </a:r>
          </a:p>
          <a:p>
            <a:pPr marL="571500" lvl="0" indent="-571500">
              <a:buFont typeface="Arial" panose="020B0604020202020204" pitchFamily="34" charset="0"/>
              <a:buChar char="•"/>
            </a:pPr>
            <a:r>
              <a:rPr lang="ar-SA" sz="4000" dirty="0"/>
              <a:t>تقليل الأخطاء البشرية</a:t>
            </a:r>
            <a:r>
              <a:rPr lang="en-US" sz="4000" dirty="0"/>
              <a:t>.</a:t>
            </a:r>
          </a:p>
          <a:p>
            <a:pPr marL="571500" lvl="0" indent="-571500">
              <a:buFont typeface="Arial" panose="020B0604020202020204" pitchFamily="34" charset="0"/>
              <a:buChar char="•"/>
            </a:pPr>
            <a:r>
              <a:rPr lang="ar-SA" sz="4000" dirty="0"/>
              <a:t>إدارة المخزون بشكل فعال</a:t>
            </a:r>
            <a:r>
              <a:rPr lang="en-US" sz="4000" dirty="0"/>
              <a:t>.</a:t>
            </a:r>
          </a:p>
          <a:p>
            <a:pPr marL="571500" lvl="0" indent="-571500">
              <a:buFont typeface="Arial" panose="020B0604020202020204" pitchFamily="34" charset="0"/>
              <a:buChar char="•"/>
            </a:pPr>
            <a:r>
              <a:rPr lang="ar-SA" sz="4000" dirty="0"/>
              <a:t>تحسين تجربة العملاء</a:t>
            </a:r>
            <a:r>
              <a:rPr lang="en-US" sz="4000" dirty="0"/>
              <a:t>.</a:t>
            </a:r>
          </a:p>
          <a:p>
            <a:pPr marL="571500" lvl="0" indent="-571500">
              <a:buFont typeface="Arial" panose="020B0604020202020204" pitchFamily="34" charset="0"/>
              <a:buChar char="•"/>
            </a:pPr>
            <a:r>
              <a:rPr lang="ar-SA" sz="4000" dirty="0"/>
              <a:t>توفير تقارير دقيقة.</a:t>
            </a:r>
            <a:endParaRPr lang="en-US" sz="4000" dirty="0"/>
          </a:p>
          <a:p>
            <a:pPr marL="571500" lvl="0" indent="-571500">
              <a:buFont typeface="Arial" panose="020B0604020202020204" pitchFamily="34" charset="0"/>
              <a:buChar char="•"/>
            </a:pPr>
            <a:r>
              <a:rPr lang="ar-SA" sz="4000" dirty="0"/>
              <a:t>زيادة الأمان وحماية البيانات</a:t>
            </a:r>
            <a:r>
              <a:rPr lang="en-US" sz="4000" dirty="0"/>
              <a:t>.</a:t>
            </a:r>
          </a:p>
          <a:p>
            <a:pPr marL="571500" lvl="0" indent="-571500">
              <a:buFont typeface="Arial" panose="020B0604020202020204" pitchFamily="34" charset="0"/>
              <a:buChar char="•"/>
            </a:pPr>
            <a:r>
              <a:rPr lang="ar-SA" sz="4000" dirty="0"/>
              <a:t>تحقيق التكامل مع أنظمة أخرى</a:t>
            </a:r>
            <a:r>
              <a:rPr lang="en-US" sz="4000" dirty="0"/>
              <a:t>.</a:t>
            </a:r>
          </a:p>
          <a:p>
            <a:pPr marL="571500" lvl="0" indent="-571500">
              <a:buFont typeface="Arial" panose="020B0604020202020204" pitchFamily="34" charset="0"/>
              <a:buChar char="•"/>
            </a:pPr>
            <a:r>
              <a:rPr lang="ar-SA" sz="4000" dirty="0"/>
              <a:t>زيادة الربحية</a:t>
            </a:r>
            <a:r>
              <a:rPr lang="en-US" sz="4000" dirty="0"/>
              <a:t>.</a:t>
            </a:r>
          </a:p>
          <a:p>
            <a:pPr marL="571500" lvl="0" indent="-571500">
              <a:buFont typeface="Arial" panose="020B0604020202020204" pitchFamily="34" charset="0"/>
              <a:buChar char="•"/>
            </a:pPr>
            <a:r>
              <a:rPr lang="ar-SA" sz="4000" dirty="0"/>
              <a:t>تسهيل الامتثال للقوانين واللوائح</a:t>
            </a:r>
            <a:r>
              <a:rPr lang="en-US" sz="4000" dirty="0"/>
              <a:t>.</a:t>
            </a:r>
          </a:p>
          <a:p>
            <a:pPr marL="571500" lvl="0" indent="-571500">
              <a:buFont typeface="Arial" panose="020B0604020202020204" pitchFamily="34" charset="0"/>
              <a:buChar char="•"/>
            </a:pPr>
            <a:r>
              <a:rPr lang="ar-SA" sz="4000" dirty="0"/>
              <a:t>دعم النمو والتوسع</a:t>
            </a:r>
            <a:r>
              <a:rPr lang="en-US" sz="4000" dirty="0"/>
              <a:t>.</a:t>
            </a:r>
          </a:p>
        </p:txBody>
      </p:sp>
    </p:spTree>
    <p:extLst>
      <p:ext uri="{BB962C8B-B14F-4D97-AF65-F5344CB8AC3E}">
        <p14:creationId xmlns:p14="http://schemas.microsoft.com/office/powerpoint/2010/main" val="1182555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C7F655C9-0263-D35B-D7A9-18360146BCFF}"/>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73A4BCDE-98B5-1BD7-A4B2-887DFF8F4E54}"/>
              </a:ext>
            </a:extLst>
          </p:cNvPr>
          <p:cNvSpPr txBox="1"/>
          <p:nvPr/>
        </p:nvSpPr>
        <p:spPr>
          <a:xfrm>
            <a:off x="7521677" y="5876380"/>
            <a:ext cx="4416554" cy="1215990"/>
          </a:xfrm>
          <a:prstGeom prst="rect">
            <a:avLst/>
          </a:prstGeom>
        </p:spPr>
        <p:txBody>
          <a:bodyPr anchor="t">
            <a:normAutofit/>
          </a:bodyPr>
          <a:lstStyle/>
          <a:p>
            <a:pPr marL="0" marR="0">
              <a:spcAft>
                <a:spcPts val="800"/>
              </a:spcAft>
              <a:buNone/>
            </a:pPr>
            <a:r>
              <a:rPr lang="ar-SA" sz="54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أهداف</a:t>
            </a:r>
            <a:r>
              <a:rPr lang="ar-SA"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 المشروع</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مربع نص 5">
            <a:extLst>
              <a:ext uri="{FF2B5EF4-FFF2-40B4-BE49-F238E27FC236}">
                <a16:creationId xmlns:a16="http://schemas.microsoft.com/office/drawing/2014/main" id="{A791E0A4-E1D8-B49F-4FF5-A737B65AF9DF}"/>
              </a:ext>
            </a:extLst>
          </p:cNvPr>
          <p:cNvSpPr txBox="1"/>
          <p:nvPr/>
        </p:nvSpPr>
        <p:spPr>
          <a:xfrm>
            <a:off x="78658" y="1074543"/>
            <a:ext cx="6683096" cy="4801837"/>
          </a:xfrm>
          <a:prstGeom prst="rect">
            <a:avLst/>
          </a:prstGeom>
          <a:noFill/>
        </p:spPr>
        <p:txBody>
          <a:bodyPr>
            <a:normAutofit fontScale="77500" lnSpcReduction="20000"/>
          </a:bodyPr>
          <a:lstStyle/>
          <a:p>
            <a:r>
              <a:rPr lang="en-US" dirty="0"/>
              <a:t> </a:t>
            </a:r>
          </a:p>
          <a:p>
            <a:pPr marL="857250" lvl="0" indent="-857250">
              <a:buFont typeface="Arial" panose="020B0604020202020204" pitchFamily="34" charset="0"/>
              <a:buChar char="•"/>
            </a:pPr>
            <a:r>
              <a:rPr lang="ar-SA" sz="4000" b="1" dirty="0"/>
              <a:t>تحسين كفاءة العمليات</a:t>
            </a:r>
            <a:r>
              <a:rPr lang="en-US" sz="4000" b="1" dirty="0"/>
              <a:t>.</a:t>
            </a:r>
            <a:endParaRPr lang="ar-SA" sz="4000" b="1" dirty="0"/>
          </a:p>
          <a:p>
            <a:pPr marL="857250" lvl="0" indent="-857250">
              <a:buFont typeface="Arial" panose="020B0604020202020204" pitchFamily="34" charset="0"/>
              <a:buChar char="•"/>
            </a:pPr>
            <a:endParaRPr lang="en-US" sz="4000" b="1" dirty="0"/>
          </a:p>
          <a:p>
            <a:pPr marL="857250" lvl="0" indent="-857250">
              <a:buFont typeface="Arial" panose="020B0604020202020204" pitchFamily="34" charset="0"/>
              <a:buChar char="•"/>
            </a:pPr>
            <a:r>
              <a:rPr lang="ar-SA" sz="4000" b="1" dirty="0"/>
              <a:t>زيادة دقة المخزون</a:t>
            </a:r>
            <a:r>
              <a:rPr lang="en-US" sz="4000" b="1" dirty="0"/>
              <a:t>.</a:t>
            </a:r>
            <a:endParaRPr lang="ar-SA" sz="4000" b="1" dirty="0"/>
          </a:p>
          <a:p>
            <a:pPr lvl="0"/>
            <a:endParaRPr lang="en-US" sz="4000" b="1" dirty="0"/>
          </a:p>
          <a:p>
            <a:pPr marL="857250" lvl="0" indent="-857250">
              <a:buFont typeface="Arial" panose="020B0604020202020204" pitchFamily="34" charset="0"/>
              <a:buChar char="•"/>
            </a:pPr>
            <a:r>
              <a:rPr lang="ar-SA" sz="4000" b="1" dirty="0"/>
              <a:t>تحسين تجربة العملاء</a:t>
            </a:r>
            <a:r>
              <a:rPr lang="en-US" sz="4000" b="1" dirty="0"/>
              <a:t>.</a:t>
            </a:r>
            <a:endParaRPr lang="ar-SA" sz="4000" b="1" dirty="0"/>
          </a:p>
          <a:p>
            <a:pPr lvl="0"/>
            <a:endParaRPr lang="en-US" sz="4000" b="1" dirty="0"/>
          </a:p>
          <a:p>
            <a:pPr marL="857250" lvl="0" indent="-857250">
              <a:buFont typeface="Arial" panose="020B0604020202020204" pitchFamily="34" charset="0"/>
              <a:buChar char="•"/>
            </a:pPr>
            <a:r>
              <a:rPr lang="ar-SA" sz="4000" b="1" dirty="0"/>
              <a:t>توفير تقارير تحليلية</a:t>
            </a:r>
            <a:r>
              <a:rPr lang="en-US" sz="4000" b="1" dirty="0"/>
              <a:t>.</a:t>
            </a:r>
            <a:endParaRPr lang="ar-SA" sz="4000" b="1" dirty="0"/>
          </a:p>
          <a:p>
            <a:pPr lvl="0"/>
            <a:endParaRPr lang="en-US" sz="4000" b="1" dirty="0"/>
          </a:p>
          <a:p>
            <a:pPr marL="857250" lvl="0" indent="-857250">
              <a:buFont typeface="Arial" panose="020B0604020202020204" pitchFamily="34" charset="0"/>
              <a:buChar char="•"/>
            </a:pPr>
            <a:r>
              <a:rPr lang="ar-SA" sz="4000" b="1" dirty="0"/>
              <a:t>تعزيز أمان البيانات</a:t>
            </a:r>
            <a:r>
              <a:rPr lang="en-US" sz="4000" b="1" dirty="0"/>
              <a:t>.</a:t>
            </a:r>
            <a:endParaRPr lang="ar-SA" sz="4000" b="1" dirty="0"/>
          </a:p>
          <a:p>
            <a:pPr lvl="0"/>
            <a:endParaRPr lang="en-US" sz="4000" b="1" dirty="0"/>
          </a:p>
          <a:p>
            <a:pPr marL="857250" lvl="0" indent="-857250">
              <a:buFont typeface="Arial" panose="020B0604020202020204" pitchFamily="34" charset="0"/>
              <a:buChar char="•"/>
            </a:pPr>
            <a:r>
              <a:rPr lang="ar-SA" sz="4000" b="1" dirty="0"/>
              <a:t>تحقيق التكامل مع الأنظمة الأخرى</a:t>
            </a:r>
            <a:r>
              <a:rPr lang="en-US" sz="6500" b="1" dirty="0"/>
              <a:t>.</a:t>
            </a:r>
          </a:p>
          <a:p>
            <a:endParaRPr lang="en-US" sz="6500" dirty="0"/>
          </a:p>
        </p:txBody>
      </p:sp>
    </p:spTree>
    <p:extLst>
      <p:ext uri="{BB962C8B-B14F-4D97-AF65-F5344CB8AC3E}">
        <p14:creationId xmlns:p14="http://schemas.microsoft.com/office/powerpoint/2010/main" val="2313278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D68D21F2-F9D2-DE41-0BF5-1255D4C67438}"/>
            </a:ext>
          </a:extLst>
        </p:cNvPr>
        <p:cNvGrpSpPr/>
        <p:nvPr/>
      </p:nvGrpSpPr>
      <p:grpSpPr>
        <a:xfrm>
          <a:off x="0" y="0"/>
          <a:ext cx="0" cy="0"/>
          <a:chOff x="0" y="0"/>
          <a:chExt cx="0" cy="0"/>
        </a:xfrm>
      </p:grpSpPr>
      <p:sp>
        <p:nvSpPr>
          <p:cNvPr id="2" name="مربع نص 1">
            <a:extLst>
              <a:ext uri="{FF2B5EF4-FFF2-40B4-BE49-F238E27FC236}">
                <a16:creationId xmlns:a16="http://schemas.microsoft.com/office/drawing/2014/main" id="{6DD4F790-0104-C439-AEA9-3BB847ECA522}"/>
              </a:ext>
            </a:extLst>
          </p:cNvPr>
          <p:cNvSpPr txBox="1"/>
          <p:nvPr/>
        </p:nvSpPr>
        <p:spPr>
          <a:xfrm>
            <a:off x="3397045" y="0"/>
            <a:ext cx="4416554" cy="1140542"/>
          </a:xfrm>
          <a:prstGeom prst="rect">
            <a:avLst/>
          </a:prstGeom>
        </p:spPr>
        <p:txBody>
          <a:bodyPr anchor="t">
            <a:normAutofit/>
          </a:bodyPr>
          <a:lstStyle/>
          <a:p>
            <a:pPr marL="0" marR="0">
              <a:spcAft>
                <a:spcPts val="800"/>
              </a:spcAft>
              <a:buNone/>
            </a:pPr>
            <a:r>
              <a:rPr lang="ar-SA" sz="54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الدراسة المرجعية</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3" name="جدول 2">
            <a:extLst>
              <a:ext uri="{FF2B5EF4-FFF2-40B4-BE49-F238E27FC236}">
                <a16:creationId xmlns:a16="http://schemas.microsoft.com/office/drawing/2014/main" id="{85610BD7-8933-DFB0-8A5B-FD04436CAE61}"/>
              </a:ext>
            </a:extLst>
          </p:cNvPr>
          <p:cNvGraphicFramePr>
            <a:graphicFrameLocks noGrp="1"/>
          </p:cNvGraphicFramePr>
          <p:nvPr>
            <p:extLst>
              <p:ext uri="{D42A27DB-BD31-4B8C-83A1-F6EECF244321}">
                <p14:modId xmlns:p14="http://schemas.microsoft.com/office/powerpoint/2010/main" val="3752643702"/>
              </p:ext>
            </p:extLst>
          </p:nvPr>
        </p:nvGraphicFramePr>
        <p:xfrm>
          <a:off x="412955" y="904573"/>
          <a:ext cx="11572568" cy="5874304"/>
        </p:xfrm>
        <a:graphic>
          <a:graphicData uri="http://schemas.openxmlformats.org/drawingml/2006/table">
            <a:tbl>
              <a:tblPr rtl="1" firstRow="1" firstCol="1" bandRow="1">
                <a:tableStyleId>{3B4B98B0-60AC-42C2-AFA5-B58CD77FA1E5}</a:tableStyleId>
              </a:tblPr>
              <a:tblGrid>
                <a:gridCol w="1635423">
                  <a:extLst>
                    <a:ext uri="{9D8B030D-6E8A-4147-A177-3AD203B41FA5}">
                      <a16:colId xmlns:a16="http://schemas.microsoft.com/office/drawing/2014/main" val="782892811"/>
                    </a:ext>
                  </a:extLst>
                </a:gridCol>
                <a:gridCol w="1930246">
                  <a:extLst>
                    <a:ext uri="{9D8B030D-6E8A-4147-A177-3AD203B41FA5}">
                      <a16:colId xmlns:a16="http://schemas.microsoft.com/office/drawing/2014/main" val="1965394198"/>
                    </a:ext>
                  </a:extLst>
                </a:gridCol>
                <a:gridCol w="2219504">
                  <a:extLst>
                    <a:ext uri="{9D8B030D-6E8A-4147-A177-3AD203B41FA5}">
                      <a16:colId xmlns:a16="http://schemas.microsoft.com/office/drawing/2014/main" val="2051314602"/>
                    </a:ext>
                  </a:extLst>
                </a:gridCol>
                <a:gridCol w="1928018">
                  <a:extLst>
                    <a:ext uri="{9D8B030D-6E8A-4147-A177-3AD203B41FA5}">
                      <a16:colId xmlns:a16="http://schemas.microsoft.com/office/drawing/2014/main" val="468081889"/>
                    </a:ext>
                  </a:extLst>
                </a:gridCol>
                <a:gridCol w="2127163">
                  <a:extLst>
                    <a:ext uri="{9D8B030D-6E8A-4147-A177-3AD203B41FA5}">
                      <a16:colId xmlns:a16="http://schemas.microsoft.com/office/drawing/2014/main" val="1750455873"/>
                    </a:ext>
                  </a:extLst>
                </a:gridCol>
                <a:gridCol w="1732214">
                  <a:extLst>
                    <a:ext uri="{9D8B030D-6E8A-4147-A177-3AD203B41FA5}">
                      <a16:colId xmlns:a16="http://schemas.microsoft.com/office/drawing/2014/main" val="1561956538"/>
                    </a:ext>
                  </a:extLst>
                </a:gridCol>
              </a:tblGrid>
              <a:tr h="569181">
                <a:tc>
                  <a:txBody>
                    <a:bodyPr/>
                    <a:lstStyle/>
                    <a:p>
                      <a:pPr marL="0" marR="0" algn="ctr" rtl="1">
                        <a:lnSpc>
                          <a:spcPct val="115000"/>
                        </a:lnSpc>
                        <a:spcAft>
                          <a:spcPts val="800"/>
                        </a:spcAft>
                        <a:buNone/>
                      </a:pPr>
                      <a:r>
                        <a:rPr lang="ar-SY" sz="1600" b="0" kern="100" dirty="0">
                          <a:ln>
                            <a:solidFill>
                              <a:schemeClr val="tx1">
                                <a:lumMod val="75000"/>
                                <a:lumOff val="25000"/>
                              </a:schemeClr>
                            </a:solidFill>
                          </a:ln>
                          <a:effectLst/>
                        </a:rPr>
                        <a:t>المتطلب</a:t>
                      </a:r>
                      <a:endParaRPr lang="en-US" sz="24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gradFill flip="none" rotWithShape="1">
                      <a:gsLst>
                        <a:gs pos="0">
                          <a:srgbClr val="C2A33E">
                            <a:tint val="66000"/>
                            <a:satMod val="160000"/>
                          </a:srgbClr>
                        </a:gs>
                        <a:gs pos="50000">
                          <a:srgbClr val="C2A33E">
                            <a:tint val="44500"/>
                            <a:satMod val="160000"/>
                          </a:srgbClr>
                        </a:gs>
                        <a:gs pos="100000">
                          <a:srgbClr val="C2A33E">
                            <a:tint val="23500"/>
                            <a:satMod val="160000"/>
                          </a:srgbClr>
                        </a:gs>
                      </a:gsLst>
                      <a:lin ang="0" scaled="1"/>
                      <a:tileRect/>
                    </a:gradFill>
                  </a:tcPr>
                </a:tc>
                <a:tc>
                  <a:txBody>
                    <a:bodyPr/>
                    <a:lstStyle/>
                    <a:p>
                      <a:pPr marL="0" marR="0" algn="ctr" rtl="1">
                        <a:lnSpc>
                          <a:spcPct val="115000"/>
                        </a:lnSpc>
                        <a:spcAft>
                          <a:spcPts val="800"/>
                        </a:spcAft>
                        <a:buNone/>
                      </a:pPr>
                      <a:r>
                        <a:rPr lang="ar-SY" sz="1600" b="0" kern="100">
                          <a:ln>
                            <a:solidFill>
                              <a:schemeClr val="tx1">
                                <a:lumMod val="75000"/>
                                <a:lumOff val="25000"/>
                              </a:schemeClr>
                            </a:solidFill>
                          </a:ln>
                          <a:effectLst/>
                        </a:rPr>
                        <a:t>نظامنا المقترح</a:t>
                      </a:r>
                      <a:endParaRPr lang="en-US" sz="24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gradFill flip="none" rotWithShape="1">
                      <a:gsLst>
                        <a:gs pos="0">
                          <a:srgbClr val="C2A33E">
                            <a:tint val="66000"/>
                            <a:satMod val="160000"/>
                          </a:srgbClr>
                        </a:gs>
                        <a:gs pos="50000">
                          <a:srgbClr val="C2A33E">
                            <a:tint val="44500"/>
                            <a:satMod val="160000"/>
                          </a:srgbClr>
                        </a:gs>
                        <a:gs pos="100000">
                          <a:srgbClr val="C2A33E">
                            <a:tint val="23500"/>
                            <a:satMod val="160000"/>
                          </a:srgbClr>
                        </a:gs>
                      </a:gsLst>
                      <a:lin ang="0" scaled="1"/>
                      <a:tileRect/>
                    </a:gradFill>
                  </a:tcPr>
                </a:tc>
                <a:tc>
                  <a:txBody>
                    <a:bodyPr/>
                    <a:lstStyle/>
                    <a:p>
                      <a:pPr marL="0" marR="0" algn="ctr" rtl="1">
                        <a:lnSpc>
                          <a:spcPct val="115000"/>
                        </a:lnSpc>
                        <a:spcAft>
                          <a:spcPts val="800"/>
                        </a:spcAft>
                        <a:buNone/>
                      </a:pPr>
                      <a:r>
                        <a:rPr lang="en-US" sz="1400" b="0" kern="100" dirty="0">
                          <a:ln>
                            <a:solidFill>
                              <a:schemeClr val="tx1">
                                <a:lumMod val="75000"/>
                                <a:lumOff val="25000"/>
                              </a:schemeClr>
                            </a:solidFill>
                          </a:ln>
                          <a:effectLst/>
                        </a:rPr>
                        <a:t>System A</a:t>
                      </a:r>
                      <a:endParaRPr lang="en-US" sz="2400" b="0" kern="100" dirty="0">
                        <a:ln>
                          <a:solidFill>
                            <a:schemeClr val="tx1">
                              <a:lumMod val="75000"/>
                              <a:lumOff val="25000"/>
                            </a:schemeClr>
                          </a:solidFill>
                        </a:ln>
                        <a:effectLst/>
                      </a:endParaRPr>
                    </a:p>
                    <a:p>
                      <a:pPr marL="0" marR="0" algn="ctr" rtl="1">
                        <a:lnSpc>
                          <a:spcPct val="115000"/>
                        </a:lnSpc>
                        <a:spcAft>
                          <a:spcPts val="800"/>
                        </a:spcAft>
                        <a:buNone/>
                      </a:pPr>
                      <a:r>
                        <a:rPr lang="en-US" sz="1400" b="0" kern="100" dirty="0">
                          <a:ln>
                            <a:solidFill>
                              <a:schemeClr val="tx1">
                                <a:lumMod val="75000"/>
                                <a:lumOff val="25000"/>
                              </a:schemeClr>
                            </a:solidFill>
                          </a:ln>
                          <a:effectLst/>
                        </a:rPr>
                        <a:t> (Pharma Soft):</a:t>
                      </a:r>
                      <a:endParaRPr lang="en-US" sz="24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gradFill flip="none" rotWithShape="1">
                      <a:gsLst>
                        <a:gs pos="0">
                          <a:srgbClr val="C2A33E">
                            <a:tint val="66000"/>
                            <a:satMod val="160000"/>
                          </a:srgbClr>
                        </a:gs>
                        <a:gs pos="50000">
                          <a:srgbClr val="C2A33E">
                            <a:tint val="44500"/>
                            <a:satMod val="160000"/>
                          </a:srgbClr>
                        </a:gs>
                        <a:gs pos="100000">
                          <a:srgbClr val="C2A33E">
                            <a:tint val="23500"/>
                            <a:satMod val="160000"/>
                          </a:srgbClr>
                        </a:gs>
                      </a:gsLst>
                      <a:lin ang="0" scaled="1"/>
                      <a:tileRect/>
                    </a:gradFill>
                  </a:tcPr>
                </a:tc>
                <a:tc>
                  <a:txBody>
                    <a:bodyPr/>
                    <a:lstStyle/>
                    <a:p>
                      <a:pPr marL="0" marR="0" algn="ctr" rtl="1">
                        <a:lnSpc>
                          <a:spcPct val="115000"/>
                        </a:lnSpc>
                        <a:spcAft>
                          <a:spcPts val="800"/>
                        </a:spcAft>
                        <a:buNone/>
                      </a:pPr>
                      <a:r>
                        <a:rPr lang="en-US" sz="1400" b="0" kern="100" dirty="0">
                          <a:ln>
                            <a:solidFill>
                              <a:schemeClr val="tx1">
                                <a:lumMod val="75000"/>
                                <a:lumOff val="25000"/>
                              </a:schemeClr>
                            </a:solidFill>
                          </a:ln>
                          <a:effectLst/>
                        </a:rPr>
                        <a:t>System B</a:t>
                      </a:r>
                      <a:endParaRPr lang="en-US" sz="2400" b="0" kern="100" dirty="0">
                        <a:ln>
                          <a:solidFill>
                            <a:schemeClr val="tx1">
                              <a:lumMod val="75000"/>
                              <a:lumOff val="25000"/>
                            </a:schemeClr>
                          </a:solidFill>
                        </a:ln>
                        <a:effectLst/>
                      </a:endParaRPr>
                    </a:p>
                    <a:p>
                      <a:pPr marL="0" marR="0" algn="ctr" rtl="1">
                        <a:lnSpc>
                          <a:spcPct val="115000"/>
                        </a:lnSpc>
                        <a:spcAft>
                          <a:spcPts val="800"/>
                        </a:spcAft>
                        <a:buNone/>
                      </a:pPr>
                      <a:r>
                        <a:rPr lang="en-US" sz="1400" b="0" kern="100" dirty="0">
                          <a:ln>
                            <a:solidFill>
                              <a:schemeClr val="tx1">
                                <a:lumMod val="75000"/>
                                <a:lumOff val="25000"/>
                              </a:schemeClr>
                            </a:solidFill>
                          </a:ln>
                          <a:effectLst/>
                        </a:rPr>
                        <a:t> (Medi Card):</a:t>
                      </a:r>
                      <a:endParaRPr lang="en-US" sz="24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gradFill flip="none" rotWithShape="1">
                      <a:gsLst>
                        <a:gs pos="0">
                          <a:srgbClr val="C2A33E">
                            <a:tint val="66000"/>
                            <a:satMod val="160000"/>
                          </a:srgbClr>
                        </a:gs>
                        <a:gs pos="50000">
                          <a:srgbClr val="C2A33E">
                            <a:tint val="44500"/>
                            <a:satMod val="160000"/>
                          </a:srgbClr>
                        </a:gs>
                        <a:gs pos="100000">
                          <a:srgbClr val="C2A33E">
                            <a:tint val="23500"/>
                            <a:satMod val="160000"/>
                          </a:srgbClr>
                        </a:gs>
                      </a:gsLst>
                      <a:lin ang="0" scaled="1"/>
                      <a:tileRect/>
                    </a:gradFill>
                  </a:tcPr>
                </a:tc>
                <a:tc>
                  <a:txBody>
                    <a:bodyPr/>
                    <a:lstStyle/>
                    <a:p>
                      <a:pPr marL="0" marR="0" algn="ctr" rtl="1">
                        <a:lnSpc>
                          <a:spcPct val="115000"/>
                        </a:lnSpc>
                        <a:spcAft>
                          <a:spcPts val="800"/>
                        </a:spcAft>
                        <a:buNone/>
                      </a:pPr>
                      <a:r>
                        <a:rPr lang="en-US" sz="1400" b="0" kern="100" dirty="0">
                          <a:ln>
                            <a:solidFill>
                              <a:schemeClr val="tx1">
                                <a:lumMod val="75000"/>
                                <a:lumOff val="25000"/>
                              </a:schemeClr>
                            </a:solidFill>
                          </a:ln>
                          <a:effectLst/>
                        </a:rPr>
                        <a:t>System C </a:t>
                      </a:r>
                      <a:endParaRPr lang="en-US" sz="2400" b="0" kern="100" dirty="0">
                        <a:ln>
                          <a:solidFill>
                            <a:schemeClr val="tx1">
                              <a:lumMod val="75000"/>
                              <a:lumOff val="25000"/>
                            </a:schemeClr>
                          </a:solidFill>
                        </a:ln>
                        <a:effectLst/>
                      </a:endParaRPr>
                    </a:p>
                    <a:p>
                      <a:pPr marL="0" marR="0" algn="ctr" rtl="1">
                        <a:lnSpc>
                          <a:spcPct val="115000"/>
                        </a:lnSpc>
                        <a:spcAft>
                          <a:spcPts val="800"/>
                        </a:spcAft>
                        <a:buNone/>
                      </a:pPr>
                      <a:r>
                        <a:rPr lang="en-US" sz="1400" b="0" kern="100" dirty="0">
                          <a:ln>
                            <a:solidFill>
                              <a:schemeClr val="tx1">
                                <a:lumMod val="75000"/>
                                <a:lumOff val="25000"/>
                              </a:schemeClr>
                            </a:solidFill>
                          </a:ln>
                          <a:effectLst/>
                        </a:rPr>
                        <a:t>(Pharma Pro):</a:t>
                      </a:r>
                      <a:endParaRPr lang="en-US" sz="24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gradFill flip="none" rotWithShape="1">
                      <a:gsLst>
                        <a:gs pos="0">
                          <a:srgbClr val="C2A33E">
                            <a:tint val="66000"/>
                            <a:satMod val="160000"/>
                          </a:srgbClr>
                        </a:gs>
                        <a:gs pos="50000">
                          <a:srgbClr val="C2A33E">
                            <a:tint val="44500"/>
                            <a:satMod val="160000"/>
                          </a:srgbClr>
                        </a:gs>
                        <a:gs pos="100000">
                          <a:srgbClr val="C2A33E">
                            <a:tint val="23500"/>
                            <a:satMod val="160000"/>
                          </a:srgbClr>
                        </a:gs>
                      </a:gsLst>
                      <a:lin ang="0" scaled="1"/>
                      <a:tileRect/>
                    </a:gradFill>
                  </a:tcPr>
                </a:tc>
                <a:tc>
                  <a:txBody>
                    <a:bodyPr/>
                    <a:lstStyle/>
                    <a:p>
                      <a:pPr marL="0" marR="0" algn="ctr" rtl="1">
                        <a:lnSpc>
                          <a:spcPct val="115000"/>
                        </a:lnSpc>
                        <a:spcAft>
                          <a:spcPts val="800"/>
                        </a:spcAft>
                        <a:buNone/>
                      </a:pPr>
                      <a:r>
                        <a:rPr lang="ar-SY" sz="1400" b="0" kern="100" dirty="0">
                          <a:ln>
                            <a:solidFill>
                              <a:schemeClr val="tx1">
                                <a:lumMod val="75000"/>
                                <a:lumOff val="25000"/>
                              </a:schemeClr>
                            </a:solidFill>
                          </a:ln>
                          <a:effectLst/>
                        </a:rPr>
                        <a:t>ميزة نظامنا</a:t>
                      </a:r>
                      <a:endParaRPr lang="en-US" sz="24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gradFill flip="none" rotWithShape="1">
                      <a:gsLst>
                        <a:gs pos="0">
                          <a:srgbClr val="C2A33E">
                            <a:tint val="66000"/>
                            <a:satMod val="160000"/>
                          </a:srgbClr>
                        </a:gs>
                        <a:gs pos="50000">
                          <a:srgbClr val="C2A33E">
                            <a:tint val="44500"/>
                            <a:satMod val="160000"/>
                          </a:srgbClr>
                        </a:gs>
                        <a:gs pos="100000">
                          <a:srgbClr val="C2A33E">
                            <a:tint val="23500"/>
                            <a:satMod val="160000"/>
                          </a:srgbClr>
                        </a:gs>
                      </a:gsLst>
                      <a:lin ang="0" scaled="1"/>
                      <a:tileRect/>
                    </a:gradFill>
                  </a:tcPr>
                </a:tc>
                <a:extLst>
                  <a:ext uri="{0D108BD9-81ED-4DB2-BD59-A6C34878D82A}">
                    <a16:rowId xmlns:a16="http://schemas.microsoft.com/office/drawing/2014/main" val="2972024754"/>
                  </a:ext>
                </a:extLst>
              </a:tr>
              <a:tr h="320375">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إدارة المبيعات</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________</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2088372991"/>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نقاط البيع</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متكامل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متكامل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أساسي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متكامل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دعم جميع وسائل الدفع</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3650068213"/>
                  </a:ext>
                </a:extLst>
              </a:tr>
              <a:tr h="320375">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إدارة المخزون</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تتبع لحظي</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تتبع يومي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يدوي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تتبع يومي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تحديث فوري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4246270386"/>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تنبيهات الصلاحية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تلقائي + تنبيهات</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تلقائي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يدوي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تلقائي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تنبيهات متعددة الوسائط</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741072672"/>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الحسابات الآجلة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متكامل + حدود ائتمانية</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أساسي</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غير مدعوم</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أساسي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إدارة ائتمانية متقدمة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2829354436"/>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الوصفات الطبية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كامل + تفاعلات دوائية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أساسي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أساسي</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كامل</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فحص تفاعلات دوائية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781218842"/>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التقارير المالية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تقارير مخصصة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تقارير أساسية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تقارير بسيطة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تقارير متقدمة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تصدير ملف </a:t>
                      </a:r>
                      <a:r>
                        <a:rPr lang="en-US" sz="1600" b="0" kern="100">
                          <a:ln>
                            <a:solidFill>
                              <a:schemeClr val="tx1">
                                <a:lumMod val="75000"/>
                                <a:lumOff val="25000"/>
                              </a:schemeClr>
                            </a:solidFill>
                          </a:ln>
                          <a:effectLst/>
                        </a:rPr>
                        <a:t>PDF</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642623533"/>
                  </a:ext>
                </a:extLst>
              </a:tr>
              <a:tr h="457281">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إدارة الموردين</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كامل + تقييم</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أساسي</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غير مدعوم</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أساسي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تقييم أداء الم</a:t>
                      </a:r>
                      <a:r>
                        <a:rPr lang="ar-SA" sz="1600" b="0" kern="100">
                          <a:ln>
                            <a:solidFill>
                              <a:schemeClr val="tx1">
                                <a:lumMod val="75000"/>
                                <a:lumOff val="25000"/>
                              </a:schemeClr>
                            </a:solidFill>
                          </a:ln>
                          <a:effectLst/>
                        </a:rPr>
                        <a:t>و</a:t>
                      </a:r>
                      <a:r>
                        <a:rPr lang="ar-SY" sz="1600" b="0" kern="100">
                          <a:ln>
                            <a:solidFill>
                              <a:schemeClr val="tx1">
                                <a:lumMod val="75000"/>
                                <a:lumOff val="25000"/>
                              </a:schemeClr>
                            </a:solidFill>
                          </a:ln>
                          <a:effectLst/>
                        </a:rPr>
                        <a:t>ردين</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2424746867"/>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البحث عن بديل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ذكي + ترشيحات</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غير مدعوم</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غير مدعوم</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بحث بسيط</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محرك بحث ذكي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392378108"/>
                  </a:ext>
                </a:extLst>
              </a:tr>
              <a:tr h="451856">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نظام التنبيهات</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متكامل + إشعارات</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تنبيهات أساسية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غير مدعوم</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تنبيهات بسيطة</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نظام إشعارات متكامل</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986602082"/>
                  </a:ext>
                </a:extLst>
              </a:tr>
              <a:tr h="564341">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الدعم الفني</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7/24 + تدريب</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خلال أوقات الدوام</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محدود</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خلال أوقات الدوام</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دعم على مدار الساعة</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1248352076"/>
                  </a:ext>
                </a:extLst>
              </a:tr>
              <a:tr h="457281">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السعر</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متوسط</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مرتفع</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a:ln>
                            <a:solidFill>
                              <a:schemeClr val="tx1">
                                <a:lumMod val="75000"/>
                                <a:lumOff val="25000"/>
                              </a:schemeClr>
                            </a:solidFill>
                          </a:ln>
                          <a:effectLst/>
                        </a:rPr>
                        <a:t>منخفض</a:t>
                      </a:r>
                      <a:endParaRPr lang="en-US" sz="2800" b="0" kern="10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مرتفع</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tc>
                  <a:txBody>
                    <a:bodyPr/>
                    <a:lstStyle/>
                    <a:p>
                      <a:pPr marL="0" marR="0" algn="ctr" rtl="1">
                        <a:lnSpc>
                          <a:spcPct val="150000"/>
                        </a:lnSpc>
                        <a:spcAft>
                          <a:spcPts val="800"/>
                        </a:spcAft>
                        <a:buNone/>
                      </a:pPr>
                      <a:r>
                        <a:rPr lang="ar-SY" sz="1600" b="0" kern="100" dirty="0">
                          <a:ln>
                            <a:solidFill>
                              <a:schemeClr val="tx1">
                                <a:lumMod val="75000"/>
                                <a:lumOff val="25000"/>
                              </a:schemeClr>
                            </a:solidFill>
                          </a:ln>
                          <a:effectLst/>
                        </a:rPr>
                        <a:t>قيمة أفضل بالسعر</a:t>
                      </a:r>
                      <a:endParaRPr lang="en-US" sz="2800" b="0" kern="100" dirty="0">
                        <a:ln>
                          <a:solidFill>
                            <a:schemeClr val="tx1">
                              <a:lumMod val="75000"/>
                              <a:lumOff val="25000"/>
                            </a:schemeClr>
                          </a:solidFill>
                        </a:ln>
                        <a:effectLst/>
                        <a:latin typeface="Calibri" panose="020F0502020204030204" pitchFamily="34" charset="0"/>
                        <a:ea typeface="Calibri" panose="020F0502020204030204" pitchFamily="34" charset="0"/>
                        <a:cs typeface="Arial" panose="020B0604020202020204" pitchFamily="34" charset="0"/>
                      </a:endParaRPr>
                    </a:p>
                  </a:txBody>
                  <a:tcPr marL="65763" marR="65763" marT="0" marB="0"/>
                </a:tc>
                <a:extLst>
                  <a:ext uri="{0D108BD9-81ED-4DB2-BD59-A6C34878D82A}">
                    <a16:rowId xmlns:a16="http://schemas.microsoft.com/office/drawing/2014/main" val="945687149"/>
                  </a:ext>
                </a:extLst>
              </a:tr>
            </a:tbl>
          </a:graphicData>
        </a:graphic>
      </p:graphicFrame>
    </p:spTree>
    <p:extLst>
      <p:ext uri="{BB962C8B-B14F-4D97-AF65-F5344CB8AC3E}">
        <p14:creationId xmlns:p14="http://schemas.microsoft.com/office/powerpoint/2010/main" val="262498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D283280B-C615-2DB6-8DB0-C02BF77CA818}"/>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93712EF0-4382-5FD7-E1B7-BB71A672DB61}"/>
              </a:ext>
            </a:extLst>
          </p:cNvPr>
          <p:cNvSpPr txBox="1"/>
          <p:nvPr/>
        </p:nvSpPr>
        <p:spPr>
          <a:xfrm>
            <a:off x="7312564" y="923507"/>
            <a:ext cx="4416554" cy="663993"/>
          </a:xfrm>
          <a:prstGeom prst="rect">
            <a:avLst/>
          </a:prstGeom>
        </p:spPr>
        <p:txBody>
          <a:bodyPr anchor="t">
            <a:normAutofit fontScale="77500" lnSpcReduction="20000"/>
          </a:bodyPr>
          <a:lstStyle/>
          <a:p>
            <a:pPr marL="0" marR="0">
              <a:spcAft>
                <a:spcPts val="800"/>
              </a:spcAft>
              <a:buNone/>
            </a:pPr>
            <a:r>
              <a:rPr lang="ar-SA"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أولاً: المتطلبات الوظيفية</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مربع نص 5">
            <a:extLst>
              <a:ext uri="{FF2B5EF4-FFF2-40B4-BE49-F238E27FC236}">
                <a16:creationId xmlns:a16="http://schemas.microsoft.com/office/drawing/2014/main" id="{68795D7A-6AF6-8E74-8DB1-4CEBBD3E3544}"/>
              </a:ext>
            </a:extLst>
          </p:cNvPr>
          <p:cNvSpPr txBox="1"/>
          <p:nvPr/>
        </p:nvSpPr>
        <p:spPr>
          <a:xfrm>
            <a:off x="8166265" y="1468172"/>
            <a:ext cx="3914237" cy="5184199"/>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ar-SA" dirty="0"/>
              <a:t>تسجيل الدخول الآمن للمستخدمين</a:t>
            </a:r>
            <a:r>
              <a:rPr lang="en-US" dirty="0"/>
              <a:t> .</a:t>
            </a:r>
            <a:r>
              <a:rPr lang="ar-SA" dirty="0"/>
              <a:t>1</a:t>
            </a:r>
            <a:r>
              <a:rPr lang="en-US" dirty="0"/>
              <a:t>  </a:t>
            </a:r>
          </a:p>
          <a:p>
            <a:r>
              <a:rPr lang="ar-SA" dirty="0"/>
              <a:t>إدارة بيانات الأدوية(إضافة-تعديل-حذف):</a:t>
            </a:r>
            <a:r>
              <a:rPr lang="en-US" dirty="0"/>
              <a:t> .</a:t>
            </a:r>
            <a:r>
              <a:rPr lang="ar-SA" dirty="0"/>
              <a:t>2</a:t>
            </a:r>
            <a:endParaRPr lang="en-US" dirty="0"/>
          </a:p>
          <a:p>
            <a:r>
              <a:rPr lang="ar-SA" dirty="0"/>
              <a:t>تتبع كميات الأدوية في المخزون</a:t>
            </a:r>
            <a:r>
              <a:rPr lang="en-US" dirty="0"/>
              <a:t> .</a:t>
            </a:r>
            <a:r>
              <a:rPr lang="ar-SA" dirty="0"/>
              <a:t>3</a:t>
            </a:r>
            <a:endParaRPr lang="en-US" dirty="0"/>
          </a:p>
          <a:p>
            <a:r>
              <a:rPr lang="ar-SA" dirty="0"/>
              <a:t>تنبيهات عند وصول الأدوية للحد الأدنى</a:t>
            </a:r>
            <a:r>
              <a:rPr lang="en-US" dirty="0"/>
              <a:t> .</a:t>
            </a:r>
            <a:r>
              <a:rPr lang="ar-SA" dirty="0"/>
              <a:t>4</a:t>
            </a:r>
            <a:endParaRPr lang="en-US" dirty="0"/>
          </a:p>
          <a:p>
            <a:r>
              <a:rPr lang="ar-SA" dirty="0"/>
              <a:t>إدارة وصفات الأطباء إلكترونياً</a:t>
            </a:r>
            <a:r>
              <a:rPr lang="en-US" dirty="0"/>
              <a:t> .</a:t>
            </a:r>
            <a:r>
              <a:rPr lang="ar-SA" dirty="0"/>
              <a:t>5</a:t>
            </a:r>
          </a:p>
          <a:p>
            <a:r>
              <a:rPr lang="ar-SA" dirty="0"/>
              <a:t>إصدار فواتير البيع</a:t>
            </a:r>
            <a:r>
              <a:rPr lang="en-US" dirty="0"/>
              <a:t> .</a:t>
            </a:r>
            <a:r>
              <a:rPr lang="ar-SA" dirty="0"/>
              <a:t>6</a:t>
            </a:r>
            <a:endParaRPr lang="en-US" dirty="0"/>
          </a:p>
          <a:p>
            <a:r>
              <a:rPr lang="ar-SA" dirty="0"/>
              <a:t>إدارة بيانات العملاء</a:t>
            </a:r>
            <a:r>
              <a:rPr lang="en-US" dirty="0"/>
              <a:t> .</a:t>
            </a:r>
            <a:r>
              <a:rPr lang="ar-SA" dirty="0"/>
              <a:t>7</a:t>
            </a:r>
          </a:p>
          <a:p>
            <a:r>
              <a:rPr lang="ar-SA" dirty="0"/>
              <a:t>تتبع تاريخ صلاحية الأدوية</a:t>
            </a:r>
            <a:r>
              <a:rPr lang="en-US" dirty="0"/>
              <a:t> .</a:t>
            </a:r>
            <a:r>
              <a:rPr lang="ar-SA" dirty="0"/>
              <a:t>8</a:t>
            </a:r>
            <a:endParaRPr lang="en-US" dirty="0"/>
          </a:p>
          <a:p>
            <a:endParaRPr lang="en-US" dirty="0"/>
          </a:p>
        </p:txBody>
      </p:sp>
      <p:sp>
        <p:nvSpPr>
          <p:cNvPr id="2" name="مربع نص 1">
            <a:extLst>
              <a:ext uri="{FF2B5EF4-FFF2-40B4-BE49-F238E27FC236}">
                <a16:creationId xmlns:a16="http://schemas.microsoft.com/office/drawing/2014/main" id="{958EE33D-D22A-8889-4F9B-A1AC2498500A}"/>
              </a:ext>
            </a:extLst>
          </p:cNvPr>
          <p:cNvSpPr txBox="1"/>
          <p:nvPr/>
        </p:nvSpPr>
        <p:spPr>
          <a:xfrm>
            <a:off x="111498" y="1468172"/>
            <a:ext cx="3914236" cy="5184199"/>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rtl="0">
              <a:lnSpc>
                <a:spcPct val="220000"/>
              </a:lnSpc>
              <a:defRPr sz="1600" b="1"/>
            </a:lvl1pPr>
          </a:lstStyle>
          <a:p>
            <a:pPr>
              <a:lnSpc>
                <a:spcPct val="200000"/>
              </a:lnSpc>
            </a:pPr>
            <a:r>
              <a:rPr lang="ar-SA" sz="1800" dirty="0"/>
              <a:t>نظام بحث سريع عن الأدوية</a:t>
            </a:r>
            <a:r>
              <a:rPr lang="en-US" sz="1800" dirty="0"/>
              <a:t> .</a:t>
            </a:r>
            <a:r>
              <a:rPr lang="ar-SA" sz="1800" dirty="0"/>
              <a:t>17</a:t>
            </a:r>
            <a:endParaRPr lang="en-US" sz="1800" dirty="0"/>
          </a:p>
          <a:p>
            <a:pPr>
              <a:lnSpc>
                <a:spcPct val="200000"/>
              </a:lnSpc>
            </a:pPr>
            <a:r>
              <a:rPr lang="ar-SA" sz="1800" dirty="0"/>
              <a:t>إشعارات للأدوية البديلة</a:t>
            </a:r>
            <a:r>
              <a:rPr lang="en-US" sz="1800" dirty="0"/>
              <a:t> .</a:t>
            </a:r>
            <a:r>
              <a:rPr lang="ar-SA" sz="1800" dirty="0"/>
              <a:t>18</a:t>
            </a:r>
            <a:endParaRPr lang="en-US" sz="1800" dirty="0"/>
          </a:p>
          <a:p>
            <a:pPr>
              <a:lnSpc>
                <a:spcPct val="200000"/>
              </a:lnSpc>
            </a:pPr>
            <a:r>
              <a:rPr lang="ar-SA" sz="1800" dirty="0"/>
              <a:t>دعم الطباعة (فواتير، تقارير):</a:t>
            </a:r>
            <a:r>
              <a:rPr lang="en-US" sz="1800" dirty="0"/>
              <a:t> .19</a:t>
            </a:r>
          </a:p>
          <a:p>
            <a:pPr>
              <a:lnSpc>
                <a:spcPct val="200000"/>
              </a:lnSpc>
            </a:pPr>
            <a:r>
              <a:rPr lang="ar-SA" sz="1800" dirty="0"/>
              <a:t>قابلية التوسع لعدد كبير من المنتجات</a:t>
            </a:r>
            <a:r>
              <a:rPr lang="en-US" sz="1800" dirty="0"/>
              <a:t> .20</a:t>
            </a:r>
          </a:p>
          <a:p>
            <a:pPr>
              <a:lnSpc>
                <a:spcPct val="200000"/>
              </a:lnSpc>
            </a:pPr>
            <a:r>
              <a:rPr lang="ar-SA" sz="1800" dirty="0"/>
              <a:t>تسجيل الحركة المالية</a:t>
            </a:r>
            <a:r>
              <a:rPr lang="en-US" sz="1800" dirty="0"/>
              <a:t> .21</a:t>
            </a:r>
          </a:p>
          <a:p>
            <a:pPr>
              <a:lnSpc>
                <a:spcPct val="200000"/>
              </a:lnSpc>
            </a:pPr>
            <a:r>
              <a:rPr lang="ar-SA" sz="1800" dirty="0"/>
              <a:t>إدارة الفروع المتعددة للصيدلية </a:t>
            </a:r>
            <a:r>
              <a:rPr lang="en-US" sz="1800" dirty="0"/>
              <a:t> .22</a:t>
            </a:r>
          </a:p>
          <a:p>
            <a:pPr>
              <a:lnSpc>
                <a:spcPct val="200000"/>
              </a:lnSpc>
            </a:pPr>
            <a:r>
              <a:rPr lang="ar-SA" sz="1800" dirty="0"/>
              <a:t>نظام نقاط أو ولاء للعملاء</a:t>
            </a:r>
            <a:r>
              <a:rPr lang="en-US" sz="1800" dirty="0"/>
              <a:t> .23</a:t>
            </a:r>
          </a:p>
          <a:p>
            <a:pPr>
              <a:lnSpc>
                <a:spcPct val="200000"/>
              </a:lnSpc>
            </a:pPr>
            <a:r>
              <a:rPr lang="ar-SA" sz="1800" dirty="0"/>
              <a:t>لوحة تحكم رئيسية مع إحصائيات فورية</a:t>
            </a:r>
            <a:r>
              <a:rPr lang="en-US" sz="1800" dirty="0"/>
              <a:t> .24</a:t>
            </a:r>
          </a:p>
          <a:p>
            <a:pPr>
              <a:lnSpc>
                <a:spcPct val="200000"/>
              </a:lnSpc>
            </a:pPr>
            <a:r>
              <a:rPr lang="ar-SA" sz="1800" dirty="0"/>
              <a:t>25.إمكانية العمل على جميع الأجهزة</a:t>
            </a:r>
          </a:p>
        </p:txBody>
      </p:sp>
      <p:sp>
        <p:nvSpPr>
          <p:cNvPr id="5" name="مربع نص 4">
            <a:extLst>
              <a:ext uri="{FF2B5EF4-FFF2-40B4-BE49-F238E27FC236}">
                <a16:creationId xmlns:a16="http://schemas.microsoft.com/office/drawing/2014/main" id="{DDFEEFD7-C03C-E3E0-5200-32F481A2F452}"/>
              </a:ext>
            </a:extLst>
          </p:cNvPr>
          <p:cNvSpPr txBox="1"/>
          <p:nvPr/>
        </p:nvSpPr>
        <p:spPr>
          <a:xfrm>
            <a:off x="4138881" y="1468172"/>
            <a:ext cx="3914237" cy="5184199"/>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ar-SA" dirty="0"/>
              <a:t>إدارة الموردين وأوامر الشراء</a:t>
            </a:r>
            <a:r>
              <a:rPr lang="en-US" dirty="0"/>
              <a:t> .</a:t>
            </a:r>
            <a:r>
              <a:rPr lang="ar-SA" dirty="0"/>
              <a:t>9</a:t>
            </a:r>
            <a:endParaRPr lang="en-US" dirty="0"/>
          </a:p>
          <a:p>
            <a:r>
              <a:rPr lang="ar-SA" dirty="0"/>
              <a:t>تقارير المبيعات والإيرادات</a:t>
            </a:r>
            <a:r>
              <a:rPr lang="en-US" dirty="0"/>
              <a:t> .</a:t>
            </a:r>
            <a:r>
              <a:rPr lang="ar-SA" dirty="0"/>
              <a:t>10</a:t>
            </a:r>
            <a:endParaRPr lang="en-US" dirty="0"/>
          </a:p>
          <a:p>
            <a:r>
              <a:rPr lang="ar-SA" dirty="0"/>
              <a:t>دعم الباركود للمنتجات</a:t>
            </a:r>
            <a:r>
              <a:rPr lang="en-US" dirty="0"/>
              <a:t> .</a:t>
            </a:r>
            <a:r>
              <a:rPr lang="ar-SA" dirty="0"/>
              <a:t>11</a:t>
            </a:r>
            <a:endParaRPr lang="en-US" dirty="0"/>
          </a:p>
          <a:p>
            <a:r>
              <a:rPr lang="ar-SA" dirty="0"/>
              <a:t>إدارة العروض والتخفيضات</a:t>
            </a:r>
            <a:r>
              <a:rPr lang="en-US" dirty="0"/>
              <a:t> .</a:t>
            </a:r>
            <a:r>
              <a:rPr lang="ar-SA" dirty="0"/>
              <a:t>12</a:t>
            </a:r>
          </a:p>
          <a:p>
            <a:r>
              <a:rPr lang="ar-SA" dirty="0"/>
              <a:t>نسخ احتياطي تلقائي للبيانات</a:t>
            </a:r>
            <a:r>
              <a:rPr lang="en-US" dirty="0"/>
              <a:t> .</a:t>
            </a:r>
            <a:r>
              <a:rPr lang="ar-SA" dirty="0"/>
              <a:t>13</a:t>
            </a:r>
          </a:p>
          <a:p>
            <a:r>
              <a:rPr lang="ar-SA" dirty="0"/>
              <a:t>واجهة مستخدم بسيطة وبديهية</a:t>
            </a:r>
            <a:r>
              <a:rPr lang="en-US" dirty="0"/>
              <a:t> .</a:t>
            </a:r>
            <a:r>
              <a:rPr lang="ar-SA" dirty="0"/>
              <a:t>14</a:t>
            </a:r>
            <a:endParaRPr lang="en-US" dirty="0"/>
          </a:p>
          <a:p>
            <a:r>
              <a:rPr lang="ar-SA" dirty="0"/>
              <a:t>دعم تعدد المستخدمين </a:t>
            </a:r>
            <a:r>
              <a:rPr lang="en-US" dirty="0"/>
              <a:t> .</a:t>
            </a:r>
            <a:r>
              <a:rPr lang="ar-SA" dirty="0"/>
              <a:t>15</a:t>
            </a:r>
            <a:endParaRPr lang="en-US" dirty="0"/>
          </a:p>
          <a:p>
            <a:r>
              <a:rPr lang="ar-SA" dirty="0"/>
              <a:t>التكامل مع أنظمة التأمين الصحي</a:t>
            </a:r>
            <a:r>
              <a:rPr lang="en-US" dirty="0"/>
              <a:t> .</a:t>
            </a:r>
            <a:r>
              <a:rPr lang="ar-SA" dirty="0"/>
              <a:t>16</a:t>
            </a:r>
            <a:endParaRPr lang="en-US" dirty="0"/>
          </a:p>
          <a:p>
            <a:endParaRPr lang="ar-SA" dirty="0"/>
          </a:p>
        </p:txBody>
      </p:sp>
      <p:sp>
        <p:nvSpPr>
          <p:cNvPr id="7" name="مربع نص 6">
            <a:extLst>
              <a:ext uri="{FF2B5EF4-FFF2-40B4-BE49-F238E27FC236}">
                <a16:creationId xmlns:a16="http://schemas.microsoft.com/office/drawing/2014/main" id="{757DBB51-695F-1FA7-CF20-34375BA615FC}"/>
              </a:ext>
            </a:extLst>
          </p:cNvPr>
          <p:cNvSpPr txBox="1"/>
          <p:nvPr/>
        </p:nvSpPr>
        <p:spPr>
          <a:xfrm>
            <a:off x="2761680" y="52840"/>
            <a:ext cx="6482521" cy="762000"/>
          </a:xfrm>
          <a:prstGeom prst="rect">
            <a:avLst/>
          </a:prstGeom>
        </p:spPr>
        <p:txBody>
          <a:bodyPr anchor="t">
            <a:normAutofit/>
          </a:bodyPr>
          <a:lstStyle/>
          <a:p>
            <a:pPr>
              <a:spcAft>
                <a:spcPts val="800"/>
              </a:spcAft>
            </a:pPr>
            <a:r>
              <a:rPr lang="ar-SA" sz="4400" b="1" dirty="0"/>
              <a:t>المتطلبات العامة وميزات النظام </a:t>
            </a:r>
            <a:endParaRPr lang="en-US" sz="115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122705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6E791CC0-7C67-D051-AF33-F46B032312B9}"/>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8528D850-86E7-7E8C-8F3E-EEBC2A5A9201}"/>
              </a:ext>
            </a:extLst>
          </p:cNvPr>
          <p:cNvSpPr txBox="1"/>
          <p:nvPr/>
        </p:nvSpPr>
        <p:spPr>
          <a:xfrm>
            <a:off x="7312564" y="923507"/>
            <a:ext cx="4416554" cy="663993"/>
          </a:xfrm>
          <a:prstGeom prst="rect">
            <a:avLst/>
          </a:prstGeom>
        </p:spPr>
        <p:txBody>
          <a:bodyPr anchor="t">
            <a:normAutofit fontScale="62500" lnSpcReduction="20000"/>
          </a:bodyPr>
          <a:lstStyle/>
          <a:p>
            <a:pPr marL="0" marR="0">
              <a:spcAft>
                <a:spcPts val="800"/>
              </a:spcAft>
              <a:buNone/>
            </a:pPr>
            <a:r>
              <a:rPr lang="ar-SA" sz="54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ثاني</a:t>
            </a:r>
            <a:r>
              <a:rPr lang="ar-SA"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اً: المتطلبات غير الوظيفية</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مربع نص 5">
            <a:extLst>
              <a:ext uri="{FF2B5EF4-FFF2-40B4-BE49-F238E27FC236}">
                <a16:creationId xmlns:a16="http://schemas.microsoft.com/office/drawing/2014/main" id="{1D13B82B-DB79-41C4-DBDE-197CF7CE033E}"/>
              </a:ext>
            </a:extLst>
          </p:cNvPr>
          <p:cNvSpPr txBox="1"/>
          <p:nvPr/>
        </p:nvSpPr>
        <p:spPr>
          <a:xfrm>
            <a:off x="3797300" y="1397000"/>
            <a:ext cx="5058973" cy="540816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800100" lvl="1" indent="-342900">
              <a:lnSpc>
                <a:spcPct val="150000"/>
              </a:lnSpc>
              <a:buFont typeface="Arial" panose="020B0604020202020204" pitchFamily="34" charset="0"/>
              <a:buChar char="•"/>
            </a:pPr>
            <a:r>
              <a:rPr lang="ar-SA" sz="3600" b="1" dirty="0"/>
              <a:t>الأمان والخصوصية.</a:t>
            </a:r>
            <a:endParaRPr lang="en-US" sz="3600" b="1" dirty="0"/>
          </a:p>
          <a:p>
            <a:pPr marL="800100" lvl="1" indent="-342900">
              <a:lnSpc>
                <a:spcPct val="150000"/>
              </a:lnSpc>
              <a:buFont typeface="Arial" panose="020B0604020202020204" pitchFamily="34" charset="0"/>
              <a:buChar char="•"/>
            </a:pPr>
            <a:r>
              <a:rPr lang="ar-SA" sz="3600" b="1" dirty="0"/>
              <a:t>سهولة الاستخدام.</a:t>
            </a:r>
            <a:endParaRPr lang="en-US" sz="3600" b="1" dirty="0"/>
          </a:p>
          <a:p>
            <a:pPr marL="800100" lvl="1" indent="-342900">
              <a:lnSpc>
                <a:spcPct val="150000"/>
              </a:lnSpc>
              <a:buFont typeface="Arial" panose="020B0604020202020204" pitchFamily="34" charset="0"/>
              <a:buChar char="•"/>
            </a:pPr>
            <a:r>
              <a:rPr lang="ar-SA" sz="3200" b="1" dirty="0"/>
              <a:t>الأداء والاستجابة.</a:t>
            </a:r>
            <a:endParaRPr lang="en-US" sz="3200" b="1" dirty="0"/>
          </a:p>
          <a:p>
            <a:pPr marL="800100" lvl="1" indent="-342900">
              <a:lnSpc>
                <a:spcPct val="150000"/>
              </a:lnSpc>
              <a:buFont typeface="Arial" panose="020B0604020202020204" pitchFamily="34" charset="0"/>
              <a:buChar char="•"/>
            </a:pPr>
            <a:r>
              <a:rPr lang="ar-SA" sz="3200" b="1" dirty="0"/>
              <a:t>قابلية التوسع</a:t>
            </a:r>
            <a:r>
              <a:rPr lang="en-US" sz="3200" b="1" dirty="0"/>
              <a:t>.</a:t>
            </a:r>
          </a:p>
          <a:p>
            <a:pPr marL="800100" lvl="1" indent="-342900">
              <a:lnSpc>
                <a:spcPct val="150000"/>
              </a:lnSpc>
              <a:buFont typeface="Arial" panose="020B0604020202020204" pitchFamily="34" charset="0"/>
              <a:buChar char="•"/>
            </a:pPr>
            <a:r>
              <a:rPr lang="ar-SA" sz="3200" b="1" dirty="0"/>
              <a:t>تأثير على الأداء</a:t>
            </a:r>
            <a:r>
              <a:rPr lang="en-US" sz="3200" b="1" dirty="0"/>
              <a:t>.</a:t>
            </a:r>
          </a:p>
          <a:p>
            <a:pPr marL="800100" lvl="1" indent="-342900">
              <a:lnSpc>
                <a:spcPct val="150000"/>
              </a:lnSpc>
              <a:buFont typeface="Arial" panose="020B0604020202020204" pitchFamily="34" charset="0"/>
              <a:buChar char="•"/>
            </a:pPr>
            <a:r>
              <a:rPr lang="ar-SA" sz="3200" b="1" dirty="0"/>
              <a:t>التوافق والوصول.</a:t>
            </a:r>
            <a:endParaRPr lang="en-US" sz="3200" b="1" dirty="0"/>
          </a:p>
          <a:p>
            <a:pPr marL="800100" lvl="1" indent="-342900">
              <a:lnSpc>
                <a:spcPct val="150000"/>
              </a:lnSpc>
              <a:buFont typeface="Arial" panose="020B0604020202020204" pitchFamily="34" charset="0"/>
              <a:buChar char="•"/>
            </a:pPr>
            <a:r>
              <a:rPr lang="ar-SA" sz="3200" b="1" dirty="0"/>
              <a:t>النسخ الاحتياطي والدعم.</a:t>
            </a:r>
            <a:endParaRPr lang="en-US" sz="3200" b="1" dirty="0"/>
          </a:p>
          <a:p>
            <a:endParaRPr lang="en-US" dirty="0"/>
          </a:p>
        </p:txBody>
      </p:sp>
      <p:sp>
        <p:nvSpPr>
          <p:cNvPr id="7" name="مربع نص 6">
            <a:extLst>
              <a:ext uri="{FF2B5EF4-FFF2-40B4-BE49-F238E27FC236}">
                <a16:creationId xmlns:a16="http://schemas.microsoft.com/office/drawing/2014/main" id="{01554D38-1D39-87FE-263E-B2FE21876DBF}"/>
              </a:ext>
            </a:extLst>
          </p:cNvPr>
          <p:cNvSpPr txBox="1"/>
          <p:nvPr/>
        </p:nvSpPr>
        <p:spPr>
          <a:xfrm>
            <a:off x="2761680" y="52840"/>
            <a:ext cx="6482521" cy="762000"/>
          </a:xfrm>
          <a:prstGeom prst="rect">
            <a:avLst/>
          </a:prstGeom>
        </p:spPr>
        <p:txBody>
          <a:bodyPr anchor="t">
            <a:normAutofit/>
          </a:bodyPr>
          <a:lstStyle/>
          <a:p>
            <a:pPr>
              <a:spcAft>
                <a:spcPts val="800"/>
              </a:spcAft>
            </a:pPr>
            <a:r>
              <a:rPr lang="ar-SA" sz="4400" b="1" dirty="0"/>
              <a:t>المتطلبات العامة وميزات النظام </a:t>
            </a:r>
            <a:endParaRPr lang="en-US" sz="115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9003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B5274A02-F72C-0F3B-8848-471B0F32C981}"/>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11D1DC3A-8930-B75B-F532-D9AEB9CEDE77}"/>
              </a:ext>
            </a:extLst>
          </p:cNvPr>
          <p:cNvSpPr txBox="1"/>
          <p:nvPr/>
        </p:nvSpPr>
        <p:spPr>
          <a:xfrm>
            <a:off x="3649927" y="52840"/>
            <a:ext cx="5353718" cy="1095793"/>
          </a:xfrm>
          <a:prstGeom prst="rect">
            <a:avLst/>
          </a:prstGeom>
        </p:spPr>
        <p:txBody>
          <a:bodyPr anchor="t">
            <a:normAutofit fontScale="92500"/>
          </a:bodyPr>
          <a:lstStyle/>
          <a:p>
            <a:pPr marL="0" marR="0">
              <a:spcAft>
                <a:spcPts val="800"/>
              </a:spcAft>
              <a:buNone/>
            </a:pPr>
            <a:r>
              <a:rPr lang="ar-SA"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rPr>
              <a:t>جدول توصيف المتطلبات</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2" name="جدول 1">
            <a:extLst>
              <a:ext uri="{FF2B5EF4-FFF2-40B4-BE49-F238E27FC236}">
                <a16:creationId xmlns:a16="http://schemas.microsoft.com/office/drawing/2014/main" id="{27280E5F-E579-334C-5C09-BEC85A274BE1}"/>
              </a:ext>
            </a:extLst>
          </p:cNvPr>
          <p:cNvGraphicFramePr>
            <a:graphicFrameLocks noGrp="1"/>
          </p:cNvGraphicFramePr>
          <p:nvPr>
            <p:extLst>
              <p:ext uri="{D42A27DB-BD31-4B8C-83A1-F6EECF244321}">
                <p14:modId xmlns:p14="http://schemas.microsoft.com/office/powerpoint/2010/main" val="1807049553"/>
              </p:ext>
            </p:extLst>
          </p:nvPr>
        </p:nvGraphicFramePr>
        <p:xfrm>
          <a:off x="541972" y="600736"/>
          <a:ext cx="11108056" cy="5647345"/>
        </p:xfrm>
        <a:graphic>
          <a:graphicData uri="http://schemas.openxmlformats.org/drawingml/2006/table">
            <a:tbl>
              <a:tblPr rtl="1" firstRow="1" firstCol="1" bandRow="1">
                <a:tableStyleId>{0E3FDE45-AF77-4B5C-9715-49D594BDF05E}</a:tableStyleId>
              </a:tblPr>
              <a:tblGrid>
                <a:gridCol w="5554028">
                  <a:extLst>
                    <a:ext uri="{9D8B030D-6E8A-4147-A177-3AD203B41FA5}">
                      <a16:colId xmlns:a16="http://schemas.microsoft.com/office/drawing/2014/main" val="128494281"/>
                    </a:ext>
                  </a:extLst>
                </a:gridCol>
                <a:gridCol w="5554028">
                  <a:extLst>
                    <a:ext uri="{9D8B030D-6E8A-4147-A177-3AD203B41FA5}">
                      <a16:colId xmlns:a16="http://schemas.microsoft.com/office/drawing/2014/main" val="3650127412"/>
                    </a:ext>
                  </a:extLst>
                </a:gridCol>
              </a:tblGrid>
              <a:tr h="825500">
                <a:tc>
                  <a:txBody>
                    <a:bodyPr/>
                    <a:lstStyle/>
                    <a:p>
                      <a:pPr marL="90805" marR="59055" algn="r" defTabSz="914400" rtl="1" eaLnBrk="1" latinLnBrk="0" hangingPunct="1">
                        <a:lnSpc>
                          <a:spcPct val="150000"/>
                        </a:lnSpc>
                        <a:spcAft>
                          <a:spcPts val="800"/>
                        </a:spcAft>
                        <a:buNone/>
                      </a:pPr>
                      <a:r>
                        <a:rPr lang="ar-SA" sz="3200" b="1" kern="1200" dirty="0">
                          <a:solidFill>
                            <a:schemeClr val="dk1"/>
                          </a:solidFill>
                          <a:effectLst/>
                          <a:latin typeface="+mn-lt"/>
                          <a:ea typeface="+mn-ea"/>
                          <a:cs typeface="+mn-cs"/>
                        </a:rPr>
                        <a:t>اسم المتطلب</a:t>
                      </a:r>
                      <a:endParaRPr lang="en-US" sz="3200" b="1" kern="1200" dirty="0">
                        <a:solidFill>
                          <a:schemeClr val="dk1"/>
                        </a:solidFill>
                        <a:effectLst/>
                        <a:latin typeface="+mn-lt"/>
                        <a:ea typeface="+mn-ea"/>
                        <a:cs typeface="+mn-cs"/>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0805" marR="59055" algn="r" defTabSz="914400" rtl="1" eaLnBrk="1" latinLnBrk="0" hangingPunct="1">
                        <a:lnSpc>
                          <a:spcPct val="150000"/>
                        </a:lnSpc>
                        <a:spcAft>
                          <a:spcPts val="800"/>
                        </a:spcAft>
                        <a:buNone/>
                      </a:pPr>
                      <a:r>
                        <a:rPr lang="en-US" sz="3200" b="1" kern="1200" dirty="0">
                          <a:solidFill>
                            <a:schemeClr val="dk1"/>
                          </a:solidFill>
                          <a:effectLst/>
                          <a:latin typeface="+mn-lt"/>
                          <a:ea typeface="+mn-ea"/>
                          <a:cs typeface="+mn-cs"/>
                        </a:rPr>
                        <a:t>ID</a:t>
                      </a:r>
                    </a:p>
                  </a:txBody>
                  <a:tcPr marL="68580" marR="68580" marT="0" marB="0">
                    <a:lnL w="12700" cap="flat" cmpd="sng" algn="ctr">
                      <a:noFill/>
                      <a:prstDash val="solid"/>
                      <a:round/>
                      <a:headEnd type="none" w="med" len="med"/>
                      <a:tailEnd type="none" w="med" len="med"/>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4811857"/>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تسجيل الدخول الى النظام</a:t>
                      </a:r>
                      <a:endParaRPr lang="en-US" sz="2000" b="1" kern="1200" dirty="0">
                        <a:solidFill>
                          <a:schemeClr val="dk1"/>
                        </a:solidFill>
                        <a:effectLst/>
                        <a:latin typeface="+mn-lt"/>
                        <a:ea typeface="+mn-ea"/>
                        <a:cs typeface="+mn-cs"/>
                      </a:endParaRPr>
                    </a:p>
                  </a:txBody>
                  <a:tcPr marL="68580" marR="68580" marT="0" marB="0">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C2A33E">
                        <a:alpha val="20000"/>
                      </a:srgbClr>
                    </a:solidFill>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01</a:t>
                      </a:r>
                      <a:endParaRPr lang="en-US" sz="2000" b="1" kern="1200" dirty="0">
                        <a:solidFill>
                          <a:schemeClr val="dk1"/>
                        </a:solidFill>
                        <a:effectLst/>
                        <a:latin typeface="+mn-lt"/>
                        <a:ea typeface="+mn-ea"/>
                        <a:cs typeface="+mn-cs"/>
                      </a:endParaRPr>
                    </a:p>
                  </a:txBody>
                  <a:tcPr marL="68580" marR="68580" marT="0" marB="0">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C2A33E">
                        <a:alpha val="20000"/>
                      </a:srgbClr>
                    </a:solidFill>
                  </a:tcPr>
                </a:tc>
                <a:extLst>
                  <a:ext uri="{0D108BD9-81ED-4DB2-BD59-A6C34878D82A}">
                    <a16:rowId xmlns:a16="http://schemas.microsoft.com/office/drawing/2014/main" val="1831216822"/>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إدارة نقاط البيع</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02</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84524117"/>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تتبع المخزون في الوقت الحقيقي</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03</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extLst>
                  <a:ext uri="{0D108BD9-81ED-4DB2-BD59-A6C34878D82A}">
                    <a16:rowId xmlns:a16="http://schemas.microsoft.com/office/drawing/2014/main" val="1735850528"/>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إدارة تواريخ الصلاحية والتنبيهات</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04</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548474210"/>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إدارة فواتير الشراء والموردين</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05</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extLst>
                  <a:ext uri="{0D108BD9-81ED-4DB2-BD59-A6C34878D82A}">
                    <a16:rowId xmlns:a16="http://schemas.microsoft.com/office/drawing/2014/main" val="3474690618"/>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تسجيل الوصفات الطبية </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06</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10387471"/>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إدارة حسابات العملاء الآجلة</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07</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extLst>
                  <a:ext uri="{0D108BD9-81ED-4DB2-BD59-A6C34878D82A}">
                    <a16:rowId xmlns:a16="http://schemas.microsoft.com/office/drawing/2014/main" val="268410448"/>
                  </a:ext>
                </a:extLst>
              </a:tr>
              <a:tr h="489843">
                <a:tc>
                  <a:txBody>
                    <a:bodyPr/>
                    <a:lstStyle/>
                    <a:p>
                      <a:pPr marL="90805" marR="59055" indent="0" algn="r" defTabSz="914400" rtl="1" eaLnBrk="1" latinLnBrk="0" hangingPunct="1">
                        <a:lnSpc>
                          <a:spcPct val="150000"/>
                        </a:lnSpc>
                        <a:spcAft>
                          <a:spcPts val="800"/>
                        </a:spcAft>
                        <a:buFontTx/>
                        <a:buNone/>
                      </a:pPr>
                      <a:r>
                        <a:rPr lang="ar-SA" sz="2000" b="1" kern="1200">
                          <a:solidFill>
                            <a:schemeClr val="dk1"/>
                          </a:solidFill>
                          <a:effectLst/>
                          <a:latin typeface="+mn-lt"/>
                          <a:ea typeface="+mn-ea"/>
                          <a:cs typeface="+mn-cs"/>
                        </a:rPr>
                        <a:t>توليد التقارير المالية</a:t>
                      </a:r>
                      <a:endParaRPr lang="en-US" sz="2000" b="1" kern="120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08</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165847120"/>
                  </a:ext>
                </a:extLst>
              </a:tr>
              <a:tr h="489843">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البحث الذكي عن الادوية البديلة</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a:t>
                      </a:r>
                      <a:r>
                        <a:rPr lang="ar-SA" sz="2000" b="1" kern="1200" dirty="0">
                          <a:solidFill>
                            <a:schemeClr val="dk1"/>
                          </a:solidFill>
                          <a:effectLst/>
                          <a:latin typeface="+mn-lt"/>
                          <a:ea typeface="+mn-ea"/>
                          <a:cs typeface="+mn-cs"/>
                        </a:rPr>
                        <a:t>09</a:t>
                      </a:r>
                      <a:endParaRPr lang="en-US" sz="2000" b="1" kern="1200" dirty="0">
                        <a:solidFill>
                          <a:schemeClr val="dk1"/>
                        </a:solidFill>
                        <a:effectLst/>
                        <a:latin typeface="+mn-lt"/>
                        <a:ea typeface="+mn-ea"/>
                        <a:cs typeface="+mn-cs"/>
                      </a:endParaRPr>
                    </a:p>
                  </a:txBody>
                  <a:tcPr marL="68580" marR="68580" marT="0" marB="0">
                    <a:lnL>
                      <a:noFill/>
                    </a:lnL>
                    <a:lnR>
                      <a:noFill/>
                    </a:lnR>
                    <a:lnT>
                      <a:noFill/>
                    </a:lnT>
                    <a:lnB>
                      <a:noFill/>
                    </a:lnB>
                    <a:lnTlToBr w="12700" cmpd="sng">
                      <a:noFill/>
                      <a:prstDash val="solid"/>
                    </a:lnTlToBr>
                    <a:lnBlToTr w="12700" cmpd="sng">
                      <a:noFill/>
                      <a:prstDash val="solid"/>
                    </a:lnBlToTr>
                    <a:solidFill>
                      <a:srgbClr val="C2A33E">
                        <a:alpha val="20000"/>
                      </a:srgbClr>
                    </a:solidFill>
                  </a:tcPr>
                </a:tc>
                <a:extLst>
                  <a:ext uri="{0D108BD9-81ED-4DB2-BD59-A6C34878D82A}">
                    <a16:rowId xmlns:a16="http://schemas.microsoft.com/office/drawing/2014/main" val="3436066255"/>
                  </a:ext>
                </a:extLst>
              </a:tr>
              <a:tr h="362777">
                <a:tc>
                  <a:txBody>
                    <a:bodyPr/>
                    <a:lstStyle/>
                    <a:p>
                      <a:pPr marL="90805" marR="59055" indent="0" algn="r" defTabSz="914400" rtl="1" eaLnBrk="1" latinLnBrk="0" hangingPunct="1">
                        <a:lnSpc>
                          <a:spcPct val="150000"/>
                        </a:lnSpc>
                        <a:spcAft>
                          <a:spcPts val="800"/>
                        </a:spcAft>
                        <a:buFontTx/>
                        <a:buNone/>
                      </a:pPr>
                      <a:r>
                        <a:rPr lang="ar-SA" sz="2000" b="1" kern="1200" dirty="0">
                          <a:solidFill>
                            <a:schemeClr val="dk1"/>
                          </a:solidFill>
                          <a:effectLst/>
                          <a:latin typeface="+mn-lt"/>
                          <a:ea typeface="+mn-ea"/>
                          <a:cs typeface="+mn-cs"/>
                        </a:rPr>
                        <a:t>إدارة الأصناف والأدوية </a:t>
                      </a:r>
                      <a:endParaRPr lang="en-US" sz="2000" b="1" kern="1200" dirty="0">
                        <a:solidFill>
                          <a:schemeClr val="dk1"/>
                        </a:solidFill>
                        <a:effectLst/>
                        <a:latin typeface="+mn-lt"/>
                        <a:ea typeface="+mn-ea"/>
                        <a:cs typeface="+mn-cs"/>
                      </a:endParaRPr>
                    </a:p>
                  </a:txBody>
                  <a:tcPr marL="68580" marR="68580" marT="0" marB="0">
                    <a:lnL>
                      <a:noFill/>
                    </a:lnL>
                    <a:lnR>
                      <a:noFill/>
                    </a:lnR>
                    <a:lnT>
                      <a:noFill/>
                    </a:lnT>
                    <a:lnB w="12700" cmpd="sng">
                      <a:noFill/>
                    </a:lnB>
                    <a:lnTlToBr w="12700" cmpd="sng">
                      <a:noFill/>
                      <a:prstDash val="solid"/>
                    </a:lnTlToBr>
                    <a:lnBlToTr w="12700" cmpd="sng">
                      <a:noFill/>
                      <a:prstDash val="solid"/>
                    </a:lnBlToTr>
                  </a:tcPr>
                </a:tc>
                <a:tc>
                  <a:txBody>
                    <a:bodyPr/>
                    <a:lstStyle/>
                    <a:p>
                      <a:pPr marL="90805" marR="59055" algn="r" defTabSz="914400" rtl="1" eaLnBrk="1" latinLnBrk="0" hangingPunct="1">
                        <a:lnSpc>
                          <a:spcPct val="150000"/>
                        </a:lnSpc>
                        <a:spcAft>
                          <a:spcPts val="800"/>
                        </a:spcAft>
                        <a:buNone/>
                      </a:pPr>
                      <a:r>
                        <a:rPr lang="en-US" sz="2000" b="1" kern="1200" dirty="0">
                          <a:solidFill>
                            <a:schemeClr val="dk1"/>
                          </a:solidFill>
                          <a:effectLst/>
                          <a:latin typeface="+mn-lt"/>
                          <a:ea typeface="+mn-ea"/>
                          <a:cs typeface="+mn-cs"/>
                        </a:rPr>
                        <a:t>UC-010</a:t>
                      </a:r>
                    </a:p>
                  </a:txBody>
                  <a:tcPr marL="68580" marR="68580" marT="0" marB="0">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3213541"/>
                  </a:ext>
                </a:extLst>
              </a:tr>
            </a:tbl>
          </a:graphicData>
        </a:graphic>
      </p:graphicFrame>
    </p:spTree>
    <p:extLst>
      <p:ext uri="{BB962C8B-B14F-4D97-AF65-F5344CB8AC3E}">
        <p14:creationId xmlns:p14="http://schemas.microsoft.com/office/powerpoint/2010/main" val="2352145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67FE02F2-3BAA-D710-053E-338F0E78E777}"/>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6A639380-8B22-A534-0A34-AA2F2C03CF21}"/>
              </a:ext>
            </a:extLst>
          </p:cNvPr>
          <p:cNvSpPr txBox="1"/>
          <p:nvPr/>
        </p:nvSpPr>
        <p:spPr>
          <a:xfrm>
            <a:off x="142875" y="467696"/>
            <a:ext cx="12096750" cy="977900"/>
          </a:xfrm>
          <a:prstGeom prst="rect">
            <a:avLst/>
          </a:prstGeom>
        </p:spPr>
        <p:txBody>
          <a:bodyPr anchor="t">
            <a:normAutofit fontScale="77500" lnSpcReduction="20000"/>
          </a:bodyPr>
          <a:lstStyle/>
          <a:p>
            <a:pPr>
              <a:spcAft>
                <a:spcPts val="800"/>
              </a:spcAft>
            </a:pPr>
            <a:r>
              <a:rPr lang="ar-SA" sz="85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المنهجية المتبعة: </a:t>
            </a:r>
            <a:r>
              <a:rPr lang="en-US" sz="5400" b="1" dirty="0"/>
              <a:t>Modified Waterfall Approach</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مربع نص 3">
            <a:extLst>
              <a:ext uri="{FF2B5EF4-FFF2-40B4-BE49-F238E27FC236}">
                <a16:creationId xmlns:a16="http://schemas.microsoft.com/office/drawing/2014/main" id="{9E60B9BE-816D-329A-AD55-4A74C4215D48}"/>
              </a:ext>
            </a:extLst>
          </p:cNvPr>
          <p:cNvSpPr txBox="1"/>
          <p:nvPr/>
        </p:nvSpPr>
        <p:spPr>
          <a:xfrm>
            <a:off x="95250" y="1597996"/>
            <a:ext cx="11830050" cy="4832092"/>
          </a:xfrm>
          <a:prstGeom prst="rect">
            <a:avLst/>
          </a:prstGeom>
          <a:noFill/>
        </p:spPr>
        <p:txBody>
          <a:bodyPr wrap="square" rtlCol="1">
            <a:spAutoFit/>
          </a:bodyPr>
          <a:lstStyle/>
          <a:p>
            <a:r>
              <a:rPr lang="ar-SA" sz="4000" b="1" dirty="0">
                <a:solidFill>
                  <a:srgbClr val="C2A33E"/>
                </a:solidFill>
              </a:rPr>
              <a:t>التعريف: </a:t>
            </a:r>
            <a:r>
              <a:rPr lang="ar-SA" sz="3600" dirty="0"/>
              <a:t>هو تطور طبيعي لمنهجية </a:t>
            </a:r>
            <a:r>
              <a:rPr lang="en-US" sz="3600" dirty="0"/>
              <a:t>Waterfall</a:t>
            </a:r>
            <a:r>
              <a:rPr lang="ar-SA" sz="3600" dirty="0"/>
              <a:t> التقليدية يحافظ على هيكلها المنظم لكن يضيف مرونة محدودة للتعامل مع واقع تطوير البرمجيات.</a:t>
            </a:r>
          </a:p>
          <a:p>
            <a:endParaRPr lang="ar-SA" sz="2400" b="1" dirty="0"/>
          </a:p>
          <a:p>
            <a:r>
              <a:rPr lang="ar-SA" sz="4000" b="1" dirty="0">
                <a:solidFill>
                  <a:srgbClr val="C2A33E"/>
                </a:solidFill>
              </a:rPr>
              <a:t>التعديلات الرئيسية: </a:t>
            </a:r>
            <a:r>
              <a:rPr lang="ar-SA" sz="3600" dirty="0"/>
              <a:t>تخطيط متداخل (</a:t>
            </a:r>
            <a:r>
              <a:rPr lang="en-US" sz="3600" dirty="0"/>
              <a:t>Overlapping Phases</a:t>
            </a:r>
            <a:r>
              <a:rPr lang="ar-SA" sz="3600" dirty="0"/>
              <a:t>):</a:t>
            </a:r>
            <a:endParaRPr lang="en-US" sz="3600" dirty="0"/>
          </a:p>
          <a:p>
            <a:r>
              <a:rPr lang="ar-SA" sz="3600" dirty="0"/>
              <a:t>التقليدي: [التصميم] </a:t>
            </a:r>
            <a:r>
              <a:rPr lang="en-US" sz="3600" dirty="0">
                <a:sym typeface="Wingdings" panose="05000000000000000000" pitchFamily="2" charset="2"/>
              </a:rPr>
              <a:t></a:t>
            </a:r>
            <a:r>
              <a:rPr lang="ar-SA" sz="3600" dirty="0"/>
              <a:t> [التنفيذ] </a:t>
            </a:r>
            <a:r>
              <a:rPr lang="en-US" sz="3600" dirty="0">
                <a:sym typeface="Wingdings" panose="05000000000000000000" pitchFamily="2" charset="2"/>
              </a:rPr>
              <a:t></a:t>
            </a:r>
            <a:r>
              <a:rPr lang="ar-SA" sz="3600" dirty="0"/>
              <a:t> [الاختبار]</a:t>
            </a:r>
            <a:endParaRPr lang="en-US" sz="3600" dirty="0"/>
          </a:p>
          <a:p>
            <a:r>
              <a:rPr lang="ar-SA" sz="3600" dirty="0"/>
              <a:t>المعدل: [التصميم] </a:t>
            </a:r>
            <a:r>
              <a:rPr lang="en-US" sz="3600" dirty="0">
                <a:sym typeface="Wingdings" panose="05000000000000000000" pitchFamily="2" charset="2"/>
              </a:rPr>
              <a:t></a:t>
            </a:r>
            <a:r>
              <a:rPr lang="ar-SA" sz="3600" dirty="0"/>
              <a:t> [التنفيذ] </a:t>
            </a:r>
            <a:r>
              <a:rPr lang="en-US" sz="3600" dirty="0">
                <a:sym typeface="Wingdings" panose="05000000000000000000" pitchFamily="2" charset="2"/>
              </a:rPr>
              <a:t></a:t>
            </a:r>
            <a:r>
              <a:rPr lang="ar-SA" sz="3600" dirty="0"/>
              <a:t> [الاختبار]</a:t>
            </a:r>
            <a:endParaRPr lang="en-US" sz="3600" dirty="0"/>
          </a:p>
          <a:p>
            <a:r>
              <a:rPr lang="ar-SA" sz="3600" dirty="0"/>
              <a:t>                    ↘         ↗</a:t>
            </a:r>
            <a:endParaRPr lang="en-US" sz="3600" dirty="0"/>
          </a:p>
          <a:p>
            <a:r>
              <a:rPr lang="ar-SA" sz="3600" dirty="0"/>
              <a:t>                تخطيط جزئي مسبق</a:t>
            </a:r>
            <a:endParaRPr lang="en-US" sz="3600" dirty="0"/>
          </a:p>
          <a:p>
            <a:pPr lvl="0"/>
            <a:r>
              <a:rPr lang="ar-SA" sz="2400" dirty="0"/>
              <a:t> </a:t>
            </a:r>
            <a:endParaRPr lang="ar-SA" dirty="0"/>
          </a:p>
        </p:txBody>
      </p:sp>
    </p:spTree>
    <p:extLst>
      <p:ext uri="{BB962C8B-B14F-4D97-AF65-F5344CB8AC3E}">
        <p14:creationId xmlns:p14="http://schemas.microsoft.com/office/powerpoint/2010/main" val="304229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8E7A15F2-4B16-8843-6845-DD776B2A780D}"/>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B916C723-AF6C-6F46-E4FD-180C4E797525}"/>
              </a:ext>
            </a:extLst>
          </p:cNvPr>
          <p:cNvSpPr txBox="1"/>
          <p:nvPr/>
        </p:nvSpPr>
        <p:spPr>
          <a:xfrm>
            <a:off x="142875" y="220687"/>
            <a:ext cx="12096750" cy="977900"/>
          </a:xfrm>
          <a:prstGeom prst="rect">
            <a:avLst/>
          </a:prstGeom>
        </p:spPr>
        <p:txBody>
          <a:bodyPr anchor="t">
            <a:normAutofit fontScale="77500" lnSpcReduction="20000"/>
          </a:bodyPr>
          <a:lstStyle/>
          <a:p>
            <a:pPr>
              <a:spcAft>
                <a:spcPts val="800"/>
              </a:spcAft>
            </a:pPr>
            <a:r>
              <a:rPr lang="ar-SA" sz="85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المنهجية المتبعة: </a:t>
            </a:r>
            <a:r>
              <a:rPr lang="en-US" sz="5400" b="1" dirty="0"/>
              <a:t>Modified Waterfall Approach</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مربع نص 3">
            <a:extLst>
              <a:ext uri="{FF2B5EF4-FFF2-40B4-BE49-F238E27FC236}">
                <a16:creationId xmlns:a16="http://schemas.microsoft.com/office/drawing/2014/main" id="{7D1C1DB9-F4CF-D412-AB7B-F5881B150B5D}"/>
              </a:ext>
            </a:extLst>
          </p:cNvPr>
          <p:cNvSpPr txBox="1"/>
          <p:nvPr/>
        </p:nvSpPr>
        <p:spPr>
          <a:xfrm>
            <a:off x="7292975" y="956646"/>
            <a:ext cx="4756150" cy="1384995"/>
          </a:xfrm>
          <a:prstGeom prst="rect">
            <a:avLst/>
          </a:prstGeom>
          <a:noFill/>
        </p:spPr>
        <p:txBody>
          <a:bodyPr wrap="square" rtlCol="1">
            <a:spAutoFit/>
          </a:bodyPr>
          <a:lstStyle/>
          <a:p>
            <a:endParaRPr lang="ar-SA" sz="2400" b="1" dirty="0"/>
          </a:p>
          <a:p>
            <a:r>
              <a:rPr lang="ar-SA" sz="36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خصائص نهج الشلال المعدل:</a:t>
            </a:r>
            <a:endParaRPr lang="en-US" sz="3600" b="1" kern="100" dirty="0">
              <a:solidFill>
                <a:srgbClr val="C2A33E"/>
              </a:solidFill>
              <a:latin typeface="Calibri" panose="020F0502020204030204" pitchFamily="34" charset="0"/>
              <a:ea typeface="Calibri" panose="020F0502020204030204" pitchFamily="34" charset="0"/>
              <a:cs typeface="Arial" panose="020B0604020202020204" pitchFamily="34" charset="0"/>
            </a:endParaRPr>
          </a:p>
          <a:p>
            <a:pPr lvl="0"/>
            <a:r>
              <a:rPr lang="ar-SA" sz="2400" dirty="0"/>
              <a:t> </a:t>
            </a:r>
            <a:endParaRPr lang="ar-SA" dirty="0"/>
          </a:p>
        </p:txBody>
      </p:sp>
      <p:sp>
        <p:nvSpPr>
          <p:cNvPr id="2" name="مربع نص 1">
            <a:extLst>
              <a:ext uri="{FF2B5EF4-FFF2-40B4-BE49-F238E27FC236}">
                <a16:creationId xmlns:a16="http://schemas.microsoft.com/office/drawing/2014/main" id="{0BD1A676-FF41-7838-8246-9C278CDC28F8}"/>
              </a:ext>
            </a:extLst>
          </p:cNvPr>
          <p:cNvSpPr txBox="1"/>
          <p:nvPr/>
        </p:nvSpPr>
        <p:spPr>
          <a:xfrm>
            <a:off x="6534151" y="1952414"/>
            <a:ext cx="5257800" cy="3106016"/>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rtl="0">
              <a:lnSpc>
                <a:spcPct val="200000"/>
              </a:lnSpc>
              <a:defRPr sz="17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457200" indent="-457200" rtl="1">
              <a:buFont typeface="Arial" panose="020B0604020202020204" pitchFamily="34" charset="0"/>
              <a:buChar char="•"/>
            </a:pPr>
            <a:r>
              <a:rPr lang="ar-SA" sz="3200" dirty="0">
                <a:solidFill>
                  <a:schemeClr val="tx1"/>
                </a:solidFill>
              </a:rPr>
              <a:t>هيكل مع مرونة </a:t>
            </a:r>
          </a:p>
          <a:p>
            <a:pPr marL="457200" indent="-457200" rtl="1">
              <a:buFont typeface="Arial" panose="020B0604020202020204" pitchFamily="34" charset="0"/>
              <a:buChar char="•"/>
            </a:pPr>
            <a:r>
              <a:rPr lang="ar-SA" sz="3200" dirty="0">
                <a:solidFill>
                  <a:schemeClr val="tx1"/>
                </a:solidFill>
              </a:rPr>
              <a:t>تحسين اكتشاف الأخطاء </a:t>
            </a:r>
          </a:p>
          <a:p>
            <a:pPr marL="457200" indent="-457200" rtl="1">
              <a:buFont typeface="Arial" panose="020B0604020202020204" pitchFamily="34" charset="0"/>
              <a:buChar char="•"/>
            </a:pPr>
            <a:r>
              <a:rPr lang="ar-SA" sz="3200" dirty="0">
                <a:solidFill>
                  <a:schemeClr val="tx1"/>
                </a:solidFill>
              </a:rPr>
              <a:t>تسليم جزئي</a:t>
            </a:r>
          </a:p>
          <a:p>
            <a:pPr marL="285750" indent="-285750" rtl="1">
              <a:buFont typeface="Arial" panose="020B0604020202020204" pitchFamily="34" charset="0"/>
              <a:buChar char="•"/>
            </a:pPr>
            <a:r>
              <a:rPr lang="ar-SA" dirty="0"/>
              <a:t> </a:t>
            </a:r>
          </a:p>
        </p:txBody>
      </p:sp>
      <p:sp>
        <p:nvSpPr>
          <p:cNvPr id="3" name="مربع نص 2">
            <a:extLst>
              <a:ext uri="{FF2B5EF4-FFF2-40B4-BE49-F238E27FC236}">
                <a16:creationId xmlns:a16="http://schemas.microsoft.com/office/drawing/2014/main" id="{C5B360F2-9408-3576-7685-A8168BD7476D}"/>
              </a:ext>
            </a:extLst>
          </p:cNvPr>
          <p:cNvSpPr txBox="1"/>
          <p:nvPr/>
        </p:nvSpPr>
        <p:spPr>
          <a:xfrm>
            <a:off x="387350" y="1620497"/>
            <a:ext cx="4756150" cy="1015663"/>
          </a:xfrm>
          <a:prstGeom prst="rect">
            <a:avLst/>
          </a:prstGeom>
          <a:noFill/>
        </p:spPr>
        <p:txBody>
          <a:bodyPr wrap="square" rtlCol="1">
            <a:spAutoFit/>
          </a:bodyPr>
          <a:lstStyle/>
          <a:p>
            <a:endParaRPr lang="en-US" sz="3600" b="1" kern="100" dirty="0">
              <a:solidFill>
                <a:srgbClr val="C2A33E"/>
              </a:solidFill>
              <a:latin typeface="Calibri" panose="020F0502020204030204" pitchFamily="34" charset="0"/>
              <a:ea typeface="Calibri" panose="020F0502020204030204" pitchFamily="34" charset="0"/>
              <a:cs typeface="Arial" panose="020B0604020202020204" pitchFamily="34" charset="0"/>
            </a:endParaRPr>
          </a:p>
          <a:p>
            <a:pPr lvl="0"/>
            <a:r>
              <a:rPr lang="ar-SA" sz="2400" dirty="0"/>
              <a:t> </a:t>
            </a:r>
            <a:endParaRPr lang="ar-SA" dirty="0"/>
          </a:p>
        </p:txBody>
      </p:sp>
      <p:sp>
        <p:nvSpPr>
          <p:cNvPr id="5" name="مربع نص 4">
            <a:extLst>
              <a:ext uri="{FF2B5EF4-FFF2-40B4-BE49-F238E27FC236}">
                <a16:creationId xmlns:a16="http://schemas.microsoft.com/office/drawing/2014/main" id="{E425A16F-E60A-1123-16DB-86BEA70AFAB3}"/>
              </a:ext>
            </a:extLst>
          </p:cNvPr>
          <p:cNvSpPr txBox="1"/>
          <p:nvPr/>
        </p:nvSpPr>
        <p:spPr>
          <a:xfrm>
            <a:off x="387350" y="920592"/>
            <a:ext cx="4756150" cy="1015663"/>
          </a:xfrm>
          <a:prstGeom prst="rect">
            <a:avLst/>
          </a:prstGeom>
          <a:noFill/>
        </p:spPr>
        <p:txBody>
          <a:bodyPr wrap="square" rtlCol="1">
            <a:spAutoFit/>
          </a:bodyPr>
          <a:lstStyle/>
          <a:p>
            <a:endParaRPr lang="ar-SA" sz="2400" b="1" dirty="0"/>
          </a:p>
          <a:p>
            <a:r>
              <a:rPr lang="ar-SA" sz="36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مزايا النهج المعدل:</a:t>
            </a:r>
            <a:r>
              <a:rPr lang="ar-SA" sz="2400" dirty="0"/>
              <a:t> </a:t>
            </a:r>
            <a:endParaRPr lang="ar-SA" dirty="0"/>
          </a:p>
        </p:txBody>
      </p:sp>
      <p:sp>
        <p:nvSpPr>
          <p:cNvPr id="6" name="مربع نص 5">
            <a:extLst>
              <a:ext uri="{FF2B5EF4-FFF2-40B4-BE49-F238E27FC236}">
                <a16:creationId xmlns:a16="http://schemas.microsoft.com/office/drawing/2014/main" id="{9FCE8812-A622-485D-1031-83D308FEEA55}"/>
              </a:ext>
            </a:extLst>
          </p:cNvPr>
          <p:cNvSpPr txBox="1"/>
          <p:nvPr/>
        </p:nvSpPr>
        <p:spPr>
          <a:xfrm>
            <a:off x="593726" y="1952414"/>
            <a:ext cx="5064125" cy="3089930"/>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marL="457200" indent="-457200">
              <a:lnSpc>
                <a:spcPct val="200000"/>
              </a:lnSpc>
              <a:buFont typeface="Arial" panose="020B0604020202020204" pitchFamily="34" charset="0"/>
              <a:buChar char="•"/>
              <a:defRPr sz="3200" b="1"/>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nSpc>
                <a:spcPct val="150000"/>
              </a:lnSpc>
            </a:pPr>
            <a:r>
              <a:rPr lang="ar-SA" dirty="0"/>
              <a:t>توازن بين النظام والمرونة</a:t>
            </a:r>
            <a:endParaRPr lang="en-US" dirty="0"/>
          </a:p>
          <a:p>
            <a:pPr>
              <a:lnSpc>
                <a:spcPct val="150000"/>
              </a:lnSpc>
            </a:pPr>
            <a:r>
              <a:rPr lang="ar-SA" dirty="0"/>
              <a:t>مناسب لمشاريع الأعمال</a:t>
            </a:r>
          </a:p>
          <a:p>
            <a:pPr>
              <a:lnSpc>
                <a:spcPct val="150000"/>
              </a:lnSpc>
            </a:pPr>
            <a:r>
              <a:rPr lang="ar-SA" dirty="0"/>
              <a:t>إدارة محسنة للأخطار</a:t>
            </a:r>
          </a:p>
          <a:p>
            <a:pPr>
              <a:lnSpc>
                <a:spcPct val="150000"/>
              </a:lnSpc>
            </a:pPr>
            <a:r>
              <a:rPr lang="ar-SA" dirty="0"/>
              <a:t>رضا أفضل للعميل</a:t>
            </a:r>
          </a:p>
        </p:txBody>
      </p:sp>
      <p:sp>
        <p:nvSpPr>
          <p:cNvPr id="7" name="مربع نص 6">
            <a:extLst>
              <a:ext uri="{FF2B5EF4-FFF2-40B4-BE49-F238E27FC236}">
                <a16:creationId xmlns:a16="http://schemas.microsoft.com/office/drawing/2014/main" id="{29370481-3FBB-C8C9-2F9F-0324E76A2D0A}"/>
              </a:ext>
            </a:extLst>
          </p:cNvPr>
          <p:cNvSpPr txBox="1"/>
          <p:nvPr/>
        </p:nvSpPr>
        <p:spPr>
          <a:xfrm>
            <a:off x="774700" y="5244910"/>
            <a:ext cx="11274425" cy="1384995"/>
          </a:xfrm>
          <a:prstGeom prst="rect">
            <a:avLst/>
          </a:prstGeom>
          <a:noFill/>
        </p:spPr>
        <p:txBody>
          <a:bodyPr wrap="square" rtlCol="1">
            <a:spAutoFit/>
          </a:bodyPr>
          <a:lstStyle/>
          <a:p>
            <a:r>
              <a:rPr lang="ar-SA" sz="4800" b="1" dirty="0">
                <a:solidFill>
                  <a:srgbClr val="C2A33E"/>
                </a:solidFill>
              </a:rPr>
              <a:t>الخلاصة النهائية:</a:t>
            </a:r>
            <a:r>
              <a:rPr lang="ar-SA" sz="3600" b="1" dirty="0">
                <a:solidFill>
                  <a:srgbClr val="C2A33E"/>
                </a:solidFill>
              </a:rPr>
              <a:t> </a:t>
            </a:r>
            <a:r>
              <a:rPr lang="ar-SA" sz="3600" dirty="0"/>
              <a:t>نهج الشلال المعدل هو "الوسط الذهبي"</a:t>
            </a:r>
          </a:p>
          <a:p>
            <a:r>
              <a:rPr lang="ar-SA" sz="3600" dirty="0"/>
              <a:t>                            بين صرامة </a:t>
            </a:r>
            <a:r>
              <a:rPr lang="en-US" sz="3600" dirty="0"/>
              <a:t>Waterfall</a:t>
            </a:r>
            <a:r>
              <a:rPr lang="ar-SA" sz="3600" dirty="0"/>
              <a:t> ومرونة </a:t>
            </a:r>
            <a:r>
              <a:rPr lang="en-US" sz="3600" dirty="0"/>
              <a:t>Agile</a:t>
            </a:r>
            <a:endParaRPr lang="en-US" sz="4400" dirty="0"/>
          </a:p>
        </p:txBody>
      </p:sp>
    </p:spTree>
    <p:extLst>
      <p:ext uri="{BB962C8B-B14F-4D97-AF65-F5344CB8AC3E}">
        <p14:creationId xmlns:p14="http://schemas.microsoft.com/office/powerpoint/2010/main" val="1471829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69D797F5-350E-40BB-7451-64BFCFD6F2B9}"/>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2F37FC6C-D56C-A565-0352-55AF942BBECE}"/>
              </a:ext>
            </a:extLst>
          </p:cNvPr>
          <p:cNvSpPr txBox="1"/>
          <p:nvPr/>
        </p:nvSpPr>
        <p:spPr>
          <a:xfrm>
            <a:off x="3174999" y="137496"/>
            <a:ext cx="5788025" cy="977900"/>
          </a:xfrm>
          <a:prstGeom prst="rect">
            <a:avLst/>
          </a:prstGeom>
        </p:spPr>
        <p:txBody>
          <a:bodyPr anchor="t">
            <a:normAutofit/>
          </a:bodyPr>
          <a:lstStyle/>
          <a:p>
            <a:pPr>
              <a:spcAft>
                <a:spcPts val="800"/>
              </a:spcAft>
            </a:pPr>
            <a:r>
              <a:rPr lang="ar-SY" sz="4800" b="1" dirty="0">
                <a:solidFill>
                  <a:srgbClr val="C2A33E"/>
                </a:solidFill>
              </a:rPr>
              <a:t>المخطط الزمني للمشروع</a:t>
            </a:r>
            <a:endParaRPr lang="en-US" sz="4800" b="1" dirty="0">
              <a:solidFill>
                <a:srgbClr val="C2A33E"/>
              </a:solidFill>
            </a:endParaRPr>
          </a:p>
          <a:p>
            <a:pPr>
              <a:spcAft>
                <a:spcPts val="800"/>
              </a:spcAft>
            </a:pP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مربع نص 3">
            <a:extLst>
              <a:ext uri="{FF2B5EF4-FFF2-40B4-BE49-F238E27FC236}">
                <a16:creationId xmlns:a16="http://schemas.microsoft.com/office/drawing/2014/main" id="{78184036-F34C-1AC2-04E7-D66E0FBA63DF}"/>
              </a:ext>
            </a:extLst>
          </p:cNvPr>
          <p:cNvSpPr txBox="1"/>
          <p:nvPr/>
        </p:nvSpPr>
        <p:spPr>
          <a:xfrm>
            <a:off x="95250" y="1597996"/>
            <a:ext cx="11931650" cy="461665"/>
          </a:xfrm>
          <a:prstGeom prst="rect">
            <a:avLst/>
          </a:prstGeom>
          <a:noFill/>
        </p:spPr>
        <p:txBody>
          <a:bodyPr wrap="square" rtlCol="1">
            <a:spAutoFit/>
          </a:bodyPr>
          <a:lstStyle/>
          <a:p>
            <a:pPr lvl="0"/>
            <a:r>
              <a:rPr lang="ar-SA" sz="2400" dirty="0"/>
              <a:t> </a:t>
            </a:r>
            <a:endParaRPr lang="ar-SA" dirty="0"/>
          </a:p>
        </p:txBody>
      </p:sp>
      <p:pic>
        <p:nvPicPr>
          <p:cNvPr id="3" name="صورة 2" descr="صورة تحتوي على نص, لقطة شاشة, رسم بياني, الخط&#10;&#10;قد يكون المحتوى الذي تم إنشاؤه بواسطة الذكاء الاصطناعي غير صحيح.">
            <a:extLst>
              <a:ext uri="{FF2B5EF4-FFF2-40B4-BE49-F238E27FC236}">
                <a16:creationId xmlns:a16="http://schemas.microsoft.com/office/drawing/2014/main" id="{B6AF3591-803A-0A34-B705-A9EF1C5A3C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550" y="824877"/>
            <a:ext cx="11010900" cy="5796705"/>
          </a:xfrm>
          <a:prstGeom prst="rect">
            <a:avLst/>
          </a:prstGeom>
          <a:ln>
            <a:noFill/>
          </a:ln>
          <a:effectLst>
            <a:softEdge rad="112500"/>
          </a:effectLst>
        </p:spPr>
      </p:pic>
    </p:spTree>
    <p:extLst>
      <p:ext uri="{BB962C8B-B14F-4D97-AF65-F5344CB8AC3E}">
        <p14:creationId xmlns:p14="http://schemas.microsoft.com/office/powerpoint/2010/main" val="3588953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D097990B-6621-2939-2C82-EEFB98B839D2}"/>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30628F0E-F85F-EC3D-0F92-5B54FD5EDAD2}"/>
              </a:ext>
            </a:extLst>
          </p:cNvPr>
          <p:cNvSpPr txBox="1"/>
          <p:nvPr/>
        </p:nvSpPr>
        <p:spPr>
          <a:xfrm>
            <a:off x="47625" y="162896"/>
            <a:ext cx="12096750" cy="977900"/>
          </a:xfrm>
          <a:prstGeom prst="rect">
            <a:avLst/>
          </a:prstGeom>
        </p:spPr>
        <p:txBody>
          <a:bodyPr anchor="t">
            <a:normAutofit fontScale="62500" lnSpcReduction="20000"/>
          </a:bodyPr>
          <a:lstStyle/>
          <a:p>
            <a:pPr>
              <a:spcAft>
                <a:spcPts val="800"/>
              </a:spcAft>
            </a:pPr>
            <a:r>
              <a:rPr lang="ar-SA" sz="85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المعمارية المستخدمة:</a:t>
            </a:r>
            <a:r>
              <a:rPr lang="ar-SA" dirty="0"/>
              <a:t> </a:t>
            </a:r>
            <a:r>
              <a:rPr lang="ar-SA" sz="5100" b="1" dirty="0"/>
              <a:t>معمارية </a:t>
            </a:r>
            <a:r>
              <a:rPr lang="en-US" sz="5100" b="1" dirty="0"/>
              <a:t>MVC</a:t>
            </a:r>
            <a:r>
              <a:rPr lang="ar-SA" sz="5100" b="1" dirty="0"/>
              <a:t> الهجينة المقترنة بنمط </a:t>
            </a:r>
            <a:r>
              <a:rPr lang="en-US" sz="5100" b="1" dirty="0"/>
              <a:t>Singleton</a:t>
            </a: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مربع نص 3">
            <a:extLst>
              <a:ext uri="{FF2B5EF4-FFF2-40B4-BE49-F238E27FC236}">
                <a16:creationId xmlns:a16="http://schemas.microsoft.com/office/drawing/2014/main" id="{CA6529DF-14DD-C7C3-8F30-C383B2CC3A63}"/>
              </a:ext>
            </a:extLst>
          </p:cNvPr>
          <p:cNvSpPr txBox="1"/>
          <p:nvPr/>
        </p:nvSpPr>
        <p:spPr>
          <a:xfrm>
            <a:off x="0" y="756075"/>
            <a:ext cx="11830050" cy="769441"/>
          </a:xfrm>
          <a:prstGeom prst="rect">
            <a:avLst/>
          </a:prstGeom>
          <a:noFill/>
        </p:spPr>
        <p:txBody>
          <a:bodyPr wrap="square" rtlCol="1">
            <a:spAutoFit/>
          </a:bodyPr>
          <a:lstStyle/>
          <a:p>
            <a:r>
              <a:rPr lang="en-US" sz="3600" b="1" dirty="0"/>
              <a:t>SCMHA</a:t>
            </a:r>
            <a:r>
              <a:rPr lang="ar-SA" sz="3600" b="1" dirty="0"/>
              <a:t> (</a:t>
            </a:r>
            <a:r>
              <a:rPr lang="en-US" sz="3600" b="1" dirty="0"/>
              <a:t>Singleton-Coupled MVC Hybrid Architecture</a:t>
            </a:r>
            <a:r>
              <a:rPr lang="ar-SA" sz="3600" b="1" dirty="0"/>
              <a:t>):</a:t>
            </a:r>
            <a:r>
              <a:rPr lang="ar-SA" sz="4400" b="1" dirty="0"/>
              <a:t> </a:t>
            </a:r>
            <a:endParaRPr lang="ar-SA" sz="3600" b="1" dirty="0"/>
          </a:p>
        </p:txBody>
      </p:sp>
      <p:sp>
        <p:nvSpPr>
          <p:cNvPr id="2" name="مربع نص 1">
            <a:extLst>
              <a:ext uri="{FF2B5EF4-FFF2-40B4-BE49-F238E27FC236}">
                <a16:creationId xmlns:a16="http://schemas.microsoft.com/office/drawing/2014/main" id="{D456125B-9EEA-4813-55F2-133299A3D04A}"/>
              </a:ext>
            </a:extLst>
          </p:cNvPr>
          <p:cNvSpPr txBox="1"/>
          <p:nvPr/>
        </p:nvSpPr>
        <p:spPr>
          <a:xfrm>
            <a:off x="-47625" y="1525516"/>
            <a:ext cx="12192000" cy="1846659"/>
          </a:xfrm>
          <a:prstGeom prst="rect">
            <a:avLst/>
          </a:prstGeom>
          <a:noFill/>
        </p:spPr>
        <p:txBody>
          <a:bodyPr wrap="square" rtlCol="1">
            <a:spAutoFit/>
          </a:bodyPr>
          <a:lstStyle/>
          <a:p>
            <a:r>
              <a:rPr lang="ar-SA" sz="3600" b="1" dirty="0">
                <a:solidFill>
                  <a:srgbClr val="C2A33E"/>
                </a:solidFill>
              </a:rPr>
              <a:t>التعريف العام لمعمارية </a:t>
            </a:r>
            <a:r>
              <a:rPr lang="en-US" sz="3600" b="1" dirty="0">
                <a:solidFill>
                  <a:srgbClr val="C2A33E"/>
                </a:solidFill>
              </a:rPr>
              <a:t>SCMHA</a:t>
            </a:r>
            <a:r>
              <a:rPr lang="ar-SA" sz="3600" b="1" dirty="0">
                <a:solidFill>
                  <a:srgbClr val="C2A33E"/>
                </a:solidFill>
              </a:rPr>
              <a:t> هي:</a:t>
            </a:r>
            <a:endParaRPr lang="en-US" sz="3600" dirty="0">
              <a:solidFill>
                <a:srgbClr val="C2A33E"/>
              </a:solidFill>
            </a:endParaRPr>
          </a:p>
          <a:p>
            <a:r>
              <a:rPr lang="ar-SA" sz="3000" dirty="0"/>
              <a:t>تصميم معماري لتطبيقات سطح المكتب يجمع بين مركزية إدارة البيانات عبر نمط </a:t>
            </a:r>
            <a:r>
              <a:rPr lang="en-US" sz="3000" dirty="0"/>
              <a:t>Singleton</a:t>
            </a:r>
            <a:r>
              <a:rPr lang="ar-SA" sz="3000" dirty="0"/>
              <a:t>، مع فصل جزئي للمسؤوليات عبر نمط </a:t>
            </a:r>
            <a:r>
              <a:rPr lang="en-US" sz="3000" dirty="0"/>
              <a:t>MVC</a:t>
            </a:r>
            <a:r>
              <a:rPr lang="ar-SA" sz="3000" dirty="0"/>
              <a:t>، في هيكل هجين يتيح المرونة مع الحفاظ على البساطة.</a:t>
            </a:r>
            <a:endParaRPr lang="en-US" sz="3000" dirty="0"/>
          </a:p>
          <a:p>
            <a:endParaRPr lang="ar-SA" dirty="0"/>
          </a:p>
        </p:txBody>
      </p:sp>
      <p:sp>
        <p:nvSpPr>
          <p:cNvPr id="3" name="مربع نص 2">
            <a:extLst>
              <a:ext uri="{FF2B5EF4-FFF2-40B4-BE49-F238E27FC236}">
                <a16:creationId xmlns:a16="http://schemas.microsoft.com/office/drawing/2014/main" id="{3830C340-B3B8-34D5-564E-056580214495}"/>
              </a:ext>
            </a:extLst>
          </p:cNvPr>
          <p:cNvSpPr txBox="1"/>
          <p:nvPr/>
        </p:nvSpPr>
        <p:spPr>
          <a:xfrm>
            <a:off x="7569200" y="3373093"/>
            <a:ext cx="4438648" cy="923330"/>
          </a:xfrm>
          <a:prstGeom prst="rect">
            <a:avLst/>
          </a:prstGeom>
          <a:noFill/>
        </p:spPr>
        <p:txBody>
          <a:bodyPr wrap="square" rtlCol="1">
            <a:spAutoFit/>
          </a:bodyPr>
          <a:lstStyle/>
          <a:p>
            <a:r>
              <a:rPr lang="ar-SA" sz="3600" b="1" dirty="0">
                <a:solidFill>
                  <a:srgbClr val="C2A33E"/>
                </a:solidFill>
              </a:rPr>
              <a:t>المكــــونات</a:t>
            </a:r>
            <a:r>
              <a:rPr lang="ar-SA" b="1" dirty="0"/>
              <a:t> </a:t>
            </a:r>
            <a:r>
              <a:rPr lang="ar-SA" sz="3600" b="1" dirty="0">
                <a:solidFill>
                  <a:srgbClr val="C2A33E"/>
                </a:solidFill>
              </a:rPr>
              <a:t>الأســــــــــاسية:</a:t>
            </a:r>
            <a:endParaRPr lang="en-US" sz="3600" b="1" dirty="0">
              <a:solidFill>
                <a:srgbClr val="C2A33E"/>
              </a:solidFill>
            </a:endParaRPr>
          </a:p>
          <a:p>
            <a:endParaRPr lang="ar-SA" dirty="0"/>
          </a:p>
        </p:txBody>
      </p:sp>
      <p:sp>
        <p:nvSpPr>
          <p:cNvPr id="7" name="مربع نص 6">
            <a:extLst>
              <a:ext uri="{FF2B5EF4-FFF2-40B4-BE49-F238E27FC236}">
                <a16:creationId xmlns:a16="http://schemas.microsoft.com/office/drawing/2014/main" id="{E8D67C22-5923-F180-D11A-8604EA369697}"/>
              </a:ext>
            </a:extLst>
          </p:cNvPr>
          <p:cNvSpPr txBox="1"/>
          <p:nvPr/>
        </p:nvSpPr>
        <p:spPr>
          <a:xfrm>
            <a:off x="9102725" y="4032298"/>
            <a:ext cx="2882900" cy="622222"/>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nSpc>
                <a:spcPct val="150000"/>
              </a:lnSpc>
            </a:pPr>
            <a:r>
              <a:rPr lang="en-US" dirty="0">
                <a:solidFill>
                  <a:srgbClr val="002060"/>
                </a:solidFill>
              </a:rPr>
              <a:t>Singleton</a:t>
            </a:r>
            <a:r>
              <a:rPr lang="ar-SA" dirty="0">
                <a:solidFill>
                  <a:srgbClr val="002060"/>
                </a:solidFill>
              </a:rPr>
              <a:t>(القلب المركزي):</a:t>
            </a:r>
          </a:p>
        </p:txBody>
      </p:sp>
      <p:sp>
        <p:nvSpPr>
          <p:cNvPr id="9" name="مربع نص 8">
            <a:extLst>
              <a:ext uri="{FF2B5EF4-FFF2-40B4-BE49-F238E27FC236}">
                <a16:creationId xmlns:a16="http://schemas.microsoft.com/office/drawing/2014/main" id="{26DBAB90-FFCB-432D-6DCA-B4B5B6C46DA4}"/>
              </a:ext>
            </a:extLst>
          </p:cNvPr>
          <p:cNvSpPr txBox="1"/>
          <p:nvPr/>
        </p:nvSpPr>
        <p:spPr>
          <a:xfrm>
            <a:off x="6073777" y="4032298"/>
            <a:ext cx="2880360" cy="622222"/>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a:lnSpc>
                <a:spcPct val="150000"/>
              </a:lnSpc>
            </a:pPr>
            <a:r>
              <a:rPr lang="en-US" dirty="0">
                <a:solidFill>
                  <a:srgbClr val="002060"/>
                </a:solidFill>
              </a:rPr>
              <a:t> MVC</a:t>
            </a:r>
            <a:r>
              <a:rPr lang="ar-SA" dirty="0">
                <a:solidFill>
                  <a:srgbClr val="002060"/>
                </a:solidFill>
              </a:rPr>
              <a:t> (الهيكل التنظيمي)</a:t>
            </a:r>
            <a:endParaRPr lang="en-US" dirty="0">
              <a:solidFill>
                <a:srgbClr val="002060"/>
              </a:solidFill>
            </a:endParaRPr>
          </a:p>
        </p:txBody>
      </p:sp>
      <p:sp>
        <p:nvSpPr>
          <p:cNvPr id="10" name="مربع نص 9">
            <a:extLst>
              <a:ext uri="{FF2B5EF4-FFF2-40B4-BE49-F238E27FC236}">
                <a16:creationId xmlns:a16="http://schemas.microsoft.com/office/drawing/2014/main" id="{DA4587E9-9350-7E29-EDC8-E54B69E24930}"/>
              </a:ext>
            </a:extLst>
          </p:cNvPr>
          <p:cNvSpPr txBox="1"/>
          <p:nvPr/>
        </p:nvSpPr>
        <p:spPr>
          <a:xfrm>
            <a:off x="3054987" y="4032298"/>
            <a:ext cx="2880360" cy="622222"/>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rgbClr val="00206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nSpc>
                <a:spcPct val="150000"/>
              </a:lnSpc>
            </a:pPr>
            <a:r>
              <a:rPr lang="en-US" dirty="0"/>
              <a:t>Coupled</a:t>
            </a:r>
            <a:r>
              <a:rPr lang="ar-SA" dirty="0"/>
              <a:t> (الاقتران الوثيق)</a:t>
            </a:r>
            <a:endParaRPr lang="en-US" dirty="0"/>
          </a:p>
        </p:txBody>
      </p:sp>
      <p:sp>
        <p:nvSpPr>
          <p:cNvPr id="11" name="مربع نص 10">
            <a:extLst>
              <a:ext uri="{FF2B5EF4-FFF2-40B4-BE49-F238E27FC236}">
                <a16:creationId xmlns:a16="http://schemas.microsoft.com/office/drawing/2014/main" id="{ED6E573A-7C5A-9821-350C-1B89E4D737BE}"/>
              </a:ext>
            </a:extLst>
          </p:cNvPr>
          <p:cNvSpPr txBox="1"/>
          <p:nvPr/>
        </p:nvSpPr>
        <p:spPr>
          <a:xfrm>
            <a:off x="47625" y="4032298"/>
            <a:ext cx="2858774" cy="622222"/>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rgbClr val="00206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nSpc>
                <a:spcPct val="150000"/>
              </a:lnSpc>
            </a:pPr>
            <a:r>
              <a:rPr lang="en-US" dirty="0"/>
              <a:t>Hybrid</a:t>
            </a:r>
            <a:r>
              <a:rPr lang="ar-SA" dirty="0"/>
              <a:t> (الهجينة)</a:t>
            </a:r>
            <a:endParaRPr lang="en-US" dirty="0"/>
          </a:p>
        </p:txBody>
      </p:sp>
      <p:sp>
        <p:nvSpPr>
          <p:cNvPr id="12" name="مربع نص 11">
            <a:extLst>
              <a:ext uri="{FF2B5EF4-FFF2-40B4-BE49-F238E27FC236}">
                <a16:creationId xmlns:a16="http://schemas.microsoft.com/office/drawing/2014/main" id="{DAA1CB29-65E7-04E9-D135-AA17919EAA4E}"/>
              </a:ext>
            </a:extLst>
          </p:cNvPr>
          <p:cNvSpPr txBox="1"/>
          <p:nvPr/>
        </p:nvSpPr>
        <p:spPr>
          <a:xfrm>
            <a:off x="9102725" y="4803228"/>
            <a:ext cx="2882900" cy="1686472"/>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r"/>
            <a:r>
              <a:rPr lang="ar-SA" sz="1700" dirty="0"/>
              <a:t>الدور: مدير البيانات الموحد</a:t>
            </a:r>
            <a:endParaRPr lang="en-US" sz="1700" dirty="0"/>
          </a:p>
          <a:p>
            <a:pPr algn="r" rtl="1"/>
            <a:r>
              <a:rPr lang="ar-SA" sz="1700" dirty="0"/>
              <a:t>المهمة: نقطة الاتصال الوحيدة مع </a:t>
            </a:r>
            <a:r>
              <a:rPr lang="en-US" sz="1700" dirty="0"/>
              <a:t>DB</a:t>
            </a:r>
          </a:p>
          <a:p>
            <a:pPr algn="r"/>
            <a:r>
              <a:rPr lang="ar-SA" sz="1700" dirty="0"/>
              <a:t>الميزة: منع التكرار وضمان التناسق</a:t>
            </a:r>
            <a:endParaRPr lang="en-US" sz="1700" dirty="0"/>
          </a:p>
        </p:txBody>
      </p:sp>
      <p:sp>
        <p:nvSpPr>
          <p:cNvPr id="13" name="مربع نص 12">
            <a:extLst>
              <a:ext uri="{FF2B5EF4-FFF2-40B4-BE49-F238E27FC236}">
                <a16:creationId xmlns:a16="http://schemas.microsoft.com/office/drawing/2014/main" id="{98637B70-8E96-3461-0D3C-E9B341019501}"/>
              </a:ext>
            </a:extLst>
          </p:cNvPr>
          <p:cNvSpPr txBox="1"/>
          <p:nvPr/>
        </p:nvSpPr>
        <p:spPr>
          <a:xfrm>
            <a:off x="6096000" y="4803228"/>
            <a:ext cx="2882900" cy="1686472"/>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r" rtl="1"/>
            <a:r>
              <a:rPr lang="en-US" sz="1700" dirty="0"/>
              <a:t> :Model</a:t>
            </a:r>
            <a:r>
              <a:rPr lang="ar-SA" sz="1700" dirty="0"/>
              <a:t>تمثيل البيانات وقواعد العمل</a:t>
            </a:r>
            <a:endParaRPr lang="en-US" sz="1700" dirty="0"/>
          </a:p>
          <a:p>
            <a:pPr algn="r" rtl="1"/>
            <a:r>
              <a:rPr lang="en-US" sz="1700" dirty="0"/>
              <a:t> View</a:t>
            </a:r>
            <a:r>
              <a:rPr lang="ar-SA" sz="1700" dirty="0"/>
              <a:t>: واجهة المستخدم</a:t>
            </a:r>
            <a:endParaRPr lang="en-US" sz="1700" dirty="0"/>
          </a:p>
          <a:p>
            <a:pPr algn="r" rtl="1"/>
            <a:r>
              <a:rPr lang="en-US" sz="1700" b="1" dirty="0"/>
              <a:t> :</a:t>
            </a:r>
            <a:r>
              <a:rPr lang="en-US" sz="1700" dirty="0"/>
              <a:t>Controller</a:t>
            </a:r>
            <a:r>
              <a:rPr lang="ar-SA" sz="1700" dirty="0"/>
              <a:t>بين العرض والنموذج</a:t>
            </a:r>
            <a:endParaRPr lang="en-US" sz="1700" dirty="0"/>
          </a:p>
        </p:txBody>
      </p:sp>
      <p:sp>
        <p:nvSpPr>
          <p:cNvPr id="14" name="مربع نص 13">
            <a:extLst>
              <a:ext uri="{FF2B5EF4-FFF2-40B4-BE49-F238E27FC236}">
                <a16:creationId xmlns:a16="http://schemas.microsoft.com/office/drawing/2014/main" id="{0E2AF94E-5A7E-6EC0-D7C6-A3FB18CEA14C}"/>
              </a:ext>
            </a:extLst>
          </p:cNvPr>
          <p:cNvSpPr txBox="1"/>
          <p:nvPr/>
        </p:nvSpPr>
        <p:spPr>
          <a:xfrm>
            <a:off x="3054987" y="4789040"/>
            <a:ext cx="2882900" cy="1700660"/>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r"/>
            <a:r>
              <a:rPr lang="ar-SA" sz="1800" b="1" dirty="0"/>
              <a:t>الطبيعة: اتصال مباشر بين المكونات</a:t>
            </a:r>
            <a:endParaRPr lang="en-US" sz="1800" b="1" dirty="0"/>
          </a:p>
          <a:p>
            <a:pPr algn="r"/>
            <a:r>
              <a:rPr lang="ar-SA" sz="1800" b="1" dirty="0"/>
              <a:t> المستوى: اقتران متوسط إلى عالي</a:t>
            </a:r>
            <a:endParaRPr lang="en-US" sz="1800" b="1" dirty="0"/>
          </a:p>
          <a:p>
            <a:pPr algn="r"/>
            <a:r>
              <a:rPr lang="ar-SA" sz="1800" b="1" dirty="0"/>
              <a:t>التأثير: سهولة التطوير </a:t>
            </a:r>
            <a:endParaRPr lang="en-US" sz="1800" b="1" dirty="0"/>
          </a:p>
        </p:txBody>
      </p:sp>
      <p:sp>
        <p:nvSpPr>
          <p:cNvPr id="15" name="مربع نص 14">
            <a:extLst>
              <a:ext uri="{FF2B5EF4-FFF2-40B4-BE49-F238E27FC236}">
                <a16:creationId xmlns:a16="http://schemas.microsoft.com/office/drawing/2014/main" id="{13F7996D-C8F6-990F-2438-2B157546E6F7}"/>
              </a:ext>
            </a:extLst>
          </p:cNvPr>
          <p:cNvSpPr txBox="1"/>
          <p:nvPr/>
        </p:nvSpPr>
        <p:spPr>
          <a:xfrm>
            <a:off x="47625" y="4789040"/>
            <a:ext cx="2858774" cy="1700660"/>
          </a:xfrm>
          <a:prstGeom prst="rect">
            <a:avLst/>
          </a:prstGeom>
          <a:noFill/>
          <a:ln>
            <a:solidFill>
              <a:srgbClr val="C2A33E"/>
            </a:solidFill>
          </a:ln>
        </p:spPr>
        <p:style>
          <a:lnRef idx="2">
            <a:schemeClr val="accent1"/>
          </a:lnRef>
          <a:fillRef idx="1">
            <a:schemeClr val="lt1"/>
          </a:fillRef>
          <a:effectRef idx="0">
            <a:schemeClr val="accent1"/>
          </a:effectRef>
          <a:fontRef idx="minor">
            <a:schemeClr val="dk1"/>
          </a:fontRef>
        </p:style>
        <p:txBody>
          <a:bodyPr>
            <a:noAutofit/>
          </a:bodyPr>
          <a:lstStyle>
            <a:defPPr>
              <a:defRPr lang="ar-SA"/>
            </a:defPPr>
            <a:lvl1pPr algn="ctr" rtl="0">
              <a:lnSpc>
                <a:spcPct val="200000"/>
              </a:lnSpc>
              <a:defRPr sz="20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r"/>
            <a:r>
              <a:rPr lang="ar-SA" sz="1800" b="1" dirty="0"/>
              <a:t>المبدأ: دمج عدة أنماط معاً</a:t>
            </a:r>
            <a:endParaRPr lang="en-US" sz="1800" b="1" dirty="0"/>
          </a:p>
          <a:p>
            <a:pPr algn="r"/>
            <a:r>
              <a:rPr lang="ar-SA" sz="1800" b="1" dirty="0"/>
              <a:t>الهدف: الاستفادة من مزايا كل نمط</a:t>
            </a:r>
            <a:endParaRPr lang="en-US" sz="1800" b="1" dirty="0"/>
          </a:p>
          <a:p>
            <a:pPr algn="r"/>
            <a:r>
              <a:rPr lang="ar-SA" sz="1800" b="1" dirty="0"/>
              <a:t>النتيجة: حل عملي متوازن</a:t>
            </a:r>
            <a:endParaRPr lang="en-US" sz="1800" b="1" dirty="0"/>
          </a:p>
        </p:txBody>
      </p:sp>
    </p:spTree>
    <p:extLst>
      <p:ext uri="{BB962C8B-B14F-4D97-AF65-F5344CB8AC3E}">
        <p14:creationId xmlns:p14="http://schemas.microsoft.com/office/powerpoint/2010/main" val="2114990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5DFEC306-CE44-9F6D-6DAE-01D4F41C4403}"/>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C8CE07C2-CF50-EA5E-2A8E-C38BEEB59AB1}"/>
              </a:ext>
            </a:extLst>
          </p:cNvPr>
          <p:cNvSpPr txBox="1"/>
          <p:nvPr/>
        </p:nvSpPr>
        <p:spPr>
          <a:xfrm>
            <a:off x="142875" y="467696"/>
            <a:ext cx="12096750" cy="977900"/>
          </a:xfrm>
          <a:prstGeom prst="rect">
            <a:avLst/>
          </a:prstGeom>
        </p:spPr>
        <p:txBody>
          <a:bodyPr anchor="t">
            <a:normAutofit/>
          </a:bodyPr>
          <a:lstStyle/>
          <a:p>
            <a:pPr>
              <a:spcAft>
                <a:spcPts val="800"/>
              </a:spcAft>
            </a:pPr>
            <a:endParaRPr lang="en-US" sz="5400" b="1" kern="100" dirty="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مربع نص 3">
            <a:extLst>
              <a:ext uri="{FF2B5EF4-FFF2-40B4-BE49-F238E27FC236}">
                <a16:creationId xmlns:a16="http://schemas.microsoft.com/office/drawing/2014/main" id="{862C41CD-3760-6C80-6CB3-D23CE19A2611}"/>
              </a:ext>
            </a:extLst>
          </p:cNvPr>
          <p:cNvSpPr txBox="1"/>
          <p:nvPr/>
        </p:nvSpPr>
        <p:spPr>
          <a:xfrm>
            <a:off x="95250" y="1597996"/>
            <a:ext cx="11830050" cy="461665"/>
          </a:xfrm>
          <a:prstGeom prst="rect">
            <a:avLst/>
          </a:prstGeom>
          <a:noFill/>
        </p:spPr>
        <p:txBody>
          <a:bodyPr wrap="square" rtlCol="1">
            <a:spAutoFit/>
          </a:bodyPr>
          <a:lstStyle/>
          <a:p>
            <a:pPr lvl="0"/>
            <a:r>
              <a:rPr lang="ar-SA" sz="2400" dirty="0"/>
              <a:t> </a:t>
            </a:r>
            <a:endParaRPr lang="ar-SA" dirty="0"/>
          </a:p>
        </p:txBody>
      </p:sp>
      <p:graphicFrame>
        <p:nvGraphicFramePr>
          <p:cNvPr id="2" name="جدول 1">
            <a:extLst>
              <a:ext uri="{FF2B5EF4-FFF2-40B4-BE49-F238E27FC236}">
                <a16:creationId xmlns:a16="http://schemas.microsoft.com/office/drawing/2014/main" id="{BB263C55-A529-2980-0918-D6F94AD42D02}"/>
              </a:ext>
            </a:extLst>
          </p:cNvPr>
          <p:cNvGraphicFramePr>
            <a:graphicFrameLocks noGrp="1"/>
          </p:cNvGraphicFramePr>
          <p:nvPr>
            <p:extLst>
              <p:ext uri="{D42A27DB-BD31-4B8C-83A1-F6EECF244321}">
                <p14:modId xmlns:p14="http://schemas.microsoft.com/office/powerpoint/2010/main" val="1248495929"/>
              </p:ext>
            </p:extLst>
          </p:nvPr>
        </p:nvGraphicFramePr>
        <p:xfrm>
          <a:off x="142875" y="687983"/>
          <a:ext cx="11782424" cy="3668117"/>
        </p:xfrm>
        <a:graphic>
          <a:graphicData uri="http://schemas.openxmlformats.org/drawingml/2006/table">
            <a:tbl>
              <a:tblPr rtl="1" firstRow="1" firstCol="1" bandRow="1">
                <a:tableStyleId>{5940675A-B579-460E-94D1-54222C63F5DA}</a:tableStyleId>
              </a:tblPr>
              <a:tblGrid>
                <a:gridCol w="5499099">
                  <a:extLst>
                    <a:ext uri="{9D8B030D-6E8A-4147-A177-3AD203B41FA5}">
                      <a16:colId xmlns:a16="http://schemas.microsoft.com/office/drawing/2014/main" val="347545353"/>
                    </a:ext>
                  </a:extLst>
                </a:gridCol>
                <a:gridCol w="6283325">
                  <a:extLst>
                    <a:ext uri="{9D8B030D-6E8A-4147-A177-3AD203B41FA5}">
                      <a16:colId xmlns:a16="http://schemas.microsoft.com/office/drawing/2014/main" val="1586961876"/>
                    </a:ext>
                  </a:extLst>
                </a:gridCol>
              </a:tblGrid>
              <a:tr h="441139">
                <a:tc>
                  <a:txBody>
                    <a:bodyPr/>
                    <a:lstStyle/>
                    <a:p>
                      <a:pPr marL="0" marR="0" algn="ctr" rtl="1">
                        <a:lnSpc>
                          <a:spcPct val="115000"/>
                        </a:lnSpc>
                        <a:spcAft>
                          <a:spcPts val="800"/>
                        </a:spcAft>
                        <a:buNone/>
                      </a:pPr>
                      <a:r>
                        <a:rPr lang="ar-SA" sz="3200" b="1" kern="100">
                          <a:solidFill>
                            <a:srgbClr val="C2A33E"/>
                          </a:solidFill>
                          <a:effectLst/>
                        </a:rPr>
                        <a:t>المزايا</a:t>
                      </a:r>
                      <a:endParaRPr lang="en-US" sz="2400" b="1" kern="100">
                        <a:solidFill>
                          <a:srgbClr val="C2A33E"/>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15000"/>
                        </a:lnSpc>
                        <a:spcAft>
                          <a:spcPts val="800"/>
                        </a:spcAft>
                        <a:buNone/>
                      </a:pPr>
                      <a:r>
                        <a:rPr lang="ar-SA" sz="3200" b="1" kern="1200" dirty="0">
                          <a:solidFill>
                            <a:srgbClr val="C2A33E"/>
                          </a:solidFill>
                        </a:rPr>
                        <a:t>العيوب</a:t>
                      </a:r>
                      <a:endParaRPr lang="en-US" sz="3200" b="1" kern="1200" dirty="0">
                        <a:solidFill>
                          <a:srgbClr val="C2A33E"/>
                        </a:solidFill>
                        <a:latin typeface="+mn-lt"/>
                        <a:ea typeface="+mn-ea"/>
                        <a:cs typeface="+mn-cs"/>
                      </a:endParaRPr>
                    </a:p>
                  </a:txBody>
                  <a:tcPr marL="68580" marR="68580" marT="0" marB="0"/>
                </a:tc>
                <a:extLst>
                  <a:ext uri="{0D108BD9-81ED-4DB2-BD59-A6C34878D82A}">
                    <a16:rowId xmlns:a16="http://schemas.microsoft.com/office/drawing/2014/main" val="1357279543"/>
                  </a:ext>
                </a:extLst>
              </a:tr>
              <a:tr h="3139352">
                <a:tc>
                  <a:txBody>
                    <a:bodyPr/>
                    <a:lstStyle/>
                    <a:p>
                      <a:pPr marL="0" marR="0" algn="r" rtl="1">
                        <a:lnSpc>
                          <a:spcPct val="100000"/>
                        </a:lnSpc>
                        <a:spcAft>
                          <a:spcPts val="800"/>
                        </a:spcAft>
                        <a:buNone/>
                      </a:pPr>
                      <a:r>
                        <a:rPr lang="ar-SA" sz="1600" kern="100" dirty="0">
                          <a:effectLst/>
                        </a:rPr>
                        <a:t>1</a:t>
                      </a:r>
                      <a:r>
                        <a:rPr lang="ar-SA" sz="2000" b="1" kern="1200" dirty="0">
                          <a:solidFill>
                            <a:schemeClr val="dk1"/>
                          </a:solidFill>
                        </a:rPr>
                        <a:t>. البساطة والفهم السريع</a:t>
                      </a:r>
                      <a:endParaRPr lang="en-US" sz="2000" b="1" kern="1200" dirty="0">
                        <a:solidFill>
                          <a:schemeClr val="dk1"/>
                        </a:solidFill>
                      </a:endParaRPr>
                    </a:p>
                    <a:p>
                      <a:pPr marL="742950" marR="0" lvl="1" indent="-285750" algn="r" rtl="1">
                        <a:lnSpc>
                          <a:spcPct val="100000"/>
                        </a:lnSpc>
                        <a:buFont typeface="Courier New" panose="02070309020205020404" pitchFamily="49" charset="0"/>
                        <a:buChar char="o"/>
                      </a:pPr>
                      <a:r>
                        <a:rPr lang="ar-SA" sz="2000" b="1" kern="1200" dirty="0">
                          <a:solidFill>
                            <a:schemeClr val="dk1"/>
                          </a:solidFill>
                        </a:rPr>
                        <a:t>هيكل واضح وسهل الفهم ومناسبة للمطورين المبتدئين</a:t>
                      </a:r>
                      <a:endParaRPr lang="en-US" sz="2000" b="1" kern="1200" dirty="0">
                        <a:solidFill>
                          <a:schemeClr val="dk1"/>
                        </a:solidFill>
                      </a:endParaRPr>
                    </a:p>
                    <a:p>
                      <a:pPr marL="0" marR="0" algn="r" rtl="1">
                        <a:lnSpc>
                          <a:spcPct val="100000"/>
                        </a:lnSpc>
                        <a:spcAft>
                          <a:spcPts val="800"/>
                        </a:spcAft>
                        <a:buNone/>
                      </a:pPr>
                      <a:r>
                        <a:rPr lang="ar-SA" sz="2000" b="1" kern="1200" dirty="0">
                          <a:solidFill>
                            <a:schemeClr val="dk1"/>
                          </a:solidFill>
                        </a:rPr>
                        <a:t>2. مركزية البيانات</a:t>
                      </a:r>
                      <a:endParaRPr lang="en-US" sz="2000" b="1" kern="1200" dirty="0">
                        <a:solidFill>
                          <a:schemeClr val="dk1"/>
                        </a:solidFill>
                      </a:endParaRPr>
                    </a:p>
                    <a:p>
                      <a:pPr marL="742950" marR="0" lvl="1" indent="-285750" algn="r" rtl="1">
                        <a:lnSpc>
                          <a:spcPct val="100000"/>
                        </a:lnSpc>
                        <a:buFont typeface="Courier New" panose="02070309020205020404" pitchFamily="49" charset="0"/>
                        <a:buChar char="o"/>
                      </a:pPr>
                      <a:r>
                        <a:rPr lang="ar-SA" sz="2000" b="1" kern="1200" dirty="0">
                          <a:solidFill>
                            <a:schemeClr val="dk1"/>
                          </a:solidFill>
                        </a:rPr>
                        <a:t>مصدر وحيد للحقيقة وتناسق في البيانات</a:t>
                      </a:r>
                      <a:endParaRPr lang="en-US" sz="2000" b="1" kern="1200" dirty="0">
                        <a:solidFill>
                          <a:schemeClr val="dk1"/>
                        </a:solidFill>
                      </a:endParaRPr>
                    </a:p>
                    <a:p>
                      <a:pPr marL="0" marR="0" algn="r" rtl="1">
                        <a:lnSpc>
                          <a:spcPct val="100000"/>
                        </a:lnSpc>
                        <a:spcAft>
                          <a:spcPts val="800"/>
                        </a:spcAft>
                        <a:buNone/>
                      </a:pPr>
                      <a:r>
                        <a:rPr lang="ar-SA" sz="2000" b="1" kern="1200" dirty="0">
                          <a:solidFill>
                            <a:schemeClr val="dk1"/>
                          </a:solidFill>
                        </a:rPr>
                        <a:t>3. سرعة التطوير</a:t>
                      </a:r>
                      <a:endParaRPr lang="en-US" sz="2000" b="1" kern="1200" dirty="0">
                        <a:solidFill>
                          <a:schemeClr val="dk1"/>
                        </a:solidFill>
                      </a:endParaRPr>
                    </a:p>
                    <a:p>
                      <a:pPr marL="742950" marR="0" lvl="1" indent="-285750" algn="r" rtl="1">
                        <a:lnSpc>
                          <a:spcPct val="100000"/>
                        </a:lnSpc>
                        <a:buFont typeface="Courier New" panose="02070309020205020404" pitchFamily="49" charset="0"/>
                        <a:buChar char="o"/>
                      </a:pPr>
                      <a:r>
                        <a:rPr lang="ar-SA" sz="2000" b="1" kern="1200" dirty="0">
                          <a:solidFill>
                            <a:schemeClr val="dk1"/>
                          </a:solidFill>
                        </a:rPr>
                        <a:t>اتصالات مباشرة  وتقليل التعقيدات</a:t>
                      </a:r>
                      <a:endParaRPr lang="en-US" sz="2000" b="1" kern="1200" dirty="0">
                        <a:solidFill>
                          <a:schemeClr val="dk1"/>
                        </a:solidFill>
                      </a:endParaRPr>
                    </a:p>
                    <a:p>
                      <a:pPr marL="0" marR="0" algn="r" rtl="1">
                        <a:lnSpc>
                          <a:spcPct val="100000"/>
                        </a:lnSpc>
                        <a:spcAft>
                          <a:spcPts val="800"/>
                        </a:spcAft>
                        <a:buNone/>
                      </a:pPr>
                      <a:r>
                        <a:rPr lang="ar-SA" sz="2000" b="1" kern="1200" dirty="0">
                          <a:solidFill>
                            <a:schemeClr val="dk1"/>
                          </a:solidFill>
                        </a:rPr>
                        <a:t>4. مناسبة للتطبيقات المتوسطة</a:t>
                      </a:r>
                      <a:endParaRPr lang="en-US" sz="2000" b="1" kern="1200" dirty="0">
                        <a:solidFill>
                          <a:schemeClr val="dk1"/>
                        </a:solidFill>
                      </a:endParaRPr>
                    </a:p>
                    <a:p>
                      <a:pPr marL="742950" marR="0" lvl="1" indent="-285750" algn="r" rtl="1">
                        <a:lnSpc>
                          <a:spcPct val="100000"/>
                        </a:lnSpc>
                        <a:buFont typeface="Courier New" panose="02070309020205020404" pitchFamily="49" charset="0"/>
                        <a:buChar char="o"/>
                      </a:pPr>
                      <a:r>
                        <a:rPr lang="ar-SA" sz="2000" b="1" kern="1200" dirty="0">
                          <a:solidFill>
                            <a:schemeClr val="dk1"/>
                          </a:solidFill>
                        </a:rPr>
                        <a:t>حجم مناسب لهذا النمط وتوازن بين القوة والمرونة</a:t>
                      </a:r>
                      <a:endParaRPr lang="en-US" sz="2000" b="1" kern="1200" dirty="0">
                        <a:solidFill>
                          <a:schemeClr val="dk1"/>
                        </a:solidFill>
                      </a:endParaRPr>
                    </a:p>
                  </a:txBody>
                  <a:tcPr marL="68580" marR="68580" marT="0" marB="0"/>
                </a:tc>
                <a:tc>
                  <a:txBody>
                    <a:bodyPr/>
                    <a:lstStyle/>
                    <a:p>
                      <a:pPr marL="0" marR="0" algn="r" defTabSz="914400" rtl="1" eaLnBrk="1" latinLnBrk="0" hangingPunct="1">
                        <a:lnSpc>
                          <a:spcPct val="100000"/>
                        </a:lnSpc>
                        <a:spcAft>
                          <a:spcPts val="800"/>
                        </a:spcAft>
                        <a:buNone/>
                      </a:pPr>
                      <a:r>
                        <a:rPr lang="ar-SA" sz="2000" b="1" kern="100" dirty="0">
                          <a:solidFill>
                            <a:schemeClr val="tx1"/>
                          </a:solidFill>
                          <a:effectLst/>
                          <a:latin typeface="+mn-lt"/>
                          <a:ea typeface="+mn-ea"/>
                          <a:cs typeface="+mn-cs"/>
                        </a:rPr>
                        <a:t>1. الاقتران العالي</a:t>
                      </a:r>
                      <a:endParaRPr lang="en-US" sz="2000" b="1" kern="100" dirty="0">
                        <a:solidFill>
                          <a:schemeClr val="tx1"/>
                        </a:solidFill>
                        <a:effectLst/>
                        <a:latin typeface="+mn-lt"/>
                        <a:ea typeface="+mn-ea"/>
                        <a:cs typeface="+mn-cs"/>
                      </a:endParaRPr>
                    </a:p>
                    <a:p>
                      <a:pPr marL="742950" marR="0" lvl="1" indent="-285750" algn="r" defTabSz="914400" rtl="1" eaLnBrk="1" latinLnBrk="0" hangingPunct="1">
                        <a:lnSpc>
                          <a:spcPct val="100000"/>
                        </a:lnSpc>
                        <a:buFont typeface="Courier New" panose="02070309020205020404" pitchFamily="49" charset="0"/>
                        <a:buChar char="o"/>
                      </a:pPr>
                      <a:r>
                        <a:rPr lang="ar-SA" sz="2000" b="1" kern="100" dirty="0">
                          <a:solidFill>
                            <a:schemeClr val="tx1"/>
                          </a:solidFill>
                          <a:effectLst/>
                          <a:latin typeface="+mn-lt"/>
                          <a:ea typeface="+mn-ea"/>
                          <a:cs typeface="+mn-cs"/>
                        </a:rPr>
                        <a:t>صعوبة تغيير مكون دون التأثير على الآخرين</a:t>
                      </a:r>
                      <a:endParaRPr lang="en-US" sz="2000" b="1" kern="100" dirty="0">
                        <a:solidFill>
                          <a:schemeClr val="tx1"/>
                        </a:solidFill>
                        <a:effectLst/>
                        <a:latin typeface="+mn-lt"/>
                        <a:ea typeface="+mn-ea"/>
                        <a:cs typeface="+mn-cs"/>
                      </a:endParaRPr>
                    </a:p>
                    <a:p>
                      <a:pPr marL="0" marR="0" algn="r" defTabSz="914400" rtl="1" eaLnBrk="1" latinLnBrk="0" hangingPunct="1">
                        <a:lnSpc>
                          <a:spcPct val="100000"/>
                        </a:lnSpc>
                        <a:spcAft>
                          <a:spcPts val="800"/>
                        </a:spcAft>
                        <a:buNone/>
                      </a:pPr>
                      <a:r>
                        <a:rPr lang="ar-SA" sz="2000" b="1" kern="100" dirty="0">
                          <a:solidFill>
                            <a:schemeClr val="tx1"/>
                          </a:solidFill>
                          <a:effectLst/>
                          <a:latin typeface="+mn-lt"/>
                          <a:ea typeface="+mn-ea"/>
                          <a:cs typeface="+mn-cs"/>
                        </a:rPr>
                        <a:t>2. قابلية التوسع المحدودة</a:t>
                      </a:r>
                      <a:endParaRPr lang="en-US" sz="2000" b="1" kern="100" dirty="0">
                        <a:solidFill>
                          <a:schemeClr val="tx1"/>
                        </a:solidFill>
                        <a:effectLst/>
                        <a:latin typeface="+mn-lt"/>
                        <a:ea typeface="+mn-ea"/>
                        <a:cs typeface="+mn-cs"/>
                      </a:endParaRPr>
                    </a:p>
                    <a:p>
                      <a:pPr marL="742950" marR="0" lvl="1" indent="-285750" algn="r" defTabSz="914400" rtl="1" eaLnBrk="1" latinLnBrk="0" hangingPunct="1">
                        <a:lnSpc>
                          <a:spcPct val="100000"/>
                        </a:lnSpc>
                        <a:buFont typeface="Courier New" panose="02070309020205020404" pitchFamily="49" charset="0"/>
                        <a:buChar char="o"/>
                      </a:pPr>
                      <a:r>
                        <a:rPr lang="ar-SA" sz="2000" b="1" kern="100" dirty="0">
                          <a:solidFill>
                            <a:schemeClr val="tx1"/>
                          </a:solidFill>
                          <a:effectLst/>
                          <a:latin typeface="+mn-lt"/>
                          <a:ea typeface="+mn-ea"/>
                          <a:cs typeface="+mn-cs"/>
                        </a:rPr>
                        <a:t>مشاكل في التطبيقات الكبيرة جداً وصعوبة الإضافة المستقبلية</a:t>
                      </a:r>
                      <a:endParaRPr lang="en-US" sz="2000" b="1" kern="100" dirty="0">
                        <a:solidFill>
                          <a:schemeClr val="tx1"/>
                        </a:solidFill>
                        <a:effectLst/>
                        <a:latin typeface="+mn-lt"/>
                        <a:ea typeface="+mn-ea"/>
                        <a:cs typeface="+mn-cs"/>
                      </a:endParaRPr>
                    </a:p>
                    <a:p>
                      <a:pPr marL="0" marR="0" algn="r" defTabSz="914400" rtl="1" eaLnBrk="1" latinLnBrk="0" hangingPunct="1">
                        <a:lnSpc>
                          <a:spcPct val="100000"/>
                        </a:lnSpc>
                        <a:spcAft>
                          <a:spcPts val="800"/>
                        </a:spcAft>
                        <a:buNone/>
                      </a:pPr>
                      <a:r>
                        <a:rPr lang="ar-SA" sz="2000" b="1" kern="100" dirty="0">
                          <a:solidFill>
                            <a:schemeClr val="tx1"/>
                          </a:solidFill>
                          <a:effectLst/>
                          <a:latin typeface="+mn-lt"/>
                          <a:ea typeface="+mn-ea"/>
                          <a:cs typeface="+mn-cs"/>
                        </a:rPr>
                        <a:t>3. نقطة فشل وحيدة</a:t>
                      </a:r>
                      <a:endParaRPr lang="en-US" sz="2000" b="1" kern="100" dirty="0">
                        <a:solidFill>
                          <a:schemeClr val="tx1"/>
                        </a:solidFill>
                        <a:effectLst/>
                        <a:latin typeface="+mn-lt"/>
                        <a:ea typeface="+mn-ea"/>
                        <a:cs typeface="+mn-cs"/>
                      </a:endParaRPr>
                    </a:p>
                    <a:p>
                      <a:pPr marL="742950" marR="0" lvl="1" indent="-285750" algn="r" defTabSz="914400" rtl="1" eaLnBrk="1" latinLnBrk="0" hangingPunct="1">
                        <a:lnSpc>
                          <a:spcPct val="100000"/>
                        </a:lnSpc>
                        <a:buFont typeface="Courier New" panose="02070309020205020404" pitchFamily="49" charset="0"/>
                        <a:buChar char="o"/>
                      </a:pPr>
                      <a:r>
                        <a:rPr lang="ar-SA" sz="2000" b="1" kern="100" dirty="0">
                          <a:solidFill>
                            <a:schemeClr val="tx1"/>
                          </a:solidFill>
                          <a:effectLst/>
                          <a:latin typeface="+mn-lt"/>
                          <a:ea typeface="+mn-ea"/>
                          <a:cs typeface="+mn-cs"/>
                        </a:rPr>
                        <a:t>إذا فشل </a:t>
                      </a:r>
                      <a:r>
                        <a:rPr lang="en-US" sz="2000" b="1" kern="100" dirty="0">
                          <a:solidFill>
                            <a:schemeClr val="tx1"/>
                          </a:solidFill>
                          <a:effectLst/>
                          <a:latin typeface="+mn-lt"/>
                          <a:ea typeface="+mn-ea"/>
                          <a:cs typeface="+mn-cs"/>
                        </a:rPr>
                        <a:t>Singleton</a:t>
                      </a:r>
                      <a:r>
                        <a:rPr lang="ar-SA" sz="2000" b="1" kern="100" dirty="0">
                          <a:solidFill>
                            <a:schemeClr val="tx1"/>
                          </a:solidFill>
                          <a:effectLst/>
                          <a:latin typeface="+mn-lt"/>
                          <a:ea typeface="+mn-ea"/>
                          <a:cs typeface="+mn-cs"/>
                        </a:rPr>
                        <a:t>، يفشل النظام خصوصاً تحت الضغط</a:t>
                      </a:r>
                      <a:endParaRPr lang="en-US" sz="2000" b="1" kern="100" dirty="0">
                        <a:solidFill>
                          <a:schemeClr val="tx1"/>
                        </a:solidFill>
                        <a:effectLst/>
                        <a:latin typeface="+mn-lt"/>
                        <a:ea typeface="+mn-ea"/>
                        <a:cs typeface="+mn-cs"/>
                      </a:endParaRPr>
                    </a:p>
                    <a:p>
                      <a:pPr marL="0" marR="0" algn="r" defTabSz="914400" rtl="1" eaLnBrk="1" latinLnBrk="0" hangingPunct="1">
                        <a:lnSpc>
                          <a:spcPct val="100000"/>
                        </a:lnSpc>
                        <a:spcAft>
                          <a:spcPts val="800"/>
                        </a:spcAft>
                        <a:buNone/>
                      </a:pPr>
                      <a:r>
                        <a:rPr lang="ar-SA" sz="2000" b="1" kern="100" dirty="0">
                          <a:solidFill>
                            <a:schemeClr val="tx1"/>
                          </a:solidFill>
                          <a:effectLst/>
                          <a:latin typeface="+mn-lt"/>
                          <a:ea typeface="+mn-ea"/>
                          <a:cs typeface="+mn-cs"/>
                        </a:rPr>
                        <a:t>4. صعوبة الصيانة طويلة الأمد</a:t>
                      </a:r>
                      <a:endParaRPr lang="en-US" sz="2000" b="1" kern="100" dirty="0">
                        <a:solidFill>
                          <a:schemeClr val="tx1"/>
                        </a:solidFill>
                        <a:effectLst/>
                        <a:latin typeface="+mn-lt"/>
                        <a:ea typeface="+mn-ea"/>
                        <a:cs typeface="+mn-cs"/>
                      </a:endParaRPr>
                    </a:p>
                    <a:p>
                      <a:pPr marL="742950" marR="0" lvl="1" indent="-285750" algn="r" defTabSz="914400" rtl="1" eaLnBrk="1" latinLnBrk="0" hangingPunct="1">
                        <a:lnSpc>
                          <a:spcPct val="100000"/>
                        </a:lnSpc>
                        <a:buFont typeface="Courier New" panose="02070309020205020404" pitchFamily="49" charset="0"/>
                        <a:buChar char="o"/>
                      </a:pPr>
                      <a:r>
                        <a:rPr lang="ar-SA" sz="2000" b="1" kern="100" dirty="0">
                          <a:solidFill>
                            <a:schemeClr val="tx1"/>
                          </a:solidFill>
                          <a:effectLst/>
                          <a:latin typeface="+mn-lt"/>
                          <a:ea typeface="+mn-ea"/>
                          <a:cs typeface="+mn-cs"/>
                        </a:rPr>
                        <a:t> مع نمو النظام، تزداد التعقيدات وصعوبة إعادة الهيكلة</a:t>
                      </a:r>
                      <a:endParaRPr lang="en-US" sz="2000" b="1" kern="1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3562716444"/>
                  </a:ext>
                </a:extLst>
              </a:tr>
            </a:tbl>
          </a:graphicData>
        </a:graphic>
      </p:graphicFrame>
      <p:sp>
        <p:nvSpPr>
          <p:cNvPr id="5" name="مربع نص 4">
            <a:extLst>
              <a:ext uri="{FF2B5EF4-FFF2-40B4-BE49-F238E27FC236}">
                <a16:creationId xmlns:a16="http://schemas.microsoft.com/office/drawing/2014/main" id="{427E77A5-8DA1-76E5-A24E-584562940929}"/>
              </a:ext>
            </a:extLst>
          </p:cNvPr>
          <p:cNvSpPr txBox="1"/>
          <p:nvPr/>
        </p:nvSpPr>
        <p:spPr>
          <a:xfrm>
            <a:off x="5495925" y="0"/>
            <a:ext cx="6134100" cy="769441"/>
          </a:xfrm>
          <a:prstGeom prst="rect">
            <a:avLst/>
          </a:prstGeom>
          <a:noFill/>
        </p:spPr>
        <p:txBody>
          <a:bodyPr wrap="square">
            <a:spAutoFit/>
          </a:bodyPr>
          <a:lstStyle/>
          <a:p>
            <a:r>
              <a:rPr lang="ar-SA" sz="44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ميزات وعيوب </a:t>
            </a:r>
            <a:r>
              <a:rPr lang="en-US" sz="44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SCMHA:</a:t>
            </a:r>
            <a:endParaRPr lang="ar-SA" sz="4400" b="1" kern="100" dirty="0">
              <a:solidFill>
                <a:srgbClr val="C2A33E"/>
              </a:solidFill>
              <a:latin typeface="Calibri" panose="020F0502020204030204" pitchFamily="34" charset="0"/>
              <a:ea typeface="Calibri" panose="020F0502020204030204" pitchFamily="34" charset="0"/>
              <a:cs typeface="Arial" panose="020B0604020202020204" pitchFamily="34" charset="0"/>
            </a:endParaRPr>
          </a:p>
        </p:txBody>
      </p:sp>
      <p:sp>
        <p:nvSpPr>
          <p:cNvPr id="6" name="مستطيل: زوايا مستديرة 5">
            <a:extLst>
              <a:ext uri="{FF2B5EF4-FFF2-40B4-BE49-F238E27FC236}">
                <a16:creationId xmlns:a16="http://schemas.microsoft.com/office/drawing/2014/main" id="{4E281104-0179-C16C-0FA5-0B0E8401AA2A}"/>
              </a:ext>
            </a:extLst>
          </p:cNvPr>
          <p:cNvSpPr/>
          <p:nvPr/>
        </p:nvSpPr>
        <p:spPr>
          <a:xfrm>
            <a:off x="142875" y="4576387"/>
            <a:ext cx="11671299" cy="1933809"/>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a:r>
              <a:rPr lang="ar-SA" sz="3200" dirty="0">
                <a:solidFill>
                  <a:schemeClr val="tx1"/>
                </a:solidFill>
              </a:rPr>
              <a:t> هي معمارية عملية وواقعية لتطبيقات الأعمال المتوسطة، تجمع بين: قوة المركزية في إدارة البيانات وتنظيم </a:t>
            </a:r>
            <a:r>
              <a:rPr lang="en-US" sz="3200" dirty="0">
                <a:solidFill>
                  <a:schemeClr val="tx1"/>
                </a:solidFill>
              </a:rPr>
              <a:t>MVC</a:t>
            </a:r>
            <a:r>
              <a:rPr lang="ar-SA" sz="3200" dirty="0">
                <a:solidFill>
                  <a:schemeClr val="tx1"/>
                </a:solidFill>
              </a:rPr>
              <a:t> في هيكلة التطبيق والمرونة الهجينة في التصميم</a:t>
            </a:r>
            <a:r>
              <a:rPr lang="ar-SA" sz="2400" dirty="0">
                <a:solidFill>
                  <a:schemeClr val="tx1"/>
                </a:solidFill>
              </a:rPr>
              <a:t>  </a:t>
            </a:r>
            <a:r>
              <a:rPr lang="ar-SA" sz="3200" dirty="0">
                <a:solidFill>
                  <a:schemeClr val="tx1"/>
                </a:solidFill>
              </a:rPr>
              <a:t>وواقعية الاقتران في التنفيذ</a:t>
            </a:r>
            <a:r>
              <a:rPr lang="ar-SA" sz="2400" dirty="0">
                <a:solidFill>
                  <a:schemeClr val="tx1"/>
                </a:solidFill>
              </a:rPr>
              <a:t> </a:t>
            </a:r>
            <a:r>
              <a:rPr lang="ar-SA" sz="3200" dirty="0">
                <a:solidFill>
                  <a:schemeClr val="tx1"/>
                </a:solidFill>
              </a:rPr>
              <a:t>وبالتالي هي ليست الأفضل نظرياً، لكنها الأفضل عملياً لكثير من مشاريع سطح المكتب التجارية.</a:t>
            </a:r>
            <a:endParaRPr lang="en-US" sz="2400" dirty="0">
              <a:solidFill>
                <a:schemeClr val="tx1"/>
              </a:solidFill>
            </a:endParaRPr>
          </a:p>
        </p:txBody>
      </p:sp>
    </p:spTree>
    <p:extLst>
      <p:ext uri="{BB962C8B-B14F-4D97-AF65-F5344CB8AC3E}">
        <p14:creationId xmlns:p14="http://schemas.microsoft.com/office/powerpoint/2010/main" val="246799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1CD49DA5-B175-D27B-BFDF-4B2A39FBA730}"/>
            </a:ext>
          </a:extLst>
        </p:cNvPr>
        <p:cNvGrpSpPr/>
        <p:nvPr/>
      </p:nvGrpSpPr>
      <p:grpSpPr>
        <a:xfrm>
          <a:off x="0" y="0"/>
          <a:ext cx="0" cy="0"/>
          <a:chOff x="0" y="0"/>
          <a:chExt cx="0" cy="0"/>
        </a:xfrm>
      </p:grpSpPr>
      <p:sp>
        <p:nvSpPr>
          <p:cNvPr id="8" name="مربع نص 7">
            <a:extLst>
              <a:ext uri="{FF2B5EF4-FFF2-40B4-BE49-F238E27FC236}">
                <a16:creationId xmlns:a16="http://schemas.microsoft.com/office/drawing/2014/main" id="{077D0597-F670-20F6-4EFE-2BAE545C1C88}"/>
              </a:ext>
            </a:extLst>
          </p:cNvPr>
          <p:cNvSpPr txBox="1"/>
          <p:nvPr/>
        </p:nvSpPr>
        <p:spPr>
          <a:xfrm>
            <a:off x="-1743075" y="5262199"/>
            <a:ext cx="8896350" cy="1111974"/>
          </a:xfrm>
          <a:prstGeom prst="rect">
            <a:avLst/>
          </a:prstGeom>
        </p:spPr>
        <p:txBody>
          <a:bodyPr anchor="t">
            <a:normAutofit/>
          </a:bodyPr>
          <a:lstStyle/>
          <a:p>
            <a:pPr>
              <a:spcAft>
                <a:spcPts val="800"/>
              </a:spcAft>
            </a:pPr>
            <a:r>
              <a:rPr lang="ar-SA" sz="6000" b="1" kern="100" dirty="0">
                <a:solidFill>
                  <a:srgbClr val="C2A33E"/>
                </a:solidFill>
                <a:latin typeface="Calibri" panose="020F0502020204030204" pitchFamily="34" charset="0"/>
                <a:ea typeface="Calibri" panose="020F0502020204030204" pitchFamily="34" charset="0"/>
                <a:cs typeface="Arial" panose="020B0604020202020204" pitchFamily="34" charset="0"/>
              </a:rPr>
              <a:t>الأدوات والمكتبات الأساسية </a:t>
            </a:r>
            <a:endParaRPr lang="en-US" sz="6000" b="1" kern="100" dirty="0">
              <a:solidFill>
                <a:srgbClr val="C2A33E"/>
              </a:solidFill>
              <a:latin typeface="Calibri" panose="020F0502020204030204" pitchFamily="34" charset="0"/>
              <a:ea typeface="Calibri" panose="020F0502020204030204" pitchFamily="34" charset="0"/>
              <a:cs typeface="Arial" panose="020B0604020202020204" pitchFamily="34" charset="0"/>
            </a:endParaRPr>
          </a:p>
        </p:txBody>
      </p:sp>
      <p:sp>
        <p:nvSpPr>
          <p:cNvPr id="4" name="مربع نص 3">
            <a:extLst>
              <a:ext uri="{FF2B5EF4-FFF2-40B4-BE49-F238E27FC236}">
                <a16:creationId xmlns:a16="http://schemas.microsoft.com/office/drawing/2014/main" id="{1CE926E4-879D-1CC5-77B4-87A50135A30C}"/>
              </a:ext>
            </a:extLst>
          </p:cNvPr>
          <p:cNvSpPr txBox="1"/>
          <p:nvPr/>
        </p:nvSpPr>
        <p:spPr>
          <a:xfrm>
            <a:off x="2574925" y="310357"/>
            <a:ext cx="9156700" cy="6237285"/>
          </a:xfrm>
          <a:prstGeom prst="rect">
            <a:avLst/>
          </a:prstGeom>
          <a:noFill/>
        </p:spPr>
        <p:txBody>
          <a:bodyPr wrap="square" rtlCol="1">
            <a:spAutoFit/>
          </a:bodyPr>
          <a:lstStyle/>
          <a:p>
            <a:pPr marL="342900" lvl="0" indent="-342900">
              <a:lnSpc>
                <a:spcPct val="200000"/>
              </a:lnSpc>
              <a:buFont typeface="Arial" panose="020B0604020202020204" pitchFamily="34" charset="0"/>
              <a:buChar char="•"/>
            </a:pPr>
            <a:r>
              <a:rPr lang="ar-SA" sz="2800" b="1" dirty="0"/>
              <a:t>لغة البرمجة الرئيسية:</a:t>
            </a:r>
            <a:r>
              <a:rPr lang="en-US" sz="2800" b="1" dirty="0"/>
              <a:t> Python 3.x - </a:t>
            </a:r>
            <a:r>
              <a:rPr lang="ar-SA" sz="2800" b="1" dirty="0"/>
              <a:t>لغة التطوير الأساسية </a:t>
            </a:r>
            <a:endParaRPr lang="en-US" sz="2800" b="1" dirty="0"/>
          </a:p>
          <a:p>
            <a:pPr marL="342900" lvl="0" indent="-342900">
              <a:lnSpc>
                <a:spcPct val="200000"/>
              </a:lnSpc>
              <a:buFont typeface="Arial" panose="020B0604020202020204" pitchFamily="34" charset="0"/>
              <a:buChar char="•"/>
            </a:pPr>
            <a:r>
              <a:rPr lang="ar-SA" sz="2800" b="1" dirty="0"/>
              <a:t>إطار عمل الواجهة الرسومية: </a:t>
            </a:r>
            <a:r>
              <a:rPr lang="en-US" sz="2800" b="1" dirty="0"/>
              <a:t>PyQt5</a:t>
            </a:r>
            <a:r>
              <a:rPr lang="ar-SA" sz="2800" b="1" dirty="0"/>
              <a:t>لبناء واجهات المستخدم المتقدمة </a:t>
            </a:r>
            <a:endParaRPr lang="en-US" sz="2800" b="1" dirty="0"/>
          </a:p>
          <a:p>
            <a:pPr marL="342900" lvl="0" indent="-342900">
              <a:lnSpc>
                <a:spcPct val="200000"/>
              </a:lnSpc>
              <a:buFont typeface="Arial" panose="020B0604020202020204" pitchFamily="34" charset="0"/>
              <a:buChar char="•"/>
            </a:pPr>
            <a:r>
              <a:rPr lang="ar-SA" sz="2800" b="1" dirty="0"/>
              <a:t>نظام قاعدة البيانات</a:t>
            </a:r>
            <a:r>
              <a:rPr lang="en-US" sz="2800" b="1" dirty="0"/>
              <a:t> SQLite3: </a:t>
            </a:r>
            <a:r>
              <a:rPr lang="ar-SA" sz="2800" b="1" dirty="0"/>
              <a:t>قاعدة البيانات المحلية المضمنة</a:t>
            </a:r>
            <a:r>
              <a:rPr lang="ar-SA" sz="3600" b="1" dirty="0"/>
              <a:t> </a:t>
            </a:r>
          </a:p>
          <a:p>
            <a:pPr marL="342900" indent="-342900">
              <a:lnSpc>
                <a:spcPct val="200000"/>
              </a:lnSpc>
              <a:buFont typeface="Arial" panose="020B0604020202020204" pitchFamily="34" charset="0"/>
              <a:buChar char="•"/>
            </a:pPr>
            <a:r>
              <a:rPr lang="en-US" sz="2800" b="1" dirty="0"/>
              <a:t> </a:t>
            </a:r>
            <a:r>
              <a:rPr lang="en-US" sz="2800" b="1" dirty="0" err="1"/>
              <a:t>hashlib</a:t>
            </a:r>
            <a:r>
              <a:rPr lang="en-US" sz="2800" b="1" dirty="0"/>
              <a:t> </a:t>
            </a:r>
            <a:r>
              <a:rPr lang="ar-SA" sz="2800" b="1" dirty="0"/>
              <a:t>لتشفير كلمات المرور</a:t>
            </a:r>
            <a:endParaRPr lang="en-US" sz="2800" b="1" dirty="0"/>
          </a:p>
          <a:p>
            <a:pPr marL="342900" lvl="0" indent="-342900">
              <a:lnSpc>
                <a:spcPct val="200000"/>
              </a:lnSpc>
              <a:buFont typeface="Arial" panose="020B0604020202020204" pitchFamily="34" charset="0"/>
              <a:buChar char="•"/>
            </a:pPr>
            <a:r>
              <a:rPr lang="en-US" sz="2800" b="1" dirty="0"/>
              <a:t> sys </a:t>
            </a:r>
            <a:r>
              <a:rPr lang="ar-SA" sz="2800" b="1" dirty="0"/>
              <a:t>للتحكم بعمليات النظام</a:t>
            </a:r>
          </a:p>
          <a:p>
            <a:pPr marL="342900" lvl="0" indent="-342900">
              <a:lnSpc>
                <a:spcPct val="200000"/>
              </a:lnSpc>
              <a:buFont typeface="Arial" panose="020B0604020202020204" pitchFamily="34" charset="0"/>
              <a:buChar char="•"/>
            </a:pPr>
            <a:r>
              <a:rPr lang="en-US" sz="2800" b="1" dirty="0"/>
              <a:t> OS  </a:t>
            </a:r>
            <a:r>
              <a:rPr lang="ar-SA" sz="2800" b="1" dirty="0"/>
              <a:t>للتعامل مع نظام الملفات</a:t>
            </a:r>
          </a:p>
          <a:p>
            <a:pPr marL="342900" lvl="0" indent="-342900">
              <a:lnSpc>
                <a:spcPct val="200000"/>
              </a:lnSpc>
              <a:buFont typeface="Arial" panose="020B0604020202020204" pitchFamily="34" charset="0"/>
              <a:buChar char="•"/>
            </a:pPr>
            <a:endParaRPr lang="ar-SA" sz="2800" b="1" dirty="0"/>
          </a:p>
        </p:txBody>
      </p:sp>
    </p:spTree>
    <p:extLst>
      <p:ext uri="{BB962C8B-B14F-4D97-AF65-F5344CB8AC3E}">
        <p14:creationId xmlns:p14="http://schemas.microsoft.com/office/powerpoint/2010/main" val="4096235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2E171ED0-4DA8-F105-2037-FA7E29306F33}"/>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F772A353-2474-FEC5-3BE2-91D0CA0A4AE0}"/>
              </a:ext>
            </a:extLst>
          </p:cNvPr>
          <p:cNvSpPr txBox="1"/>
          <p:nvPr/>
        </p:nvSpPr>
        <p:spPr>
          <a:xfrm>
            <a:off x="6724650" y="12125"/>
            <a:ext cx="5321300" cy="584775"/>
          </a:xfrm>
          <a:prstGeom prst="rect">
            <a:avLst/>
          </a:prstGeom>
          <a:noFill/>
        </p:spPr>
        <p:txBody>
          <a:bodyPr wrap="square" rtlCol="1">
            <a:spAutoFit/>
          </a:bodyPr>
          <a:lstStyle/>
          <a:p>
            <a:r>
              <a:rPr lang="en-US" sz="3200" b="1" u="sng" dirty="0">
                <a:solidFill>
                  <a:srgbClr val="B99A3A"/>
                </a:solidFill>
              </a:rPr>
              <a:t>UC-001</a:t>
            </a:r>
            <a:r>
              <a:rPr lang="ar-SY" sz="3200" b="1" u="sng" dirty="0">
                <a:solidFill>
                  <a:srgbClr val="B99A3A"/>
                </a:solidFill>
              </a:rPr>
              <a:t>: تسجيل الدخول الى النظام</a:t>
            </a:r>
            <a:endParaRPr lang="en-US" sz="3200" dirty="0">
              <a:solidFill>
                <a:srgbClr val="B99A3A"/>
              </a:solidFill>
            </a:endParaRPr>
          </a:p>
        </p:txBody>
      </p:sp>
      <p:graphicFrame>
        <p:nvGraphicFramePr>
          <p:cNvPr id="7" name="جدول 6">
            <a:extLst>
              <a:ext uri="{FF2B5EF4-FFF2-40B4-BE49-F238E27FC236}">
                <a16:creationId xmlns:a16="http://schemas.microsoft.com/office/drawing/2014/main" id="{B8B46100-73E7-484D-B7E1-CFB410F5B580}"/>
              </a:ext>
            </a:extLst>
          </p:cNvPr>
          <p:cNvGraphicFramePr>
            <a:graphicFrameLocks noGrp="1"/>
          </p:cNvGraphicFramePr>
          <p:nvPr>
            <p:extLst>
              <p:ext uri="{D42A27DB-BD31-4B8C-83A1-F6EECF244321}">
                <p14:modId xmlns:p14="http://schemas.microsoft.com/office/powerpoint/2010/main" val="3885689321"/>
              </p:ext>
            </p:extLst>
          </p:nvPr>
        </p:nvGraphicFramePr>
        <p:xfrm>
          <a:off x="350196" y="596900"/>
          <a:ext cx="11468910" cy="6165028"/>
        </p:xfrm>
        <a:graphic>
          <a:graphicData uri="http://schemas.openxmlformats.org/drawingml/2006/table">
            <a:tbl>
              <a:tblPr firstRow="1" firstCol="1" lastRow="1" lastCol="1" bandRow="1" bandCol="1">
                <a:tableStyleId>{2D5ABB26-0587-4C30-8999-92F81FD0307C}</a:tableStyleId>
              </a:tblPr>
              <a:tblGrid>
                <a:gridCol w="9023879">
                  <a:extLst>
                    <a:ext uri="{9D8B030D-6E8A-4147-A177-3AD203B41FA5}">
                      <a16:colId xmlns:a16="http://schemas.microsoft.com/office/drawing/2014/main" val="1304464569"/>
                    </a:ext>
                  </a:extLst>
                </a:gridCol>
                <a:gridCol w="2445031">
                  <a:extLst>
                    <a:ext uri="{9D8B030D-6E8A-4147-A177-3AD203B41FA5}">
                      <a16:colId xmlns:a16="http://schemas.microsoft.com/office/drawing/2014/main" val="184222304"/>
                    </a:ext>
                  </a:extLst>
                </a:gridCol>
              </a:tblGrid>
              <a:tr h="362471">
                <a:tc>
                  <a:txBody>
                    <a:bodyPr/>
                    <a:lstStyle/>
                    <a:p>
                      <a:pPr marL="90805" marR="59055" algn="r" defTabSz="914400" rtl="0" eaLnBrk="1" latinLnBrk="0" hangingPunct="1">
                        <a:lnSpc>
                          <a:spcPct val="150000"/>
                        </a:lnSpc>
                        <a:spcAft>
                          <a:spcPts val="800"/>
                        </a:spcAft>
                        <a:buNone/>
                      </a:pPr>
                      <a:r>
                        <a:rPr lang="en-US" sz="1100" b="1" kern="1200" dirty="0">
                          <a:solidFill>
                            <a:schemeClr val="dk1"/>
                          </a:solidFill>
                          <a:effectLst/>
                          <a:latin typeface="+mn-lt"/>
                          <a:ea typeface="+mn-ea"/>
                          <a:cs typeface="+mn-cs"/>
                        </a:rPr>
                        <a:t>UC-</a:t>
                      </a:r>
                      <a:r>
                        <a:rPr lang="en-US" sz="1200" b="1" kern="1200" dirty="0">
                          <a:solidFill>
                            <a:schemeClr val="dk1"/>
                          </a:solidFill>
                          <a:effectLst/>
                          <a:latin typeface="+mn-lt"/>
                          <a:ea typeface="+mn-ea"/>
                          <a:cs typeface="+mn-cs"/>
                        </a:rPr>
                        <a:t>0</a:t>
                      </a:r>
                      <a:r>
                        <a:rPr lang="ar-SA" sz="1100" b="1" kern="1200" dirty="0">
                          <a:solidFill>
                            <a:schemeClr val="dk1"/>
                          </a:solidFill>
                          <a:effectLst/>
                          <a:latin typeface="+mn-lt"/>
                          <a:ea typeface="+mn-ea"/>
                          <a:cs typeface="+mn-cs"/>
                        </a:rPr>
                        <a:t>01</a:t>
                      </a:r>
                      <a:endParaRPr lang="en-US" sz="1100" b="1" kern="1200" dirty="0">
                        <a:solidFill>
                          <a:schemeClr val="dk1"/>
                        </a:solidFill>
                        <a:effectLst/>
                        <a:latin typeface="+mn-lt"/>
                        <a:ea typeface="+mn-ea"/>
                        <a:cs typeface="+mn-cs"/>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360057">
                <a:tc>
                  <a:txBody>
                    <a:bodyPr/>
                    <a:lstStyle/>
                    <a:p>
                      <a:pPr marL="90805" marR="59055" algn="r" defTabSz="914400" rtl="1" eaLnBrk="1" latinLnBrk="0" hangingPunct="1">
                        <a:lnSpc>
                          <a:spcPct val="150000"/>
                        </a:lnSpc>
                        <a:spcBef>
                          <a:spcPts val="405"/>
                        </a:spcBef>
                        <a:spcAft>
                          <a:spcPts val="800"/>
                        </a:spcAft>
                        <a:buNone/>
                      </a:pPr>
                      <a:r>
                        <a:rPr lang="ar-SY" sz="1100" b="1" kern="1200" dirty="0">
                          <a:solidFill>
                            <a:schemeClr val="dk1"/>
                          </a:solidFill>
                          <a:effectLst/>
                          <a:latin typeface="+mn-lt"/>
                          <a:ea typeface="+mn-ea"/>
                          <a:cs typeface="+mn-cs"/>
                        </a:rPr>
                        <a:t>تسجيل الدخول الى النظام</a:t>
                      </a:r>
                      <a:endParaRPr lang="en-US" sz="1100" b="1" kern="1200" dirty="0">
                        <a:solidFill>
                          <a:schemeClr val="dk1"/>
                        </a:solidFill>
                        <a:effectLst/>
                        <a:latin typeface="+mn-lt"/>
                        <a:ea typeface="+mn-ea"/>
                        <a:cs typeface="+mn-cs"/>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60057">
                <a:tc>
                  <a:txBody>
                    <a:bodyPr/>
                    <a:lstStyle/>
                    <a:p>
                      <a:pPr marL="90805" marR="59055" algn="r" defTabSz="914400" rtl="1" eaLnBrk="1" latinLnBrk="0" hangingPunct="1">
                        <a:lnSpc>
                          <a:spcPct val="150000"/>
                        </a:lnSpc>
                        <a:spcAft>
                          <a:spcPts val="800"/>
                        </a:spcAft>
                        <a:buNone/>
                      </a:pPr>
                      <a:r>
                        <a:rPr lang="ar-SA" sz="1100" b="1" kern="1200" dirty="0">
                          <a:solidFill>
                            <a:schemeClr val="dk1"/>
                          </a:solidFill>
                          <a:effectLst/>
                          <a:latin typeface="+mn-lt"/>
                          <a:ea typeface="+mn-ea"/>
                          <a:cs typeface="+mn-cs"/>
                        </a:rPr>
                        <a:t>الصيدلي</a:t>
                      </a:r>
                      <a:endParaRPr lang="en-US" sz="1100" b="1" kern="1200" dirty="0">
                        <a:solidFill>
                          <a:schemeClr val="dk1"/>
                        </a:solidFill>
                        <a:effectLst/>
                        <a:latin typeface="+mn-lt"/>
                        <a:ea typeface="+mn-ea"/>
                        <a:cs typeface="+mn-cs"/>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360057">
                <a:tc>
                  <a:txBody>
                    <a:bodyPr/>
                    <a:lstStyle/>
                    <a:p>
                      <a:pPr marL="90805" marR="59055" algn="r" defTabSz="914400" rtl="1" eaLnBrk="1" latinLnBrk="0" hangingPunct="1">
                        <a:lnSpc>
                          <a:spcPct val="150000"/>
                        </a:lnSpc>
                        <a:spcAft>
                          <a:spcPts val="800"/>
                        </a:spcAft>
                        <a:buNone/>
                      </a:pPr>
                      <a:r>
                        <a:rPr lang="ar-SA" sz="1100" b="1" kern="1200" dirty="0">
                          <a:solidFill>
                            <a:schemeClr val="dk1"/>
                          </a:solidFill>
                          <a:effectLst/>
                          <a:latin typeface="+mn-lt"/>
                          <a:ea typeface="+mn-ea"/>
                          <a:cs typeface="+mn-cs"/>
                        </a:rPr>
                        <a:t>ان يكون المستخدم مسجلاً مسبقاً في قاعدة بيانات النظام </a:t>
                      </a:r>
                      <a:endParaRPr lang="en-US" sz="1100" b="1" kern="1200" dirty="0">
                        <a:solidFill>
                          <a:schemeClr val="dk1"/>
                        </a:solidFill>
                        <a:effectLst/>
                        <a:latin typeface="+mn-lt"/>
                        <a:ea typeface="+mn-ea"/>
                        <a:cs typeface="+mn-cs"/>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705475">
                <a:tc>
                  <a:txBody>
                    <a:bodyPr/>
                    <a:lstStyle/>
                    <a:p>
                      <a:pPr marL="90805" marR="59055" lvl="0" indent="0" algn="r" defTabSz="914400" rtl="1" eaLnBrk="1" latinLnBrk="0" hangingPunct="1">
                        <a:lnSpc>
                          <a:spcPct val="150000"/>
                        </a:lnSpc>
                        <a:spcAft>
                          <a:spcPts val="800"/>
                        </a:spcAft>
                        <a:buFont typeface="+mj-lt"/>
                        <a:buNone/>
                      </a:pPr>
                      <a:r>
                        <a:rPr lang="ar-SA" sz="1200" b="1" kern="1200" dirty="0">
                          <a:solidFill>
                            <a:schemeClr val="dk1"/>
                          </a:solidFill>
                          <a:effectLst/>
                          <a:latin typeface="+mn-lt"/>
                          <a:ea typeface="+mn-ea"/>
                          <a:cs typeface="+mn-cs"/>
                        </a:rPr>
                        <a:t>يفتح المستخدم واجهة النظام</a:t>
                      </a:r>
                      <a:endParaRPr lang="en-US" sz="12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A" sz="1200" b="1" kern="1200" dirty="0">
                          <a:solidFill>
                            <a:schemeClr val="dk1"/>
                          </a:solidFill>
                          <a:effectLst/>
                          <a:latin typeface="+mn-lt"/>
                          <a:ea typeface="+mn-ea"/>
                          <a:cs typeface="+mn-cs"/>
                        </a:rPr>
                        <a:t>يدخل اسم المستخدم وكلمة المرور</a:t>
                      </a:r>
                      <a:endParaRPr lang="en-US" sz="12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A" sz="1200" b="1" kern="1200" dirty="0">
                          <a:solidFill>
                            <a:schemeClr val="dk1"/>
                          </a:solidFill>
                          <a:effectLst/>
                          <a:latin typeface="+mn-lt"/>
                          <a:ea typeface="+mn-ea"/>
                          <a:cs typeface="+mn-cs"/>
                        </a:rPr>
                        <a:t>يضغط على كلمة "تسجيل الدخول"</a:t>
                      </a:r>
                      <a:endParaRPr lang="en-US" sz="12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A" sz="1200" b="1" kern="1200" dirty="0">
                          <a:solidFill>
                            <a:schemeClr val="dk1"/>
                          </a:solidFill>
                          <a:effectLst/>
                          <a:latin typeface="+mn-lt"/>
                          <a:ea typeface="+mn-ea"/>
                          <a:cs typeface="+mn-cs"/>
                        </a:rPr>
                        <a:t>النظام يتحقق من صحة بيانات الاعتماد</a:t>
                      </a:r>
                      <a:endParaRPr lang="en-US" sz="12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A" sz="1200" b="1" kern="1200" dirty="0">
                          <a:solidFill>
                            <a:schemeClr val="dk1"/>
                          </a:solidFill>
                          <a:effectLst/>
                          <a:latin typeface="+mn-lt"/>
                          <a:ea typeface="+mn-ea"/>
                          <a:cs typeface="+mn-cs"/>
                        </a:rPr>
                        <a:t>إذا كانت صحيحة</a:t>
                      </a:r>
                      <a:r>
                        <a:rPr lang="ar-SY" sz="1200" b="1" kern="1200" dirty="0">
                          <a:solidFill>
                            <a:schemeClr val="dk1"/>
                          </a:solidFill>
                          <a:effectLst/>
                          <a:latin typeface="+mn-lt"/>
                          <a:ea typeface="+mn-ea"/>
                          <a:cs typeface="+mn-cs"/>
                        </a:rPr>
                        <a:t> يتم توجيه المستخدم الى الشاشة الرئيسية حسب صلاحياته </a:t>
                      </a:r>
                      <a:endParaRPr lang="en-US" sz="1200" b="1" kern="1200" dirty="0">
                        <a:solidFill>
                          <a:schemeClr val="dk1"/>
                        </a:solidFill>
                        <a:effectLst/>
                        <a:latin typeface="+mn-lt"/>
                        <a:ea typeface="+mn-ea"/>
                        <a:cs typeface="+mn-cs"/>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426087">
                <a:tc>
                  <a:txBody>
                    <a:bodyPr/>
                    <a:lstStyle/>
                    <a:p>
                      <a:pPr marL="90805" marR="59055" algn="r" defTabSz="914400" rtl="1" eaLnBrk="1" latinLnBrk="0" hangingPunct="1">
                        <a:lnSpc>
                          <a:spcPct val="150000"/>
                        </a:lnSpc>
                        <a:spcAft>
                          <a:spcPts val="800"/>
                        </a:spcAft>
                        <a:buNone/>
                      </a:pPr>
                      <a:r>
                        <a:rPr lang="ar-SY" sz="1050" b="1" kern="1200" dirty="0">
                          <a:solidFill>
                            <a:schemeClr val="dk1"/>
                          </a:solidFill>
                          <a:effectLst/>
                          <a:latin typeface="+mn-lt"/>
                          <a:ea typeface="+mn-ea"/>
                          <a:cs typeface="+mn-cs"/>
                        </a:rPr>
                        <a:t>في حال نسيان كلمة المرور يختار المستخدم خيار "نسيت كلمة المرور" ويتم ارسال رابط او رمز للتحقق. وفي حال تغيير كلمة المرور يطلب النظام إدخال القديمة والجديدة للتحديث </a:t>
                      </a:r>
                      <a:endParaRPr lang="ar-SA" sz="1050" b="1" kern="1200" dirty="0">
                        <a:solidFill>
                          <a:schemeClr val="dk1"/>
                        </a:solidFill>
                        <a:effectLst/>
                        <a:latin typeface="+mn-lt"/>
                        <a:ea typeface="+mn-ea"/>
                        <a:cs typeface="+mn-cs"/>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564098">
                <a:tc>
                  <a:txBody>
                    <a:bodyPr/>
                    <a:lstStyle/>
                    <a:p>
                      <a:pPr marL="90805" marR="59055" lvl="0" indent="0" algn="r" defTabSz="914400" rtl="1" eaLnBrk="1" latinLnBrk="0" hangingPunct="1">
                        <a:lnSpc>
                          <a:spcPct val="150000"/>
                        </a:lnSpc>
                        <a:spcAft>
                          <a:spcPts val="800"/>
                        </a:spcAft>
                        <a:buFont typeface="+mj-lt"/>
                        <a:buNone/>
                      </a:pPr>
                      <a:r>
                        <a:rPr lang="ar-SY" sz="1100" b="1" kern="1200" dirty="0">
                          <a:solidFill>
                            <a:schemeClr val="dk1"/>
                          </a:solidFill>
                          <a:effectLst/>
                          <a:latin typeface="+mn-lt"/>
                          <a:ea typeface="+mn-ea"/>
                          <a:cs typeface="+mn-cs"/>
                        </a:rPr>
                        <a:t>تسجيل الدخول بنجاح الى النظام</a:t>
                      </a:r>
                      <a:endParaRPr lang="en-US" sz="11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Y" sz="1100" b="1" kern="1200" dirty="0">
                          <a:solidFill>
                            <a:schemeClr val="dk1"/>
                          </a:solidFill>
                          <a:effectLst/>
                          <a:latin typeface="+mn-lt"/>
                          <a:ea typeface="+mn-ea"/>
                          <a:cs typeface="+mn-cs"/>
                        </a:rPr>
                        <a:t>تحديث سجل اخر دخول للمستخدم للنظام (تاريخ ووقت)</a:t>
                      </a:r>
                      <a:endParaRPr lang="en-US" sz="1100" b="1" kern="1200" dirty="0">
                        <a:solidFill>
                          <a:schemeClr val="dk1"/>
                        </a:solidFill>
                        <a:effectLst/>
                        <a:latin typeface="+mn-lt"/>
                        <a:ea typeface="+mn-ea"/>
                        <a:cs typeface="+mn-cs"/>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908188">
                <a:tc>
                  <a:txBody>
                    <a:bodyPr/>
                    <a:lstStyle/>
                    <a:p>
                      <a:pPr marL="90805" marR="59055" lvl="0" indent="0" algn="r" defTabSz="914400" rtl="1" eaLnBrk="1" latinLnBrk="0" hangingPunct="1">
                        <a:lnSpc>
                          <a:spcPct val="150000"/>
                        </a:lnSpc>
                        <a:spcAft>
                          <a:spcPts val="800"/>
                        </a:spcAft>
                        <a:buFont typeface="+mj-lt"/>
                        <a:buNone/>
                      </a:pPr>
                      <a:r>
                        <a:rPr lang="ar-SY" sz="1100" b="1" kern="1200" dirty="0">
                          <a:solidFill>
                            <a:schemeClr val="dk1"/>
                          </a:solidFill>
                          <a:effectLst/>
                          <a:latin typeface="+mn-lt"/>
                          <a:ea typeface="+mn-ea"/>
                          <a:cs typeface="+mn-cs"/>
                        </a:rPr>
                        <a:t>اسم المستخدم او كلمة المرور غير صحيحة </a:t>
                      </a:r>
                      <a:endParaRPr lang="en-US" sz="11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Y" sz="1100" b="1" kern="1200" dirty="0">
                          <a:solidFill>
                            <a:schemeClr val="dk1"/>
                          </a:solidFill>
                          <a:effectLst/>
                          <a:latin typeface="+mn-lt"/>
                          <a:ea typeface="+mn-ea"/>
                          <a:cs typeface="+mn-cs"/>
                        </a:rPr>
                        <a:t>المستخدم محظور او تم تعطيل حسابه</a:t>
                      </a:r>
                      <a:endParaRPr lang="en-US" sz="11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Y" sz="1100" b="1" kern="1200" dirty="0">
                          <a:solidFill>
                            <a:schemeClr val="dk1"/>
                          </a:solidFill>
                          <a:effectLst/>
                          <a:latin typeface="+mn-lt"/>
                          <a:ea typeface="+mn-ea"/>
                          <a:cs typeface="+mn-cs"/>
                        </a:rPr>
                        <a:t>فشل الاتصال بقاعدة البيانات اثناء التحقق</a:t>
                      </a:r>
                      <a:endParaRPr lang="en-US" sz="1100" b="1" kern="1200" dirty="0">
                        <a:solidFill>
                          <a:schemeClr val="dk1"/>
                        </a:solidFill>
                        <a:effectLst/>
                        <a:latin typeface="+mn-lt"/>
                        <a:ea typeface="+mn-ea"/>
                        <a:cs typeface="+mn-cs"/>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   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972736">
                <a:tc>
                  <a:txBody>
                    <a:bodyPr/>
                    <a:lstStyle/>
                    <a:p>
                      <a:pPr marL="90805" marR="59055" lvl="0" indent="0" algn="r" defTabSz="914400" rtl="1" eaLnBrk="1" latinLnBrk="0" hangingPunct="1">
                        <a:lnSpc>
                          <a:spcPct val="150000"/>
                        </a:lnSpc>
                        <a:spcAft>
                          <a:spcPts val="800"/>
                        </a:spcAft>
                        <a:buFont typeface="+mj-lt"/>
                        <a:buNone/>
                      </a:pPr>
                      <a:r>
                        <a:rPr lang="ar-SY" sz="1200" b="1" kern="1200" dirty="0">
                          <a:solidFill>
                            <a:schemeClr val="dk1"/>
                          </a:solidFill>
                          <a:effectLst/>
                          <a:latin typeface="+mn-lt"/>
                          <a:ea typeface="+mn-ea"/>
                          <a:cs typeface="+mn-cs"/>
                        </a:rPr>
                        <a:t>النظام يستخدم تشفيراً امناً لكلمات المرور</a:t>
                      </a:r>
                      <a:endParaRPr lang="en-US" sz="12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Y" sz="1200" b="1" kern="1200" dirty="0">
                          <a:solidFill>
                            <a:schemeClr val="dk1"/>
                          </a:solidFill>
                          <a:effectLst/>
                          <a:latin typeface="+mn-lt"/>
                          <a:ea typeface="+mn-ea"/>
                          <a:cs typeface="+mn-cs"/>
                        </a:rPr>
                        <a:t>بيانات الدخول لا تخزن في النص الصريح</a:t>
                      </a:r>
                      <a:endParaRPr lang="en-US" sz="1200" b="1" kern="1200" dirty="0">
                        <a:solidFill>
                          <a:schemeClr val="dk1"/>
                        </a:solidFill>
                        <a:effectLst/>
                        <a:latin typeface="+mn-lt"/>
                        <a:ea typeface="+mn-ea"/>
                        <a:cs typeface="+mn-cs"/>
                      </a:endParaRPr>
                    </a:p>
                    <a:p>
                      <a:pPr marL="90805" marR="59055" lvl="0" indent="0" algn="r" defTabSz="914400" rtl="1" eaLnBrk="1" latinLnBrk="0" hangingPunct="1">
                        <a:lnSpc>
                          <a:spcPct val="150000"/>
                        </a:lnSpc>
                        <a:spcAft>
                          <a:spcPts val="800"/>
                        </a:spcAft>
                        <a:buFont typeface="+mj-lt"/>
                        <a:buNone/>
                      </a:pPr>
                      <a:r>
                        <a:rPr lang="ar-SY" sz="1200" b="1" kern="1200" dirty="0">
                          <a:solidFill>
                            <a:schemeClr val="dk1"/>
                          </a:solidFill>
                          <a:effectLst/>
                          <a:latin typeface="+mn-lt"/>
                          <a:ea typeface="+mn-ea"/>
                          <a:cs typeface="+mn-cs"/>
                        </a:rPr>
                        <a:t>كل مستخدم يملك صلاحيات محددة مسبقاً من قبل مدير النظام</a:t>
                      </a:r>
                      <a:endParaRPr lang="en-US" sz="1200" b="1" kern="1200" dirty="0">
                        <a:solidFill>
                          <a:schemeClr val="dk1"/>
                        </a:solidFill>
                        <a:effectLst/>
                        <a:latin typeface="+mn-lt"/>
                        <a:ea typeface="+mn-ea"/>
                        <a:cs typeface="+mn-cs"/>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2745140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E6DC6EDF-0760-B998-4476-C8C2D53E4907}"/>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ACF9CCD9-DCD2-6520-FAB6-45466323EE56}"/>
              </a:ext>
            </a:extLst>
          </p:cNvPr>
          <p:cNvSpPr txBox="1"/>
          <p:nvPr/>
        </p:nvSpPr>
        <p:spPr>
          <a:xfrm>
            <a:off x="6724650" y="12125"/>
            <a:ext cx="5321300" cy="584775"/>
          </a:xfrm>
          <a:prstGeom prst="rect">
            <a:avLst/>
          </a:prstGeom>
          <a:noFill/>
        </p:spPr>
        <p:txBody>
          <a:bodyPr wrap="square" rtlCol="1">
            <a:spAutoFit/>
          </a:bodyPr>
          <a:lstStyle/>
          <a:p>
            <a:r>
              <a:rPr lang="en-US" sz="3200" b="1" u="sng" dirty="0">
                <a:solidFill>
                  <a:srgbClr val="B99A3A"/>
                </a:solidFill>
              </a:rPr>
              <a:t>UC-002</a:t>
            </a:r>
            <a:r>
              <a:rPr lang="ar-SY" sz="3200" b="1" u="sng" dirty="0">
                <a:solidFill>
                  <a:srgbClr val="B99A3A"/>
                </a:solidFill>
              </a:rPr>
              <a:t>: إدارة نقاط البيع</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FEAA25E7-E021-F709-37B4-F68063908B78}"/>
              </a:ext>
            </a:extLst>
          </p:cNvPr>
          <p:cNvGraphicFramePr>
            <a:graphicFrameLocks noGrp="1"/>
          </p:cNvGraphicFramePr>
          <p:nvPr>
            <p:extLst>
              <p:ext uri="{D42A27DB-BD31-4B8C-83A1-F6EECF244321}">
                <p14:modId xmlns:p14="http://schemas.microsoft.com/office/powerpoint/2010/main" val="234600718"/>
              </p:ext>
            </p:extLst>
          </p:nvPr>
        </p:nvGraphicFramePr>
        <p:xfrm>
          <a:off x="346953" y="596901"/>
          <a:ext cx="11498094" cy="6455501"/>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320795">
                <a:tc>
                  <a:txBody>
                    <a:bodyPr/>
                    <a:lstStyle/>
                    <a:p>
                      <a:pPr marL="90805" marR="59055" algn="r" rtl="0">
                        <a:lnSpc>
                          <a:spcPct val="150000"/>
                        </a:lnSpc>
                        <a:buNone/>
                      </a:pPr>
                      <a:r>
                        <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1600" b="1" dirty="0">
                          <a:effectLst/>
                          <a:latin typeface="Microsoft Sans Serif" panose="020B0604020202020204" pitchFamily="34" charset="0"/>
                          <a:ea typeface="Microsoft Sans Serif" panose="020B0604020202020204" pitchFamily="34" charset="0"/>
                          <a:cs typeface="Arial" panose="020B0604020202020204" pitchFamily="34" charset="0"/>
                        </a:rPr>
                        <a:t>02</a:t>
                      </a:r>
                      <a:endParaRPr lang="en-US" sz="12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253968">
                <a:tc>
                  <a:txBody>
                    <a:bodyPr/>
                    <a:lstStyle/>
                    <a:p>
                      <a:pPr marL="58420" marR="90805" algn="r" rtl="1">
                        <a:lnSpc>
                          <a:spcPts val="1595"/>
                        </a:lnSpc>
                        <a:spcBef>
                          <a:spcPts val="405"/>
                        </a:spcBef>
                        <a:buNone/>
                      </a:pPr>
                      <a:r>
                        <a:rPr lang="ar-SY" sz="2000" b="1">
                          <a:effectLst/>
                          <a:latin typeface="Microsoft Sans Serif" panose="020B0604020202020204" pitchFamily="34" charset="0"/>
                          <a:ea typeface="Microsoft Sans Serif" panose="020B0604020202020204" pitchFamily="34" charset="0"/>
                          <a:cs typeface="Arial" panose="020B0604020202020204" pitchFamily="34" charset="0"/>
                        </a:rPr>
                        <a:t>إدارة نقاط البيع </a:t>
                      </a:r>
                      <a:endParaRPr lang="en-US" sz="1600" b="1">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22607">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الصيدلي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809671">
                <a:tc>
                  <a:txBody>
                    <a:bodyPr/>
                    <a:lstStyle/>
                    <a:p>
                      <a:pPr marL="342900" marR="0" lvl="0" indent="-342900" algn="r" rtl="1">
                        <a:lnSpc>
                          <a:spcPct val="115000"/>
                        </a:lnSpc>
                        <a:buFont typeface="+mj-lt"/>
                        <a:buAutoNum type="arabicPeriod"/>
                      </a:pPr>
                      <a:r>
                        <a:rPr lang="ar-SA" sz="1600" b="1" kern="0">
                          <a:effectLst/>
                          <a:latin typeface="Calibri" panose="020F0502020204030204" pitchFamily="34" charset="0"/>
                          <a:ea typeface="Calibri" panose="020F0502020204030204" pitchFamily="34" charset="0"/>
                          <a:cs typeface="Arial" panose="020B0604020202020204" pitchFamily="34" charset="0"/>
                        </a:rPr>
                        <a:t>تسجيل دخول المستخدم بنجاح</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a:effectLst/>
                          <a:latin typeface="Calibri" panose="020F0502020204030204" pitchFamily="34" charset="0"/>
                          <a:ea typeface="Calibri" panose="020F0502020204030204" pitchFamily="34" charset="0"/>
                          <a:cs typeface="Arial" panose="020B0604020202020204" pitchFamily="34" charset="0"/>
                        </a:rPr>
                        <a:t>وجود المنتجات في قاعدة البيانات</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1600" b="1" kern="0">
                          <a:effectLst/>
                          <a:latin typeface="Calibri" panose="020F0502020204030204" pitchFamily="34" charset="0"/>
                          <a:ea typeface="Calibri" panose="020F0502020204030204" pitchFamily="34" charset="0"/>
                          <a:cs typeface="Arial" panose="020B0604020202020204" pitchFamily="34" charset="0"/>
                        </a:rPr>
                        <a:t>تفعيل الاتصال مع قاعدة البيانات </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637142">
                <a:tc>
                  <a:txBody>
                    <a:bodyPr/>
                    <a:lstStyle/>
                    <a:p>
                      <a:pPr marL="342900" marR="0" lvl="0" indent="-342900" algn="r" rtl="1">
                        <a:lnSpc>
                          <a:spcPct val="115000"/>
                        </a:lnSpc>
                        <a:buFont typeface="+mj-lt"/>
                        <a:buAutoNum type="arabicPeriod"/>
                      </a:pPr>
                      <a:r>
                        <a:rPr lang="ar-SA" sz="1600" b="1" kern="0" dirty="0">
                          <a:effectLst/>
                          <a:latin typeface="Calibri" panose="020F0502020204030204" pitchFamily="34" charset="0"/>
                          <a:ea typeface="Calibri" panose="020F0502020204030204" pitchFamily="34" charset="0"/>
                          <a:cs typeface="Arial" panose="020B0604020202020204" pitchFamily="34" charset="0"/>
                        </a:rPr>
                        <a:t> يختار الصيدلي خيار "بيع جديد"</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effectLst/>
                          <a:latin typeface="Calibri" panose="020F0502020204030204" pitchFamily="34" charset="0"/>
                          <a:ea typeface="Calibri" panose="020F0502020204030204" pitchFamily="34" charset="0"/>
                          <a:cs typeface="Arial" panose="020B0604020202020204" pitchFamily="34" charset="0"/>
                        </a:rPr>
                        <a:t> يدخل اسم المنتج أو الباركود</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effectLst/>
                          <a:latin typeface="Calibri" panose="020F0502020204030204" pitchFamily="34" charset="0"/>
                          <a:ea typeface="Calibri" panose="020F0502020204030204" pitchFamily="34" charset="0"/>
                          <a:cs typeface="Arial" panose="020B0604020202020204" pitchFamily="34" charset="0"/>
                        </a:rPr>
                        <a:t>يحدد الكمية</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effectLst/>
                          <a:latin typeface="Calibri" panose="020F0502020204030204" pitchFamily="34" charset="0"/>
                          <a:ea typeface="Calibri" panose="020F0502020204030204" pitchFamily="34" charset="0"/>
                          <a:cs typeface="Arial" panose="020B0604020202020204" pitchFamily="34" charset="0"/>
                        </a:rPr>
                        <a:t>النظام يعرض السعر ويحسب الإجمالي</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effectLst/>
                          <a:latin typeface="Calibri" panose="020F0502020204030204" pitchFamily="34" charset="0"/>
                          <a:ea typeface="Calibri" panose="020F0502020204030204" pitchFamily="34" charset="0"/>
                          <a:cs typeface="Arial" panose="020B0604020202020204" pitchFamily="34" charset="0"/>
                        </a:rPr>
                        <a:t>المستخدم يحدد وسيلة الدفع</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1600" b="1" kern="0" dirty="0">
                          <a:effectLst/>
                          <a:latin typeface="Calibri" panose="020F0502020204030204" pitchFamily="34" charset="0"/>
                          <a:ea typeface="Calibri" panose="020F0502020204030204" pitchFamily="34" charset="0"/>
                          <a:cs typeface="Arial" panose="020B0604020202020204" pitchFamily="34" charset="0"/>
                        </a:rPr>
                        <a:t>النظام يُصدر الفاتورة ويحدث المخزون</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533847">
                <a:tc>
                  <a:txBody>
                    <a:bodyPr/>
                    <a:lstStyle/>
                    <a:p>
                      <a:pPr marL="342900" marR="0" lvl="0" indent="-342900" algn="r" rtl="1">
                        <a:lnSpc>
                          <a:spcPct val="115000"/>
                        </a:lnSpc>
                        <a:buFont typeface="+mj-lt"/>
                        <a:buAutoNum type="arabicPeriod"/>
                      </a:pPr>
                      <a:r>
                        <a:rPr lang="ar-SY" sz="1600" b="1" kern="0">
                          <a:effectLst/>
                          <a:latin typeface="Calibri" panose="020F0502020204030204" pitchFamily="34" charset="0"/>
                          <a:ea typeface="Calibri" panose="020F0502020204030204" pitchFamily="34" charset="0"/>
                          <a:cs typeface="Arial" panose="020B0604020202020204" pitchFamily="34" charset="0"/>
                        </a:rPr>
                        <a:t>إذا تم تطبيق خصم أو عرض ترويجي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600" b="1" kern="0">
                          <a:effectLst/>
                          <a:latin typeface="Calibri" panose="020F0502020204030204" pitchFamily="34" charset="0"/>
                          <a:ea typeface="Calibri" panose="020F0502020204030204" pitchFamily="34" charset="0"/>
                          <a:cs typeface="Arial" panose="020B0604020202020204" pitchFamily="34" charset="0"/>
                        </a:rPr>
                        <a:t>إذا تم تعديل وسيلة الدفع أثناء العملية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809671">
                <a:tc>
                  <a:txBody>
                    <a:bodyPr/>
                    <a:lstStyle/>
                    <a:p>
                      <a:pPr marL="342900" marR="0" lvl="0" indent="-342900" algn="r" rtl="1">
                        <a:lnSpc>
                          <a:spcPct val="115000"/>
                        </a:lnSpc>
                        <a:buFont typeface="+mj-lt"/>
                        <a:buAutoNum type="arabicPeriod"/>
                      </a:pPr>
                      <a:r>
                        <a:rPr lang="ar-SY" sz="1600" b="1" kern="0" dirty="0">
                          <a:effectLst/>
                          <a:latin typeface="Calibri" panose="020F0502020204030204" pitchFamily="34" charset="0"/>
                          <a:ea typeface="Calibri" panose="020F0502020204030204" pitchFamily="34" charset="0"/>
                          <a:cs typeface="Arial" panose="020B0604020202020204" pitchFamily="34" charset="0"/>
                        </a:rPr>
                        <a:t>تخفيض الكمية المباعة من المخزون  </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Y" sz="1600" b="1" kern="0" dirty="0">
                          <a:effectLst/>
                          <a:latin typeface="Calibri" panose="020F0502020204030204" pitchFamily="34" charset="0"/>
                          <a:ea typeface="Calibri" panose="020F0502020204030204" pitchFamily="34" charset="0"/>
                          <a:cs typeface="Arial" panose="020B0604020202020204" pitchFamily="34" charset="0"/>
                        </a:rPr>
                        <a:t>إنشاء سجل عملية بيع </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600" b="1" kern="0" dirty="0">
                          <a:effectLst/>
                          <a:latin typeface="Calibri" panose="020F0502020204030204" pitchFamily="34" charset="0"/>
                          <a:ea typeface="Calibri" panose="020F0502020204030204" pitchFamily="34" charset="0"/>
                          <a:cs typeface="Arial" panose="020B0604020202020204" pitchFamily="34" charset="0"/>
                        </a:rPr>
                        <a:t>إصدار إيصال مطبوع أو إلكتروني</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824524">
                <a:tc>
                  <a:txBody>
                    <a:bodyPr/>
                    <a:lstStyle/>
                    <a:p>
                      <a:pPr marL="342900" marR="0" lvl="0" indent="-342900" algn="r" rtl="1">
                        <a:lnSpc>
                          <a:spcPct val="115000"/>
                        </a:lnSpc>
                        <a:buFont typeface="+mj-lt"/>
                        <a:buAutoNum type="arabicPeriod"/>
                      </a:pPr>
                      <a:r>
                        <a:rPr lang="ar-SY" sz="1600" b="1" kern="0" dirty="0">
                          <a:effectLst/>
                          <a:latin typeface="Calibri" panose="020F0502020204030204" pitchFamily="34" charset="0"/>
                          <a:ea typeface="Calibri" panose="020F0502020204030204" pitchFamily="34" charset="0"/>
                          <a:cs typeface="Arial" panose="020B0604020202020204" pitchFamily="34" charset="0"/>
                        </a:rPr>
                        <a:t>انقطاع الاتصال بقاعدة البيانات </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Y" sz="1600" b="1" kern="0" dirty="0">
                          <a:effectLst/>
                          <a:latin typeface="Calibri" panose="020F0502020204030204" pitchFamily="34" charset="0"/>
                          <a:ea typeface="Calibri" panose="020F0502020204030204" pitchFamily="34" charset="0"/>
                          <a:cs typeface="Arial" panose="020B0604020202020204" pitchFamily="34" charset="0"/>
                        </a:rPr>
                        <a:t>عدم وجود المنتج </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600" b="1" kern="0" dirty="0">
                          <a:effectLst/>
                          <a:latin typeface="Calibri" panose="020F0502020204030204" pitchFamily="34" charset="0"/>
                          <a:ea typeface="Calibri" panose="020F0502020204030204" pitchFamily="34" charset="0"/>
                          <a:cs typeface="Arial" panose="020B0604020202020204" pitchFamily="34" charset="0"/>
                        </a:rPr>
                        <a:t>خطأ في قراءة الباركود</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607363">
                <a:tc>
                  <a:txBody>
                    <a:bodyPr/>
                    <a:lstStyle/>
                    <a:p>
                      <a:pPr marL="342900" marR="0" lvl="0" indent="-342900" algn="r" rtl="1">
                        <a:lnSpc>
                          <a:spcPct val="115000"/>
                        </a:lnSpc>
                        <a:buFont typeface="+mj-lt"/>
                        <a:buAutoNum type="arabicPeriod"/>
                      </a:pPr>
                      <a:r>
                        <a:rPr lang="ar-SY" sz="1600" b="1" u="none" strike="noStrike" kern="0" dirty="0">
                          <a:effectLst/>
                          <a:latin typeface="Calibri" panose="020F0502020204030204" pitchFamily="34" charset="0"/>
                          <a:ea typeface="Calibri" panose="020F0502020204030204" pitchFamily="34" charset="0"/>
                          <a:cs typeface="Arial" panose="020B0604020202020204" pitchFamily="34" charset="0"/>
                        </a:rPr>
                        <a:t>جميع المنتجات مسجلة مسبقاً بأسعار صحيحة </a:t>
                      </a:r>
                      <a:endParaRPr lang="en-US" sz="1400" b="1" u="none" strike="noStrike"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600" b="1" u="none" strike="noStrike" kern="0" dirty="0">
                          <a:effectLst/>
                          <a:latin typeface="Calibri" panose="020F0502020204030204" pitchFamily="34" charset="0"/>
                          <a:ea typeface="Calibri" panose="020F0502020204030204" pitchFamily="34" charset="0"/>
                          <a:cs typeface="Arial" panose="020B0604020202020204" pitchFamily="34" charset="0"/>
                        </a:rPr>
                        <a:t>النظام متصل بالمخزون في الوقت الفعلي</a:t>
                      </a:r>
                      <a:endParaRPr lang="en-US" sz="1400" b="1" u="none" strike="noStrike"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937276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7586784E-09D2-56B0-C9DA-AB9A56B95BBE}"/>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1FED40AA-C2EB-1CF7-47B0-DC8AFA3175A2}"/>
              </a:ext>
            </a:extLst>
          </p:cNvPr>
          <p:cNvSpPr txBox="1"/>
          <p:nvPr/>
        </p:nvSpPr>
        <p:spPr>
          <a:xfrm>
            <a:off x="5953328" y="-75424"/>
            <a:ext cx="5885234" cy="584775"/>
          </a:xfrm>
          <a:prstGeom prst="rect">
            <a:avLst/>
          </a:prstGeom>
          <a:noFill/>
        </p:spPr>
        <p:txBody>
          <a:bodyPr wrap="square" rtlCol="1">
            <a:spAutoFit/>
          </a:bodyPr>
          <a:lstStyle/>
          <a:p>
            <a:pPr algn="l"/>
            <a:r>
              <a:rPr lang="en-US" sz="3200" b="1" u="sng" dirty="0">
                <a:solidFill>
                  <a:srgbClr val="B99A3A"/>
                </a:solidFill>
              </a:rPr>
              <a:t>UC-003 </a:t>
            </a:r>
            <a:r>
              <a:rPr lang="ar-SA" sz="3200" b="1" u="sng" dirty="0">
                <a:solidFill>
                  <a:srgbClr val="B99A3A"/>
                </a:solidFill>
              </a:rPr>
              <a:t>تتبع المخزون في الوقت الحقيقي </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E0CAF112-CEFD-E869-B3E8-DB9F801971FF}"/>
              </a:ext>
            </a:extLst>
          </p:cNvPr>
          <p:cNvGraphicFramePr>
            <a:graphicFrameLocks noGrp="1"/>
          </p:cNvGraphicFramePr>
          <p:nvPr>
            <p:extLst>
              <p:ext uri="{D42A27DB-BD31-4B8C-83A1-F6EECF244321}">
                <p14:modId xmlns:p14="http://schemas.microsoft.com/office/powerpoint/2010/main" val="610107550"/>
              </p:ext>
            </p:extLst>
          </p:nvPr>
        </p:nvGraphicFramePr>
        <p:xfrm>
          <a:off x="340468" y="596900"/>
          <a:ext cx="11498094" cy="6361328"/>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466767">
                <a:tc>
                  <a:txBody>
                    <a:bodyPr/>
                    <a:lstStyle/>
                    <a:p>
                      <a:pPr marL="90805" marR="59055" algn="r" rtl="0">
                        <a:lnSpc>
                          <a:spcPct val="150000"/>
                        </a:lnSpc>
                        <a:buNone/>
                      </a:pPr>
                      <a:r>
                        <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2000" b="1" dirty="0">
                          <a:effectLst/>
                          <a:latin typeface="Microsoft Sans Serif" panose="020B0604020202020204" pitchFamily="34" charset="0"/>
                          <a:ea typeface="Microsoft Sans Serif" panose="020B0604020202020204" pitchFamily="34" charset="0"/>
                          <a:cs typeface="Arial" panose="020B0604020202020204" pitchFamily="34" charset="0"/>
                        </a:rPr>
                        <a:t>03</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250781">
                <a:tc>
                  <a:txBody>
                    <a:bodyPr/>
                    <a:lstStyle/>
                    <a:p>
                      <a:pPr marL="58420" marR="90805" algn="r" rtl="1">
                        <a:lnSpc>
                          <a:spcPts val="1595"/>
                        </a:lnSpc>
                        <a:spcBef>
                          <a:spcPts val="405"/>
                        </a:spcBef>
                        <a:buNone/>
                      </a:pPr>
                      <a:r>
                        <a:rPr lang="ar-SY" sz="2000" b="1">
                          <a:effectLst/>
                          <a:latin typeface="Microsoft Sans Serif" panose="020B0604020202020204" pitchFamily="34" charset="0"/>
                          <a:ea typeface="Microsoft Sans Serif" panose="020B0604020202020204" pitchFamily="34" charset="0"/>
                          <a:cs typeface="Arial" panose="020B0604020202020204" pitchFamily="34" charset="0"/>
                        </a:rPr>
                        <a:t>تتبع المخزون في الوقت الحقيقي</a:t>
                      </a:r>
                      <a:endParaRPr lang="en-US" sz="1600" b="1">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82270">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الصيدلي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790814">
                <a:tc>
                  <a:txBody>
                    <a:bodyPr/>
                    <a:lstStyle/>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تسجيل المنتجات مسبقًا في قاعدة البيانات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وجود عمليات بيع أو شراء</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316134">
                <a:tc>
                  <a:txBody>
                    <a:bodyPr/>
                    <a:lstStyle/>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النظام يراقب عمليات البيع والشراء</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عند كل عملية، يتم تعديل الكمية تلقائياً</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يتم تحديث شاشة المخزون وقوائم التنبيه</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460508">
                <a:tc>
                  <a:txBody>
                    <a:bodyPr/>
                    <a:lstStyle/>
                    <a:p>
                      <a:pPr marL="0" marR="0" algn="r" rtl="1">
                        <a:lnSpc>
                          <a:spcPct val="115000"/>
                        </a:lnSpc>
                        <a:spcAft>
                          <a:spcPts val="800"/>
                        </a:spcAft>
                        <a:buNone/>
                      </a:pPr>
                      <a:r>
                        <a:rPr lang="ar-SY" sz="2000" b="1" kern="0">
                          <a:effectLst/>
                          <a:latin typeface="Calibri" panose="020F0502020204030204" pitchFamily="34" charset="0"/>
                          <a:ea typeface="Calibri" panose="020F0502020204030204" pitchFamily="34" charset="0"/>
                          <a:cs typeface="Arial" panose="020B0604020202020204" pitchFamily="34" charset="0"/>
                        </a:rPr>
                        <a:t>يمكن للمستخدم تحديث الكمية يدويًا في حال الجرد الدوري</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790814">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قاعدة بيانات المخزون محدثة بدقة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إمكانية توليد تقارير فورية</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814178">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حدوث خلل في عملية التحديث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فقدان الاتصال بقواعد البيانات</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878691">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كل التغييرات على الكميات تتم من خلال النظام فقط</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3862075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92D2D1DB-09C7-21B4-FEA7-D16D06489C05}"/>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73F23A7D-5046-EA32-4241-4D60454F9CAC}"/>
              </a:ext>
            </a:extLst>
          </p:cNvPr>
          <p:cNvSpPr txBox="1"/>
          <p:nvPr/>
        </p:nvSpPr>
        <p:spPr>
          <a:xfrm>
            <a:off x="5671226" y="-19727"/>
            <a:ext cx="6335814" cy="584775"/>
          </a:xfrm>
          <a:prstGeom prst="rect">
            <a:avLst/>
          </a:prstGeom>
          <a:noFill/>
        </p:spPr>
        <p:txBody>
          <a:bodyPr wrap="square" rtlCol="1">
            <a:spAutoFit/>
          </a:bodyPr>
          <a:lstStyle/>
          <a:p>
            <a:r>
              <a:rPr lang="en-US" sz="3200" b="1" u="sng" dirty="0">
                <a:solidFill>
                  <a:srgbClr val="B99A3A"/>
                </a:solidFill>
              </a:rPr>
              <a:t>US-004</a:t>
            </a:r>
            <a:r>
              <a:rPr lang="ar-SY" sz="3200" b="1" u="sng" dirty="0">
                <a:solidFill>
                  <a:srgbClr val="B99A3A"/>
                </a:solidFill>
              </a:rPr>
              <a:t>: إدارة تواريخ الصلاحية والتنبيهات</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209C76E9-0CAC-5A8A-094D-C5E197B7D3A1}"/>
              </a:ext>
            </a:extLst>
          </p:cNvPr>
          <p:cNvGraphicFramePr>
            <a:graphicFrameLocks noGrp="1"/>
          </p:cNvGraphicFramePr>
          <p:nvPr>
            <p:extLst>
              <p:ext uri="{D42A27DB-BD31-4B8C-83A1-F6EECF244321}">
                <p14:modId xmlns:p14="http://schemas.microsoft.com/office/powerpoint/2010/main" val="1428545623"/>
              </p:ext>
            </p:extLst>
          </p:nvPr>
        </p:nvGraphicFramePr>
        <p:xfrm>
          <a:off x="346953" y="596900"/>
          <a:ext cx="11498094" cy="6259778"/>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423607">
                <a:tc>
                  <a:txBody>
                    <a:bodyPr/>
                    <a:lstStyle/>
                    <a:p>
                      <a:pPr marL="90805" marR="59055" algn="r" rtl="0">
                        <a:lnSpc>
                          <a:spcPct val="150000"/>
                        </a:lnSpc>
                        <a:buNone/>
                      </a:pPr>
                      <a:r>
                        <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2000" b="1" dirty="0">
                          <a:effectLst/>
                          <a:latin typeface="Microsoft Sans Serif" panose="020B0604020202020204" pitchFamily="34" charset="0"/>
                          <a:ea typeface="Microsoft Sans Serif" panose="020B0604020202020204" pitchFamily="34" charset="0"/>
                          <a:cs typeface="Arial" panose="020B0604020202020204" pitchFamily="34" charset="0"/>
                        </a:rPr>
                        <a:t>04</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390892">
                <a:tc>
                  <a:txBody>
                    <a:bodyPr/>
                    <a:lstStyle/>
                    <a:p>
                      <a:pPr marL="58420" marR="90805" algn="r" rtl="1">
                        <a:lnSpc>
                          <a:spcPts val="1595"/>
                        </a:lnSpc>
                        <a:spcBef>
                          <a:spcPts val="405"/>
                        </a:spcBef>
                        <a:buNone/>
                      </a:pPr>
                      <a:r>
                        <a:rPr lang="ar-SY" sz="2000" b="1" dirty="0">
                          <a:effectLst/>
                          <a:latin typeface="Microsoft Sans Serif" panose="020B0604020202020204" pitchFamily="34" charset="0"/>
                          <a:ea typeface="Microsoft Sans Serif" panose="020B0604020202020204" pitchFamily="34" charset="0"/>
                          <a:cs typeface="Arial" panose="020B0604020202020204" pitchFamily="34" charset="0"/>
                        </a:rPr>
                        <a:t>إدارة تواريخ الصلاحية والتنبيهات</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17818">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الصيدلي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744616">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إدخال تاريخ انتهاء الصلاحية عند تسجيل المشتريات – تفعيل خدمة التنبيهات</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410865">
                <a:tc>
                  <a:txBody>
                    <a:bodyPr/>
                    <a:lstStyle/>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النظام يخزن تواريخ انتهاء كل دفعة</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يراجع التواريخ دوريًا</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يصدر تنبيه قبل فترة محددة (مثل 3 أشهر)</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459437">
                <a:tc>
                  <a:txBody>
                    <a:bodyPr/>
                    <a:lstStyle/>
                    <a:p>
                      <a:pPr marL="0" marR="0" algn="r" rtl="1">
                        <a:lnSpc>
                          <a:spcPct val="115000"/>
                        </a:lnSpc>
                        <a:spcAft>
                          <a:spcPts val="800"/>
                        </a:spcAft>
                        <a:buNone/>
                      </a:pPr>
                      <a:r>
                        <a:rPr lang="ar-SY" sz="2000" b="1" kern="0">
                          <a:effectLst/>
                          <a:latin typeface="Calibri" panose="020F0502020204030204" pitchFamily="34" charset="0"/>
                          <a:ea typeface="Calibri" panose="020F0502020204030204" pitchFamily="34" charset="0"/>
                          <a:cs typeface="Arial" panose="020B0604020202020204" pitchFamily="34" charset="0"/>
                        </a:rPr>
                        <a:t>المستخدم يحدد فترة التنبيه يدويًا أو يرسل تقرير دوري للمسؤول</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760371">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ظهور تنبيهات صحيحة في الوقت المحدد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إمكانية طباعة تقرير الأدوية المنتهية</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701747">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إدخال تاريخ صلاحية غير صحيح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خطأ في تنبيهات النظام</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876648">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النظام يعمل بشكل دائم وجدول التنبيهات مفعّل</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3519021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3847BDC6-54EC-67D7-4954-36EF029FDC39}"/>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BB3F34D9-7232-56EF-1A76-8ECAAB8D38FF}"/>
              </a:ext>
            </a:extLst>
          </p:cNvPr>
          <p:cNvSpPr txBox="1"/>
          <p:nvPr/>
        </p:nvSpPr>
        <p:spPr>
          <a:xfrm>
            <a:off x="5758543" y="23011"/>
            <a:ext cx="6287407" cy="584775"/>
          </a:xfrm>
          <a:prstGeom prst="rect">
            <a:avLst/>
          </a:prstGeom>
          <a:noFill/>
        </p:spPr>
        <p:txBody>
          <a:bodyPr wrap="square" rtlCol="1">
            <a:spAutoFit/>
          </a:bodyPr>
          <a:lstStyle/>
          <a:p>
            <a:r>
              <a:rPr lang="ar-SA" sz="3200" b="1" u="sng" dirty="0">
                <a:solidFill>
                  <a:srgbClr val="B99A3A"/>
                </a:solidFill>
              </a:rPr>
              <a:t>005</a:t>
            </a:r>
            <a:r>
              <a:rPr lang="en-US" sz="3200" b="1" u="sng" dirty="0">
                <a:solidFill>
                  <a:srgbClr val="B99A3A"/>
                </a:solidFill>
              </a:rPr>
              <a:t>US-</a:t>
            </a:r>
            <a:r>
              <a:rPr lang="ar-SA" sz="3200" b="1" u="sng" dirty="0">
                <a:solidFill>
                  <a:srgbClr val="B99A3A"/>
                </a:solidFill>
              </a:rPr>
              <a:t>: إدارة فواتير الشراء والموردين</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19CC8CF1-2D37-D81B-E3ED-ED3A0F5B2527}"/>
              </a:ext>
            </a:extLst>
          </p:cNvPr>
          <p:cNvGraphicFramePr>
            <a:graphicFrameLocks noGrp="1"/>
          </p:cNvGraphicFramePr>
          <p:nvPr>
            <p:extLst>
              <p:ext uri="{D42A27DB-BD31-4B8C-83A1-F6EECF244321}">
                <p14:modId xmlns:p14="http://schemas.microsoft.com/office/powerpoint/2010/main" val="89809442"/>
              </p:ext>
            </p:extLst>
          </p:nvPr>
        </p:nvGraphicFramePr>
        <p:xfrm>
          <a:off x="340468" y="596900"/>
          <a:ext cx="11498094" cy="6446170"/>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349062">
                <a:tc>
                  <a:txBody>
                    <a:bodyPr/>
                    <a:lstStyle/>
                    <a:p>
                      <a:pPr marL="90805" marR="59055" algn="r" rtl="0">
                        <a:lnSpc>
                          <a:spcPct val="150000"/>
                        </a:lnSpc>
                        <a:buNone/>
                      </a:pPr>
                      <a:r>
                        <a:rPr lang="en-US" sz="18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1800" b="1" dirty="0">
                          <a:effectLst/>
                          <a:latin typeface="Microsoft Sans Serif" panose="020B0604020202020204" pitchFamily="34" charset="0"/>
                          <a:ea typeface="Microsoft Sans Serif" panose="020B0604020202020204" pitchFamily="34" charset="0"/>
                          <a:cs typeface="Arial" panose="020B0604020202020204" pitchFamily="34" charset="0"/>
                        </a:rPr>
                        <a:t>0</a:t>
                      </a:r>
                      <a:r>
                        <a:rPr lang="ar-SY" sz="1800" b="1" dirty="0">
                          <a:effectLst/>
                          <a:latin typeface="Microsoft Sans Serif" panose="020B0604020202020204" pitchFamily="34" charset="0"/>
                          <a:ea typeface="Microsoft Sans Serif" panose="020B0604020202020204" pitchFamily="34" charset="0"/>
                          <a:cs typeface="Arial" panose="020B0604020202020204" pitchFamily="34" charset="0"/>
                        </a:rPr>
                        <a:t>5</a:t>
                      </a:r>
                      <a:endParaRPr lang="en-US" sz="14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250055">
                <a:tc>
                  <a:txBody>
                    <a:bodyPr/>
                    <a:lstStyle/>
                    <a:p>
                      <a:pPr marL="58420" marR="90805" algn="r" rtl="1">
                        <a:lnSpc>
                          <a:spcPts val="1595"/>
                        </a:lnSpc>
                        <a:spcBef>
                          <a:spcPts val="405"/>
                        </a:spcBef>
                        <a:buNone/>
                      </a:pPr>
                      <a:r>
                        <a:rPr lang="ar-SY" sz="1800" b="1">
                          <a:effectLst/>
                          <a:latin typeface="Microsoft Sans Serif" panose="020B0604020202020204" pitchFamily="34" charset="0"/>
                          <a:ea typeface="Microsoft Sans Serif" panose="020B0604020202020204" pitchFamily="34" charset="0"/>
                          <a:cs typeface="Arial" panose="020B0604020202020204" pitchFamily="34" charset="0"/>
                        </a:rPr>
                        <a:t>إدارة فواتير الشراء والموردين</a:t>
                      </a:r>
                      <a:endParaRPr lang="en-US" sz="1400" b="1">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12813">
                <a:tc>
                  <a:txBody>
                    <a:bodyPr/>
                    <a:lstStyle/>
                    <a:p>
                      <a:pPr marL="0" marR="0" algn="r" rtl="1">
                        <a:lnSpc>
                          <a:spcPct val="115000"/>
                        </a:lnSpc>
                        <a:spcAft>
                          <a:spcPts val="800"/>
                        </a:spcAft>
                        <a:buNone/>
                      </a:pPr>
                      <a:r>
                        <a:rPr lang="ar-SA" sz="1800" b="1" kern="0">
                          <a:effectLst/>
                          <a:latin typeface="Calibri" panose="020F0502020204030204" pitchFamily="34" charset="0"/>
                          <a:ea typeface="Calibri" panose="020F0502020204030204" pitchFamily="34" charset="0"/>
                          <a:cs typeface="Arial" panose="020B0604020202020204" pitchFamily="34" charset="0"/>
                        </a:rPr>
                        <a:t>الصيدلي </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744191">
                <a:tc>
                  <a:txBody>
                    <a:bodyPr/>
                    <a:lstStyle/>
                    <a:p>
                      <a:pPr marL="342900" marR="0" lvl="0" indent="-342900" algn="r" rtl="1">
                        <a:lnSpc>
                          <a:spcPct val="115000"/>
                        </a:lnSpc>
                        <a:buFont typeface="+mj-lt"/>
                        <a:buAutoNum type="arabicPeriod"/>
                      </a:pPr>
                      <a:r>
                        <a:rPr lang="ar-SA" sz="1800" b="1" kern="0">
                          <a:effectLst/>
                          <a:latin typeface="Calibri" panose="020F0502020204030204" pitchFamily="34" charset="0"/>
                          <a:ea typeface="Calibri" panose="020F0502020204030204" pitchFamily="34" charset="0"/>
                          <a:cs typeface="Arial" panose="020B0604020202020204" pitchFamily="34" charset="0"/>
                        </a:rPr>
                        <a:t>وجود حسابات مسجلة للموردين</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1800" b="1" kern="0">
                          <a:effectLst/>
                          <a:latin typeface="Calibri" panose="020F0502020204030204" pitchFamily="34" charset="0"/>
                          <a:ea typeface="Calibri" panose="020F0502020204030204" pitchFamily="34" charset="0"/>
                          <a:cs typeface="Arial" panose="020B0604020202020204" pitchFamily="34" charset="0"/>
                        </a:rPr>
                        <a:t>صلاحية المستخدم تسمح بإدخال الفواتير</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410062">
                <a:tc>
                  <a:txBody>
                    <a:bodyPr/>
                    <a:lstStyle/>
                    <a:p>
                      <a:pPr marL="342900" marR="0" lvl="0" indent="-342900" algn="r" rtl="1">
                        <a:lnSpc>
                          <a:spcPct val="115000"/>
                        </a:lnSpc>
                        <a:buFont typeface="+mj-lt"/>
                        <a:buAutoNum type="arabicPeriod"/>
                      </a:pPr>
                      <a:r>
                        <a:rPr lang="ar-SA" sz="1800" b="1" kern="0">
                          <a:effectLst/>
                          <a:latin typeface="Calibri" panose="020F0502020204030204" pitchFamily="34" charset="0"/>
                          <a:ea typeface="Calibri" panose="020F0502020204030204" pitchFamily="34" charset="0"/>
                          <a:cs typeface="Arial" panose="020B0604020202020204" pitchFamily="34" charset="0"/>
                        </a:rPr>
                        <a:t>المستخدم يفتح شاشة فواتير المشتريات</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800" b="1" kern="0">
                          <a:effectLst/>
                          <a:latin typeface="Calibri" panose="020F0502020204030204" pitchFamily="34" charset="0"/>
                          <a:ea typeface="Calibri" panose="020F0502020204030204" pitchFamily="34" charset="0"/>
                          <a:cs typeface="Arial" panose="020B0604020202020204" pitchFamily="34" charset="0"/>
                        </a:rPr>
                        <a:t>يدخل بيانات المورد والفاتورة</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800" b="1" kern="0">
                          <a:effectLst/>
                          <a:latin typeface="Calibri" panose="020F0502020204030204" pitchFamily="34" charset="0"/>
                          <a:ea typeface="Calibri" panose="020F0502020204030204" pitchFamily="34" charset="0"/>
                          <a:cs typeface="Arial" panose="020B0604020202020204" pitchFamily="34" charset="0"/>
                        </a:rPr>
                        <a:t>يضيف المنتجات والأسعار والكميات</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1800" b="1" kern="0">
                          <a:effectLst/>
                          <a:latin typeface="Calibri" panose="020F0502020204030204" pitchFamily="34" charset="0"/>
                          <a:ea typeface="Calibri" panose="020F0502020204030204" pitchFamily="34" charset="0"/>
                          <a:cs typeface="Arial" panose="020B0604020202020204" pitchFamily="34" charset="0"/>
                        </a:rPr>
                        <a:t>النظام يسجل الفاتورة ويحدث المخزون</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591364">
                <a:tc>
                  <a:txBody>
                    <a:bodyPr/>
                    <a:lstStyle/>
                    <a:p>
                      <a:pPr marL="342900" marR="0" lvl="0" indent="-342900" algn="r" rtl="1">
                        <a:lnSpc>
                          <a:spcPct val="115000"/>
                        </a:lnSpc>
                        <a:buFont typeface="+mj-lt"/>
                        <a:buAutoNum type="arabicPeriod"/>
                      </a:pPr>
                      <a:r>
                        <a:rPr lang="ar-SY" sz="1800" b="1" kern="0">
                          <a:effectLst/>
                          <a:latin typeface="Calibri" panose="020F0502020204030204" pitchFamily="34" charset="0"/>
                          <a:ea typeface="Calibri" panose="020F0502020204030204" pitchFamily="34" charset="0"/>
                          <a:cs typeface="Arial" panose="020B0604020202020204" pitchFamily="34" charset="0"/>
                        </a:rPr>
                        <a:t>تسجيل مرتجع شراء </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800" b="1" kern="0">
                          <a:effectLst/>
                          <a:latin typeface="Calibri" panose="020F0502020204030204" pitchFamily="34" charset="0"/>
                          <a:ea typeface="Calibri" panose="020F0502020204030204" pitchFamily="34" charset="0"/>
                          <a:cs typeface="Arial" panose="020B0604020202020204" pitchFamily="34" charset="0"/>
                        </a:rPr>
                        <a:t>تعديل فاتورة بعد الإدخال</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759938">
                <a:tc>
                  <a:txBody>
                    <a:bodyPr/>
                    <a:lstStyle/>
                    <a:p>
                      <a:pPr marL="342900" marR="0" lvl="0" indent="-342900" algn="r" rtl="1">
                        <a:lnSpc>
                          <a:spcPct val="115000"/>
                        </a:lnSpc>
                        <a:buFont typeface="+mj-lt"/>
                        <a:buAutoNum type="arabicPeriod"/>
                      </a:pPr>
                      <a:r>
                        <a:rPr lang="ar-SY" sz="1800" b="1" kern="0">
                          <a:effectLst/>
                          <a:latin typeface="Calibri" panose="020F0502020204030204" pitchFamily="34" charset="0"/>
                          <a:ea typeface="Calibri" panose="020F0502020204030204" pitchFamily="34" charset="0"/>
                          <a:cs typeface="Arial" panose="020B0604020202020204" pitchFamily="34" charset="0"/>
                        </a:rPr>
                        <a:t>تحديث كميات المخزون </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800" b="1" kern="0">
                          <a:effectLst/>
                          <a:latin typeface="Calibri" panose="020F0502020204030204" pitchFamily="34" charset="0"/>
                          <a:ea typeface="Calibri" panose="020F0502020204030204" pitchFamily="34" charset="0"/>
                          <a:cs typeface="Arial" panose="020B0604020202020204" pitchFamily="34" charset="0"/>
                        </a:rPr>
                        <a:t>تحديث الذمم المالية للموردين</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811823">
                <a:tc>
                  <a:txBody>
                    <a:bodyPr/>
                    <a:lstStyle/>
                    <a:p>
                      <a:pPr marL="342900" marR="0" lvl="0" indent="-342900" algn="r" rtl="1">
                        <a:lnSpc>
                          <a:spcPct val="115000"/>
                        </a:lnSpc>
                        <a:buFont typeface="+mj-lt"/>
                        <a:buAutoNum type="arabicPeriod"/>
                      </a:pPr>
                      <a:r>
                        <a:rPr lang="ar-SY" sz="1800" b="1" kern="0">
                          <a:effectLst/>
                          <a:latin typeface="Calibri" panose="020F0502020204030204" pitchFamily="34" charset="0"/>
                          <a:ea typeface="Calibri" panose="020F0502020204030204" pitchFamily="34" charset="0"/>
                          <a:cs typeface="Arial" panose="020B0604020202020204" pitchFamily="34" charset="0"/>
                        </a:rPr>
                        <a:t>إدخال بيانات ناقصة أو غير صحيحة </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800" b="1" kern="0">
                          <a:effectLst/>
                          <a:latin typeface="Calibri" panose="020F0502020204030204" pitchFamily="34" charset="0"/>
                          <a:ea typeface="Calibri" panose="020F0502020204030204" pitchFamily="34" charset="0"/>
                          <a:cs typeface="Arial" panose="020B0604020202020204" pitchFamily="34" charset="0"/>
                        </a:rPr>
                        <a:t>رقم فاتورة مكرر</a:t>
                      </a:r>
                      <a:endParaRPr lang="en-US" sz="16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876149">
                <a:tc>
                  <a:txBody>
                    <a:bodyPr/>
                    <a:lstStyle/>
                    <a:p>
                      <a:pPr marL="0" marR="0" algn="r" rtl="1">
                        <a:lnSpc>
                          <a:spcPct val="115000"/>
                        </a:lnSpc>
                        <a:spcAft>
                          <a:spcPts val="800"/>
                        </a:spcAft>
                        <a:buNone/>
                      </a:pPr>
                      <a:r>
                        <a:rPr lang="ar-SY" sz="1800" b="1" kern="0" dirty="0">
                          <a:effectLst/>
                          <a:latin typeface="Calibri" panose="020F0502020204030204" pitchFamily="34" charset="0"/>
                          <a:ea typeface="Calibri" panose="020F0502020204030204" pitchFamily="34" charset="0"/>
                          <a:cs typeface="Arial" panose="020B0604020202020204" pitchFamily="34" charset="0"/>
                        </a:rPr>
                        <a:t>الموردون معرفون مسبقاً في النظام</a:t>
                      </a:r>
                      <a:endParaRPr lang="en-US" sz="16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3743701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9652846A-6E03-C914-9FC2-50FDB4FE73FF}"/>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1C43EE1B-6410-24A1-1033-80C5774AED83}"/>
              </a:ext>
            </a:extLst>
          </p:cNvPr>
          <p:cNvSpPr txBox="1"/>
          <p:nvPr/>
        </p:nvSpPr>
        <p:spPr>
          <a:xfrm>
            <a:off x="6724650" y="12125"/>
            <a:ext cx="5321300" cy="584775"/>
          </a:xfrm>
          <a:prstGeom prst="rect">
            <a:avLst/>
          </a:prstGeom>
          <a:noFill/>
        </p:spPr>
        <p:txBody>
          <a:bodyPr wrap="square" rtlCol="1">
            <a:spAutoFit/>
          </a:bodyPr>
          <a:lstStyle/>
          <a:p>
            <a:r>
              <a:rPr lang="en-US" sz="3200" b="1" u="sng" dirty="0">
                <a:solidFill>
                  <a:srgbClr val="B99A3A"/>
                </a:solidFill>
              </a:rPr>
              <a:t>US-006</a:t>
            </a:r>
            <a:r>
              <a:rPr lang="ar-SY" sz="3200" b="1" u="sng" dirty="0">
                <a:solidFill>
                  <a:srgbClr val="B99A3A"/>
                </a:solidFill>
              </a:rPr>
              <a:t>: تسجيل الوصفات الطبية</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886474BE-62EE-A099-01F6-055D2AD67BDE}"/>
              </a:ext>
            </a:extLst>
          </p:cNvPr>
          <p:cNvGraphicFramePr>
            <a:graphicFrameLocks noGrp="1"/>
          </p:cNvGraphicFramePr>
          <p:nvPr>
            <p:extLst>
              <p:ext uri="{D42A27DB-BD31-4B8C-83A1-F6EECF244321}">
                <p14:modId xmlns:p14="http://schemas.microsoft.com/office/powerpoint/2010/main" val="2849217999"/>
              </p:ext>
            </p:extLst>
          </p:nvPr>
        </p:nvGraphicFramePr>
        <p:xfrm>
          <a:off x="340468" y="596901"/>
          <a:ext cx="11498094" cy="6157649"/>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461580">
                <a:tc>
                  <a:txBody>
                    <a:bodyPr/>
                    <a:lstStyle/>
                    <a:p>
                      <a:pPr marL="90805" marR="59055" algn="r" rtl="0">
                        <a:lnSpc>
                          <a:spcPct val="150000"/>
                        </a:lnSpc>
                        <a:buNone/>
                      </a:pPr>
                      <a:r>
                        <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2000" b="1" dirty="0">
                          <a:effectLst/>
                          <a:latin typeface="Microsoft Sans Serif" panose="020B0604020202020204" pitchFamily="34" charset="0"/>
                          <a:ea typeface="Microsoft Sans Serif" panose="020B0604020202020204" pitchFamily="34" charset="0"/>
                          <a:cs typeface="Arial" panose="020B0604020202020204" pitchFamily="34" charset="0"/>
                        </a:rPr>
                        <a:t>0</a:t>
                      </a:r>
                      <a:r>
                        <a:rPr lang="ar-SY" sz="2000" b="1" dirty="0">
                          <a:effectLst/>
                          <a:latin typeface="Microsoft Sans Serif" panose="020B0604020202020204" pitchFamily="34" charset="0"/>
                          <a:ea typeface="Microsoft Sans Serif" panose="020B0604020202020204" pitchFamily="34" charset="0"/>
                          <a:cs typeface="Arial" panose="020B0604020202020204" pitchFamily="34" charset="0"/>
                        </a:rPr>
                        <a:t>6</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450759">
                <a:tc>
                  <a:txBody>
                    <a:bodyPr/>
                    <a:lstStyle/>
                    <a:p>
                      <a:pPr marL="58420" marR="90805" algn="r" rtl="1">
                        <a:lnSpc>
                          <a:spcPts val="1595"/>
                        </a:lnSpc>
                        <a:spcBef>
                          <a:spcPts val="405"/>
                        </a:spcBef>
                        <a:buNone/>
                      </a:pPr>
                      <a:endPar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endParaRPr>
                    </a:p>
                    <a:p>
                      <a:pPr marL="58420" marR="90805" algn="r" rtl="1">
                        <a:lnSpc>
                          <a:spcPts val="1595"/>
                        </a:lnSpc>
                        <a:spcBef>
                          <a:spcPts val="405"/>
                        </a:spcBef>
                        <a:buNone/>
                      </a:pPr>
                      <a:r>
                        <a:rPr lang="ar-SY" sz="2000" b="1" dirty="0">
                          <a:effectLst/>
                          <a:latin typeface="Microsoft Sans Serif" panose="020B0604020202020204" pitchFamily="34" charset="0"/>
                          <a:ea typeface="Microsoft Sans Serif" panose="020B0604020202020204" pitchFamily="34" charset="0"/>
                          <a:cs typeface="Arial" panose="020B0604020202020204" pitchFamily="34" charset="0"/>
                        </a:rPr>
                        <a:t>تسجيل الوصفات الطبية</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58904">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الصيدلي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691446">
                <a:tc>
                  <a:txBody>
                    <a:bodyPr/>
                    <a:lstStyle/>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السابقة توفر بيانات العميل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إدخال قائمة الأدوية المعتمدة في النظام</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405864">
                <a:tc>
                  <a:txBody>
                    <a:bodyPr/>
                    <a:lstStyle/>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الصيدلي يفتح شاشة "وصفة جديدة"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يدخل بيانات الطبيب والعميل والأدوية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النظام يتحقق من وجود تفاعلات دوائية محتملة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يتم حفظ الوصفة وربطها بالعميل</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402644">
                <a:tc>
                  <a:txBody>
                    <a:bodyPr/>
                    <a:lstStyle/>
                    <a:p>
                      <a:pPr marL="0" marR="0" algn="r" rtl="1">
                        <a:lnSpc>
                          <a:spcPct val="115000"/>
                        </a:lnSpc>
                        <a:spcAft>
                          <a:spcPts val="800"/>
                        </a:spcAft>
                        <a:buNone/>
                      </a:pPr>
                      <a:r>
                        <a:rPr lang="ar-SY" sz="2000" b="1" kern="0">
                          <a:effectLst/>
                          <a:latin typeface="Calibri" panose="020F0502020204030204" pitchFamily="34" charset="0"/>
                          <a:ea typeface="Calibri" panose="020F0502020204030204" pitchFamily="34" charset="0"/>
                          <a:cs typeface="Arial" panose="020B0604020202020204" pitchFamily="34" charset="0"/>
                        </a:rPr>
                        <a:t>إدخال وصفة إلكترونية مرسلة من جهة خارجية</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857349">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حفظ سجل الوصفة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إمكانية طباعتها أو استعراضها لاحقًا</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711874">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فشل التحقق من التفاعلات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إدخال دواء غير موجود في النظام</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768280">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قاعدة بيانات التفاعلات الدوائية محدثة ومتكاملة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2003281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5BE8793B-53B5-91EE-0321-68D6DD360E7D}"/>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986B08C8-B8C7-36E1-C6B6-62CB16065162}"/>
              </a:ext>
            </a:extLst>
          </p:cNvPr>
          <p:cNvSpPr txBox="1"/>
          <p:nvPr/>
        </p:nvSpPr>
        <p:spPr>
          <a:xfrm>
            <a:off x="5715000" y="12125"/>
            <a:ext cx="6330950" cy="584775"/>
          </a:xfrm>
          <a:prstGeom prst="rect">
            <a:avLst/>
          </a:prstGeom>
          <a:noFill/>
        </p:spPr>
        <p:txBody>
          <a:bodyPr wrap="square" rtlCol="1">
            <a:spAutoFit/>
          </a:bodyPr>
          <a:lstStyle/>
          <a:p>
            <a:r>
              <a:rPr lang="en-US" sz="3200" b="1" u="sng" dirty="0">
                <a:solidFill>
                  <a:srgbClr val="B99A3A"/>
                </a:solidFill>
              </a:rPr>
              <a:t>US-007</a:t>
            </a:r>
            <a:r>
              <a:rPr lang="ar-SY" sz="3200" b="1" u="sng" dirty="0">
                <a:solidFill>
                  <a:srgbClr val="B99A3A"/>
                </a:solidFill>
              </a:rPr>
              <a:t>: إدارة حسابات العملاء الآجلة</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C52BC7C7-788B-B7E1-A503-B03ECECAA363}"/>
              </a:ext>
            </a:extLst>
          </p:cNvPr>
          <p:cNvGraphicFramePr>
            <a:graphicFrameLocks noGrp="1"/>
          </p:cNvGraphicFramePr>
          <p:nvPr>
            <p:extLst>
              <p:ext uri="{D42A27DB-BD31-4B8C-83A1-F6EECF244321}">
                <p14:modId xmlns:p14="http://schemas.microsoft.com/office/powerpoint/2010/main" val="1876550332"/>
              </p:ext>
            </p:extLst>
          </p:nvPr>
        </p:nvGraphicFramePr>
        <p:xfrm>
          <a:off x="346953" y="596900"/>
          <a:ext cx="11498094" cy="6259519"/>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442475">
                <a:tc>
                  <a:txBody>
                    <a:bodyPr/>
                    <a:lstStyle/>
                    <a:p>
                      <a:pPr marL="90805" marR="59055" algn="r" rtl="0">
                        <a:lnSpc>
                          <a:spcPct val="150000"/>
                        </a:lnSpc>
                        <a:buNone/>
                      </a:pPr>
                      <a:r>
                        <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2000" b="1" dirty="0">
                          <a:effectLst/>
                          <a:latin typeface="Microsoft Sans Serif" panose="020B0604020202020204" pitchFamily="34" charset="0"/>
                          <a:ea typeface="Microsoft Sans Serif" panose="020B0604020202020204" pitchFamily="34" charset="0"/>
                          <a:cs typeface="Arial" panose="020B0604020202020204" pitchFamily="34" charset="0"/>
                        </a:rPr>
                        <a:t>07</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411137">
                <a:tc>
                  <a:txBody>
                    <a:bodyPr/>
                    <a:lstStyle/>
                    <a:p>
                      <a:pPr marL="58420" marR="90805" algn="r" rtl="1">
                        <a:lnSpc>
                          <a:spcPts val="1595"/>
                        </a:lnSpc>
                        <a:spcBef>
                          <a:spcPts val="405"/>
                        </a:spcBef>
                        <a:buNone/>
                      </a:pPr>
                      <a:r>
                        <a:rPr lang="ar-SY" sz="2000" b="1">
                          <a:effectLst/>
                          <a:latin typeface="Microsoft Sans Serif" panose="020B0604020202020204" pitchFamily="34" charset="0"/>
                          <a:ea typeface="Microsoft Sans Serif" panose="020B0604020202020204" pitchFamily="34" charset="0"/>
                          <a:cs typeface="Arial" panose="020B0604020202020204" pitchFamily="34" charset="0"/>
                        </a:rPr>
                        <a:t>إدارة حسابات العملاء الآجلة</a:t>
                      </a:r>
                      <a:endParaRPr lang="en-US" sz="1600" b="1">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62376">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الصيدلي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749658">
                <a:tc>
                  <a:txBody>
                    <a:bodyPr/>
                    <a:lstStyle/>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تعريف العملاء الآجلين مسبقًا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تحديد حدود ائتمانية لكل عميل</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136940">
                <a:tc>
                  <a:txBody>
                    <a:bodyPr/>
                    <a:lstStyle/>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عند البيع، يختار الصيدلي "دفع آجل"</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النظام يسجل العملية في حساب العميل</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a:effectLst/>
                          <a:latin typeface="Calibri" panose="020F0502020204030204" pitchFamily="34" charset="0"/>
                          <a:ea typeface="Calibri" panose="020F0502020204030204" pitchFamily="34" charset="0"/>
                          <a:cs typeface="Arial" panose="020B0604020202020204" pitchFamily="34" charset="0"/>
                        </a:rPr>
                        <a:t>يتم توليد كشف حساب دوري</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749658">
                <a:tc>
                  <a:txBody>
                    <a:bodyPr/>
                    <a:lstStyle/>
                    <a:p>
                      <a:pPr marL="342900" marR="0" lvl="0" indent="-342900" algn="r" rtl="1">
                        <a:lnSpc>
                          <a:spcPct val="115000"/>
                        </a:lnSpc>
                        <a:buFont typeface="+mj-lt"/>
                        <a:buAutoNum type="arabicPeriod"/>
                      </a:pPr>
                      <a:r>
                        <a:rPr lang="ar-SY" sz="2000" b="1" kern="0" dirty="0">
                          <a:effectLst/>
                          <a:latin typeface="Calibri" panose="020F0502020204030204" pitchFamily="34" charset="0"/>
                          <a:ea typeface="Calibri" panose="020F0502020204030204" pitchFamily="34" charset="0"/>
                          <a:cs typeface="Arial" panose="020B0604020202020204" pitchFamily="34" charset="0"/>
                        </a:rPr>
                        <a:t>إدخال دفعة جزئية من العميل</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dirty="0">
                          <a:effectLst/>
                          <a:latin typeface="Calibri" panose="020F0502020204030204" pitchFamily="34" charset="0"/>
                          <a:ea typeface="Calibri" panose="020F0502020204030204" pitchFamily="34" charset="0"/>
                          <a:cs typeface="Arial" panose="020B0604020202020204" pitchFamily="34" charset="0"/>
                        </a:rPr>
                        <a:t>تعديل رصيد الدين</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749658">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تحديث الذمم المالية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إمكانية إصدار تقرير بالديون</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749658">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تجاوز العميل الحد الائتماني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بيانات حساب غير محدثة</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768027">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العميل ملتزم بجدول السداد، والمحاسب يراجع الحسابات دوريًا</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4252466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6DBE4D36-ABF4-3474-0711-BBBF18E0A752}"/>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E92495AB-995E-D688-030B-955E031BADD4}"/>
              </a:ext>
            </a:extLst>
          </p:cNvPr>
          <p:cNvSpPr txBox="1"/>
          <p:nvPr/>
        </p:nvSpPr>
        <p:spPr>
          <a:xfrm>
            <a:off x="6724650" y="12125"/>
            <a:ext cx="5321300" cy="584775"/>
          </a:xfrm>
          <a:prstGeom prst="rect">
            <a:avLst/>
          </a:prstGeom>
          <a:noFill/>
        </p:spPr>
        <p:txBody>
          <a:bodyPr wrap="square" rtlCol="1">
            <a:spAutoFit/>
          </a:bodyPr>
          <a:lstStyle/>
          <a:p>
            <a:r>
              <a:rPr lang="en-US" sz="3200" b="1" u="sng" dirty="0">
                <a:solidFill>
                  <a:srgbClr val="B99A3A"/>
                </a:solidFill>
              </a:rPr>
              <a:t>UC-008 </a:t>
            </a:r>
            <a:r>
              <a:rPr lang="ar-SY" sz="3200" b="1" u="sng" dirty="0">
                <a:solidFill>
                  <a:srgbClr val="B99A3A"/>
                </a:solidFill>
              </a:rPr>
              <a:t>: توليد التقارير المالية</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ECDEFF49-04F8-68F9-BE62-2AE93355A636}"/>
              </a:ext>
            </a:extLst>
          </p:cNvPr>
          <p:cNvGraphicFramePr>
            <a:graphicFrameLocks noGrp="1"/>
          </p:cNvGraphicFramePr>
          <p:nvPr>
            <p:extLst>
              <p:ext uri="{D42A27DB-BD31-4B8C-83A1-F6EECF244321}">
                <p14:modId xmlns:p14="http://schemas.microsoft.com/office/powerpoint/2010/main" val="453195639"/>
              </p:ext>
            </p:extLst>
          </p:nvPr>
        </p:nvGraphicFramePr>
        <p:xfrm>
          <a:off x="346953" y="596900"/>
          <a:ext cx="11498094" cy="6481221"/>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584475">
                <a:tc>
                  <a:txBody>
                    <a:bodyPr/>
                    <a:lstStyle/>
                    <a:p>
                      <a:pPr marL="90805" marR="59055" algn="r" rtl="0">
                        <a:lnSpc>
                          <a:spcPct val="150000"/>
                        </a:lnSpc>
                        <a:buNone/>
                      </a:pPr>
                      <a:r>
                        <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rPr>
                        <a:t>UC-0</a:t>
                      </a:r>
                      <a:r>
                        <a:rPr lang="ar-SA" sz="2000" b="1" dirty="0">
                          <a:effectLst/>
                          <a:latin typeface="Microsoft Sans Serif" panose="020B0604020202020204" pitchFamily="34" charset="0"/>
                          <a:ea typeface="Microsoft Sans Serif" panose="020B0604020202020204" pitchFamily="34" charset="0"/>
                          <a:cs typeface="Arial" panose="020B0604020202020204" pitchFamily="34" charset="0"/>
                        </a:rPr>
                        <a:t>08</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406530">
                <a:tc>
                  <a:txBody>
                    <a:bodyPr/>
                    <a:lstStyle/>
                    <a:p>
                      <a:pPr marL="58420" marR="90805" algn="r" rtl="1">
                        <a:lnSpc>
                          <a:spcPts val="1595"/>
                        </a:lnSpc>
                        <a:spcBef>
                          <a:spcPts val="405"/>
                        </a:spcBef>
                        <a:buNone/>
                      </a:pPr>
                      <a:endParaRPr lang="ar-SA" sz="2000" b="1" dirty="0">
                        <a:effectLst/>
                        <a:latin typeface="Microsoft Sans Serif" panose="020B0604020202020204" pitchFamily="34" charset="0"/>
                        <a:ea typeface="Microsoft Sans Serif" panose="020B0604020202020204" pitchFamily="34" charset="0"/>
                        <a:cs typeface="Arial" panose="020B0604020202020204" pitchFamily="34" charset="0"/>
                      </a:endParaRPr>
                    </a:p>
                    <a:p>
                      <a:pPr marL="58420" marR="90805" algn="r" rtl="1">
                        <a:lnSpc>
                          <a:spcPts val="1595"/>
                        </a:lnSpc>
                        <a:spcBef>
                          <a:spcPts val="405"/>
                        </a:spcBef>
                        <a:buNone/>
                      </a:pPr>
                      <a:r>
                        <a:rPr lang="ar-SY" sz="2000" b="1" dirty="0">
                          <a:effectLst/>
                          <a:latin typeface="Microsoft Sans Serif" panose="020B0604020202020204" pitchFamily="34" charset="0"/>
                          <a:ea typeface="Microsoft Sans Serif" panose="020B0604020202020204" pitchFamily="34" charset="0"/>
                          <a:cs typeface="Arial" panose="020B0604020202020204" pitchFamily="34" charset="0"/>
                        </a:rPr>
                        <a:t>توليد التقارير المالية</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89162">
                <a:tc>
                  <a:txBody>
                    <a:bodyPr/>
                    <a:lstStyle/>
                    <a:p>
                      <a:pPr marL="0" marR="0" algn="r" rtl="1">
                        <a:lnSpc>
                          <a:spcPct val="115000"/>
                        </a:lnSpc>
                        <a:spcAft>
                          <a:spcPts val="800"/>
                        </a:spcAft>
                        <a:buNone/>
                      </a:pPr>
                      <a:r>
                        <a:rPr lang="ar-SA" sz="2000" b="1" kern="0" dirty="0">
                          <a:effectLst/>
                          <a:latin typeface="Calibri" panose="020F0502020204030204" pitchFamily="34" charset="0"/>
                          <a:ea typeface="Calibri" panose="020F0502020204030204" pitchFamily="34" charset="0"/>
                          <a:cs typeface="Arial" panose="020B0604020202020204" pitchFamily="34" charset="0"/>
                        </a:rPr>
                        <a:t>الصيدلي</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805073">
                <a:tc>
                  <a:txBody>
                    <a:bodyPr/>
                    <a:lstStyle/>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توفر بيانات العمليات في قاعدة البيانات </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صلاحية المستخدم للوصول إلى التقارير</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220983">
                <a:tc>
                  <a:txBody>
                    <a:bodyPr/>
                    <a:lstStyle/>
                    <a:p>
                      <a:pPr marL="342900" marR="0" lvl="0" indent="-342900" algn="r" rtl="1">
                        <a:lnSpc>
                          <a:spcPct val="115000"/>
                        </a:lnSpc>
                        <a:buFont typeface="+mj-lt"/>
                        <a:buAutoNum type="arabicPeriod"/>
                      </a:pPr>
                      <a:r>
                        <a:rPr lang="ar-SY" sz="2000" b="1" kern="0" dirty="0">
                          <a:effectLst/>
                          <a:latin typeface="Calibri" panose="020F0502020204030204" pitchFamily="34" charset="0"/>
                          <a:ea typeface="Calibri" panose="020F0502020204030204" pitchFamily="34" charset="0"/>
                          <a:cs typeface="Arial" panose="020B0604020202020204" pitchFamily="34" charset="0"/>
                        </a:rPr>
                        <a:t>المستخدم يحدد نوع التقرير وفترة الزمن</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Y" sz="2000" b="1" kern="0" dirty="0">
                          <a:effectLst/>
                          <a:latin typeface="Calibri" panose="020F0502020204030204" pitchFamily="34" charset="0"/>
                          <a:ea typeface="Calibri" panose="020F0502020204030204" pitchFamily="34" charset="0"/>
                          <a:cs typeface="Arial" panose="020B0604020202020204" pitchFamily="34" charset="0"/>
                        </a:rPr>
                        <a:t>النظام يجمع البيانات المطلوبة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dirty="0">
                          <a:effectLst/>
                          <a:latin typeface="Calibri" panose="020F0502020204030204" pitchFamily="34" charset="0"/>
                          <a:ea typeface="Calibri" panose="020F0502020204030204" pitchFamily="34" charset="0"/>
                          <a:cs typeface="Arial" panose="020B0604020202020204" pitchFamily="34" charset="0"/>
                        </a:rPr>
                        <a:t>يتم إنشاء التقرير وعرضه أو طباعته</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570517">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تصدير التقرير إلى ملف </a:t>
                      </a:r>
                      <a:r>
                        <a:rPr lang="en-US" sz="2000" b="1" kern="0" dirty="0">
                          <a:effectLst/>
                          <a:latin typeface="Calibri" panose="020F0502020204030204" pitchFamily="34" charset="0"/>
                          <a:ea typeface="Calibri" panose="020F0502020204030204" pitchFamily="34" charset="0"/>
                          <a:cs typeface="Arial" panose="020B0604020202020204" pitchFamily="34" charset="0"/>
                        </a:rPr>
                        <a:t>PDF</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495134">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عرض تقرير دقيق وشامل للعمليات المالية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p>
                    <a:p>
                      <a:pPr marL="90805" marR="59055" algn="r" defTabSz="914400" rtl="1" eaLnBrk="1" latinLnBrk="0" hangingPunct="1">
                        <a:lnSpc>
                          <a:spcPct val="150000"/>
                        </a:lnSpc>
                        <a:spcBef>
                          <a:spcPts val="5"/>
                        </a:spcBef>
                        <a:spcAft>
                          <a:spcPts val="800"/>
                        </a:spcAft>
                        <a:buNone/>
                      </a:pP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805073">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فقدان بعض البيانات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خطأ في الحسابات</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759420">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النظام يحفظ جميع المعاملات المالية بشكل صحيح</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3395295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7551DFAF-D993-DE94-870C-8C29B446603B}"/>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65C9686C-7A62-5433-2AB1-1E824FF4870D}"/>
              </a:ext>
            </a:extLst>
          </p:cNvPr>
          <p:cNvSpPr txBox="1"/>
          <p:nvPr/>
        </p:nvSpPr>
        <p:spPr>
          <a:xfrm>
            <a:off x="5769429" y="12125"/>
            <a:ext cx="6276521" cy="584775"/>
          </a:xfrm>
          <a:prstGeom prst="rect">
            <a:avLst/>
          </a:prstGeom>
          <a:noFill/>
        </p:spPr>
        <p:txBody>
          <a:bodyPr wrap="square" rtlCol="1">
            <a:spAutoFit/>
          </a:bodyPr>
          <a:lstStyle/>
          <a:p>
            <a:r>
              <a:rPr lang="en-US" sz="3200" b="1" u="sng" dirty="0">
                <a:solidFill>
                  <a:srgbClr val="B99A3A"/>
                </a:solidFill>
              </a:rPr>
              <a:t>UC-009</a:t>
            </a:r>
            <a:r>
              <a:rPr lang="ar-SY" sz="3200" b="1" u="sng" dirty="0">
                <a:solidFill>
                  <a:srgbClr val="B99A3A"/>
                </a:solidFill>
              </a:rPr>
              <a:t>: البحث الذكي عن الادوية البديلة</a:t>
            </a:r>
            <a:endParaRPr lang="en-US" sz="3200" b="1" u="sng" dirty="0">
              <a:solidFill>
                <a:srgbClr val="B99A3A"/>
              </a:solidFill>
            </a:endParaRPr>
          </a:p>
        </p:txBody>
      </p:sp>
      <p:graphicFrame>
        <p:nvGraphicFramePr>
          <p:cNvPr id="7" name="جدول 6">
            <a:extLst>
              <a:ext uri="{FF2B5EF4-FFF2-40B4-BE49-F238E27FC236}">
                <a16:creationId xmlns:a16="http://schemas.microsoft.com/office/drawing/2014/main" id="{53B9DA97-A6B6-EDCD-5651-044BA2E13499}"/>
              </a:ext>
            </a:extLst>
          </p:cNvPr>
          <p:cNvGraphicFramePr>
            <a:graphicFrameLocks noGrp="1"/>
          </p:cNvGraphicFramePr>
          <p:nvPr>
            <p:extLst>
              <p:ext uri="{D42A27DB-BD31-4B8C-83A1-F6EECF244321}">
                <p14:modId xmlns:p14="http://schemas.microsoft.com/office/powerpoint/2010/main" val="2066781174"/>
              </p:ext>
            </p:extLst>
          </p:nvPr>
        </p:nvGraphicFramePr>
        <p:xfrm>
          <a:off x="346953" y="616857"/>
          <a:ext cx="11498094" cy="5901867"/>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584475">
                <a:tc>
                  <a:txBody>
                    <a:bodyPr/>
                    <a:lstStyle/>
                    <a:p>
                      <a:pPr marL="90805" marR="59055" algn="r">
                        <a:lnSpc>
                          <a:spcPct val="150000"/>
                        </a:lnSpc>
                        <a:buNone/>
                      </a:pPr>
                      <a:r>
                        <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rPr>
                        <a:t>UC-009</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406530">
                <a:tc>
                  <a:txBody>
                    <a:bodyPr/>
                    <a:lstStyle/>
                    <a:p>
                      <a:pPr marL="58420" marR="90805" algn="r" rtl="1">
                        <a:lnSpc>
                          <a:spcPts val="1595"/>
                        </a:lnSpc>
                        <a:spcBef>
                          <a:spcPts val="405"/>
                        </a:spcBef>
                        <a:buNone/>
                      </a:pPr>
                      <a:endParaRPr lang="en-US" sz="2000" b="1" dirty="0">
                        <a:effectLst/>
                        <a:latin typeface="Microsoft Sans Serif" panose="020B0604020202020204" pitchFamily="34" charset="0"/>
                        <a:ea typeface="Microsoft Sans Serif" panose="020B0604020202020204" pitchFamily="34" charset="0"/>
                        <a:cs typeface="Arial" panose="020B0604020202020204" pitchFamily="34" charset="0"/>
                      </a:endParaRPr>
                    </a:p>
                    <a:p>
                      <a:pPr marL="58420" marR="90805" algn="r" rtl="1">
                        <a:lnSpc>
                          <a:spcPts val="1595"/>
                        </a:lnSpc>
                        <a:spcBef>
                          <a:spcPts val="405"/>
                        </a:spcBef>
                        <a:buNone/>
                      </a:pPr>
                      <a:r>
                        <a:rPr lang="ar-SY" sz="2000" b="1" dirty="0">
                          <a:effectLst/>
                          <a:latin typeface="Microsoft Sans Serif" panose="020B0604020202020204" pitchFamily="34" charset="0"/>
                          <a:ea typeface="Microsoft Sans Serif" panose="020B0604020202020204" pitchFamily="34" charset="0"/>
                          <a:cs typeface="Arial" panose="020B0604020202020204" pitchFamily="34" charset="0"/>
                        </a:rPr>
                        <a:t>البحث الذكي عن الادوية البديلة</a:t>
                      </a:r>
                      <a:endParaRPr lang="en-US" sz="1600" b="1" dirty="0">
                        <a:effectLst/>
                        <a:latin typeface="Microsoft Sans Serif" panose="020B0604020202020204" pitchFamily="34" charset="0"/>
                        <a:ea typeface="Microsoft Sans Serif" panose="020B060402020202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89162">
                <a:tc>
                  <a:txBody>
                    <a:bodyPr/>
                    <a:lstStyle/>
                    <a:p>
                      <a:pPr marL="0" marR="0" algn="r" rtl="1">
                        <a:lnSpc>
                          <a:spcPct val="115000"/>
                        </a:lnSpc>
                        <a:spcAft>
                          <a:spcPts val="800"/>
                        </a:spcAft>
                        <a:buNone/>
                      </a:pPr>
                      <a:r>
                        <a:rPr lang="ar-SA" sz="2000" b="1" kern="0" dirty="0">
                          <a:effectLst/>
                          <a:latin typeface="Calibri" panose="020F0502020204030204" pitchFamily="34" charset="0"/>
                          <a:ea typeface="Calibri" panose="020F0502020204030204" pitchFamily="34" charset="0"/>
                          <a:cs typeface="Arial" panose="020B0604020202020204" pitchFamily="34" charset="0"/>
                        </a:rPr>
                        <a:t>الصيدلي</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805073">
                <a:tc>
                  <a:txBody>
                    <a:bodyPr/>
                    <a:lstStyle/>
                    <a:p>
                      <a:pPr marL="0" marR="0" algn="r" rtl="1">
                        <a:lnSpc>
                          <a:spcPct val="115000"/>
                        </a:lnSpc>
                        <a:spcAft>
                          <a:spcPts val="800"/>
                        </a:spcAft>
                        <a:buNone/>
                      </a:pPr>
                      <a:r>
                        <a:rPr lang="ar-SA" sz="2000" b="1" kern="0">
                          <a:effectLst/>
                          <a:latin typeface="Calibri" panose="020F0502020204030204" pitchFamily="34" charset="0"/>
                          <a:ea typeface="Calibri" panose="020F0502020204030204" pitchFamily="34" charset="0"/>
                          <a:cs typeface="Arial" panose="020B0604020202020204" pitchFamily="34" charset="0"/>
                        </a:rPr>
                        <a:t>توفر قاعدة بيانات تحتوي على المواد الفعالة للأدوية</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897231">
                <a:tc>
                  <a:txBody>
                    <a:bodyPr/>
                    <a:lstStyle/>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يدخل المستخدم اسم الدواء أو المادة الفعالة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النظام يبحث عن الأدوية التي تحتوي نفس المادة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2000" b="1" kern="0" dirty="0">
                          <a:effectLst/>
                          <a:latin typeface="Calibri" panose="020F0502020204030204" pitchFamily="34" charset="0"/>
                          <a:ea typeface="Calibri" panose="020F0502020204030204" pitchFamily="34" charset="0"/>
                          <a:cs typeface="Arial" panose="020B0604020202020204" pitchFamily="34" charset="0"/>
                        </a:rPr>
                        <a:t>يعرض قائمة البدائل المتاحة.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570517">
                <a:tc>
                  <a:txBody>
                    <a:bodyPr/>
                    <a:lstStyle/>
                    <a:p>
                      <a:pPr marL="0" marR="0" algn="r" rtl="1">
                        <a:lnSpc>
                          <a:spcPct val="115000"/>
                        </a:lnSpc>
                        <a:spcAft>
                          <a:spcPts val="800"/>
                        </a:spcAft>
                        <a:buNone/>
                      </a:pPr>
                      <a:r>
                        <a:rPr lang="ar-SY" sz="2000" b="1" kern="0">
                          <a:effectLst/>
                          <a:latin typeface="Calibri" panose="020F0502020204030204" pitchFamily="34" charset="0"/>
                          <a:ea typeface="Calibri" panose="020F0502020204030204" pitchFamily="34" charset="0"/>
                          <a:cs typeface="Arial" panose="020B0604020202020204" pitchFamily="34" charset="0"/>
                        </a:rPr>
                        <a:t>المستخدم يفلتر النتائج حسب السعر أو الشركة المصنع</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495134">
                <a:tc>
                  <a:txBody>
                    <a:bodyPr/>
                    <a:lstStyle/>
                    <a:p>
                      <a:pPr marL="0" marR="0" algn="r" rtl="1">
                        <a:lnSpc>
                          <a:spcPct val="115000"/>
                        </a:lnSpc>
                        <a:spcAft>
                          <a:spcPts val="800"/>
                        </a:spcAft>
                        <a:buNone/>
                      </a:pPr>
                      <a:r>
                        <a:rPr lang="ar-SY" sz="2000" b="1" kern="0">
                          <a:effectLst/>
                          <a:latin typeface="Calibri" panose="020F0502020204030204" pitchFamily="34" charset="0"/>
                          <a:ea typeface="Calibri" panose="020F0502020204030204" pitchFamily="34" charset="0"/>
                          <a:cs typeface="Arial" panose="020B0604020202020204" pitchFamily="34" charset="0"/>
                        </a:rPr>
                        <a:t>عرض قائمة دقيقة بالبدائل</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805073">
                <a:tc>
                  <a:txBody>
                    <a:bodyPr/>
                    <a:lstStyle/>
                    <a:p>
                      <a:pPr marL="342900" marR="0" lvl="0" indent="-342900" algn="r" rtl="1">
                        <a:lnSpc>
                          <a:spcPct val="115000"/>
                        </a:lnSpc>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عدم وجود بيانات للبدائل </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2000" b="1" kern="0">
                          <a:effectLst/>
                          <a:latin typeface="Calibri" panose="020F0502020204030204" pitchFamily="34" charset="0"/>
                          <a:ea typeface="Calibri" panose="020F0502020204030204" pitchFamily="34" charset="0"/>
                          <a:cs typeface="Arial" panose="020B0604020202020204" pitchFamily="34" charset="0"/>
                        </a:rPr>
                        <a:t>تشابه في أسماء الأدوية يسبب خطأ بالبحث</a:t>
                      </a:r>
                      <a:endParaRPr lang="en-US" sz="1800" b="1" kern="100">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759420">
                <a:tc>
                  <a:txBody>
                    <a:bodyPr/>
                    <a:lstStyle/>
                    <a:p>
                      <a:pPr marL="0" marR="0" algn="r" rtl="1">
                        <a:lnSpc>
                          <a:spcPct val="115000"/>
                        </a:lnSpc>
                        <a:spcAft>
                          <a:spcPts val="800"/>
                        </a:spcAft>
                        <a:buNone/>
                      </a:pPr>
                      <a:r>
                        <a:rPr lang="ar-SY" sz="2000" b="1" kern="0" dirty="0">
                          <a:effectLst/>
                          <a:latin typeface="Calibri" panose="020F0502020204030204" pitchFamily="34" charset="0"/>
                          <a:ea typeface="Calibri" panose="020F0502020204030204" pitchFamily="34" charset="0"/>
                          <a:cs typeface="Arial" panose="020B0604020202020204" pitchFamily="34" charset="0"/>
                        </a:rPr>
                        <a:t>قاعدة البيانات محدثة ومكتملة بالمعلومات الدوائية</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3434888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3541C1EE-A114-490E-F746-ABE94DCDA22D}"/>
            </a:ext>
          </a:extLst>
        </p:cNvPr>
        <p:cNvGrpSpPr/>
        <p:nvPr/>
      </p:nvGrpSpPr>
      <p:grpSpPr>
        <a:xfrm>
          <a:off x="0" y="0"/>
          <a:ext cx="0" cy="0"/>
          <a:chOff x="0" y="0"/>
          <a:chExt cx="0" cy="0"/>
        </a:xfrm>
      </p:grpSpPr>
      <p:sp>
        <p:nvSpPr>
          <p:cNvPr id="6" name="مربع نص 5">
            <a:extLst>
              <a:ext uri="{FF2B5EF4-FFF2-40B4-BE49-F238E27FC236}">
                <a16:creationId xmlns:a16="http://schemas.microsoft.com/office/drawing/2014/main" id="{0D03842F-69FE-71FD-3BA9-6F0A1B1EB605}"/>
              </a:ext>
            </a:extLst>
          </p:cNvPr>
          <p:cNvSpPr txBox="1"/>
          <p:nvPr/>
        </p:nvSpPr>
        <p:spPr>
          <a:xfrm>
            <a:off x="5442858" y="0"/>
            <a:ext cx="6276521" cy="646331"/>
          </a:xfrm>
          <a:prstGeom prst="rect">
            <a:avLst/>
          </a:prstGeom>
          <a:noFill/>
        </p:spPr>
        <p:txBody>
          <a:bodyPr wrap="square" rtlCol="1">
            <a:spAutoFit/>
          </a:bodyPr>
          <a:lstStyle/>
          <a:p>
            <a:r>
              <a:rPr lang="en-US" sz="3600" b="1" u="sng" dirty="0">
                <a:solidFill>
                  <a:srgbClr val="B99A3A"/>
                </a:solidFill>
              </a:rPr>
              <a:t>UC-010</a:t>
            </a:r>
            <a:r>
              <a:rPr lang="ar-SY" sz="3600" b="1" u="sng" dirty="0">
                <a:solidFill>
                  <a:srgbClr val="B99A3A"/>
                </a:solidFill>
              </a:rPr>
              <a:t>: إدارة الأصناف والأدوية </a:t>
            </a:r>
            <a:endParaRPr lang="en-US" sz="3600" b="1" u="sng" dirty="0">
              <a:solidFill>
                <a:srgbClr val="B99A3A"/>
              </a:solidFill>
            </a:endParaRPr>
          </a:p>
        </p:txBody>
      </p:sp>
      <p:graphicFrame>
        <p:nvGraphicFramePr>
          <p:cNvPr id="7" name="جدول 6">
            <a:extLst>
              <a:ext uri="{FF2B5EF4-FFF2-40B4-BE49-F238E27FC236}">
                <a16:creationId xmlns:a16="http://schemas.microsoft.com/office/drawing/2014/main" id="{3EE8E80E-4D55-B581-3614-1596D8BB6984}"/>
              </a:ext>
            </a:extLst>
          </p:cNvPr>
          <p:cNvGraphicFramePr>
            <a:graphicFrameLocks noGrp="1"/>
          </p:cNvGraphicFramePr>
          <p:nvPr>
            <p:extLst>
              <p:ext uri="{D42A27DB-BD31-4B8C-83A1-F6EECF244321}">
                <p14:modId xmlns:p14="http://schemas.microsoft.com/office/powerpoint/2010/main" val="1382757407"/>
              </p:ext>
            </p:extLst>
          </p:nvPr>
        </p:nvGraphicFramePr>
        <p:xfrm>
          <a:off x="346953" y="616858"/>
          <a:ext cx="11498094" cy="6075301"/>
        </p:xfrm>
        <a:graphic>
          <a:graphicData uri="http://schemas.openxmlformats.org/drawingml/2006/table">
            <a:tbl>
              <a:tblPr firstRow="1" firstCol="1" lastRow="1" lastCol="1" bandRow="1" bandCol="1">
                <a:tableStyleId>{2D5ABB26-0587-4C30-8999-92F81FD0307C}</a:tableStyleId>
              </a:tblPr>
              <a:tblGrid>
                <a:gridCol w="8938922">
                  <a:extLst>
                    <a:ext uri="{9D8B030D-6E8A-4147-A177-3AD203B41FA5}">
                      <a16:colId xmlns:a16="http://schemas.microsoft.com/office/drawing/2014/main" val="1304464569"/>
                    </a:ext>
                  </a:extLst>
                </a:gridCol>
                <a:gridCol w="2559172">
                  <a:extLst>
                    <a:ext uri="{9D8B030D-6E8A-4147-A177-3AD203B41FA5}">
                      <a16:colId xmlns:a16="http://schemas.microsoft.com/office/drawing/2014/main" val="184222304"/>
                    </a:ext>
                  </a:extLst>
                </a:gridCol>
              </a:tblGrid>
              <a:tr h="553156">
                <a:tc>
                  <a:txBody>
                    <a:bodyPr/>
                    <a:lstStyle/>
                    <a:p>
                      <a:pPr marL="90805" marR="59055" algn="r" rtl="0">
                        <a:lnSpc>
                          <a:spcPct val="150000"/>
                        </a:lnSpc>
                        <a:buNone/>
                      </a:pPr>
                      <a:r>
                        <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UC-010</a:t>
                      </a: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en-US" sz="1800" b="1" kern="1200" dirty="0">
                          <a:solidFill>
                            <a:schemeClr val="dk1"/>
                          </a:solidFill>
                          <a:effectLst/>
                          <a:latin typeface="+mn-lt"/>
                          <a:ea typeface="+mn-ea"/>
                          <a:cs typeface="+mn-cs"/>
                        </a:rPr>
                        <a:t>          ID   </a:t>
                      </a:r>
                    </a:p>
                  </a:txBody>
                  <a:tcPr marL="0" marR="0" marT="0" marB="0">
                    <a:solidFill>
                      <a:srgbClr val="E7DBB3"/>
                    </a:solidFill>
                  </a:tcPr>
                </a:tc>
                <a:extLst>
                  <a:ext uri="{0D108BD9-81ED-4DB2-BD59-A6C34878D82A}">
                    <a16:rowId xmlns:a16="http://schemas.microsoft.com/office/drawing/2014/main" val="1397391699"/>
                  </a:ext>
                </a:extLst>
              </a:tr>
              <a:tr h="384746">
                <a:tc>
                  <a:txBody>
                    <a:bodyPr/>
                    <a:lstStyle/>
                    <a:p>
                      <a:pPr marL="58420" marR="90805" algn="r" rtl="1">
                        <a:lnSpc>
                          <a:spcPts val="1595"/>
                        </a:lnSpc>
                        <a:spcBef>
                          <a:spcPts val="405"/>
                        </a:spcBef>
                        <a:buNone/>
                      </a:pPr>
                      <a:r>
                        <a:rPr lang="ar-SY"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إدارة الأصناف والأدوية</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اسم الوظيفة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945952914"/>
                  </a:ext>
                </a:extLst>
              </a:tr>
              <a:tr h="368309">
                <a:tc>
                  <a:txBody>
                    <a:bodyPr/>
                    <a:lstStyle/>
                    <a:p>
                      <a:pPr marL="0" marR="0" algn="r" rtl="1">
                        <a:lnSpc>
                          <a:spcPct val="115000"/>
                        </a:lnSpc>
                        <a:spcAft>
                          <a:spcPts val="800"/>
                        </a:spcAft>
                        <a:buNone/>
                      </a:pPr>
                      <a:r>
                        <a:rPr lang="ar-SA"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الصيدلي </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     الفاعلون</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2343143411"/>
                  </a:ext>
                </a:extLst>
              </a:tr>
              <a:tr h="514197">
                <a:tc>
                  <a:txBody>
                    <a:bodyPr/>
                    <a:lstStyle/>
                    <a:p>
                      <a:pPr marL="342900" marR="0" lvl="0" indent="-342900" algn="r" rtl="1">
                        <a:lnSpc>
                          <a:spcPct val="115000"/>
                        </a:lnSpc>
                        <a:buFont typeface="+mj-lt"/>
                        <a:buAutoNum type="arabicPeriod"/>
                      </a:pPr>
                      <a:r>
                        <a:rPr lang="ar-SA"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تسجيل دخول الصيدلي </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وجود أصناف أساسية للأدوية</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الشروط   المسبقة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3317153824"/>
                  </a:ext>
                </a:extLst>
              </a:tr>
              <a:tr h="1378333">
                <a:tc>
                  <a:txBody>
                    <a:bodyPr/>
                    <a:lstStyle/>
                    <a:p>
                      <a:pPr marL="342900" marR="0" lvl="0" indent="-342900" algn="r" rtl="1">
                        <a:lnSpc>
                          <a:spcPct val="115000"/>
                        </a:lnSpc>
                        <a:buFont typeface="+mj-lt"/>
                        <a:buAutoNum type="arabicPeriod"/>
                      </a:pPr>
                      <a:r>
                        <a:rPr lang="ar-SA"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يقوم الصيدلي بفتح شاشة إدارة الأصناف </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يختار (إضافة – حذف - تعديل)</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يُدخل او يعدل البيانات المطلوبة (اسم – سعر – صنف ...)</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ينقر على زر الحفظ</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A"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يقوم النظام بالتحقق من صحة البيانات</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A"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يقوم النظام بتحديث قاعدة البيانات وعرض رسالة النجاح</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التدفق الرئيسي</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677394037"/>
                  </a:ext>
                </a:extLst>
              </a:tr>
              <a:tr h="730423">
                <a:tc>
                  <a:txBody>
                    <a:bodyPr/>
                    <a:lstStyle/>
                    <a:p>
                      <a:pPr marL="342900" marR="0" lvl="0" indent="-342900" algn="r" rtl="1">
                        <a:lnSpc>
                          <a:spcPct val="115000"/>
                        </a:lnSpc>
                        <a:buFont typeface="+mj-lt"/>
                        <a:buAutoNum type="arabicPeriod"/>
                      </a:pP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بيانات غير صحيحة --</a:t>
                      </a:r>
                      <a:r>
                        <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&lt;</a:t>
                      </a: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 يعرض رسالة خطأ </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buFont typeface="+mj-lt"/>
                        <a:buAutoNum type="arabicPeriod"/>
                      </a:pP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تكرار بيانات --</a:t>
                      </a:r>
                      <a:r>
                        <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&lt;</a:t>
                      </a: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 يعرض تنبيه يمنع التكرار</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عملية غير مسموحة --</a:t>
                      </a:r>
                      <a:r>
                        <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&lt;</a:t>
                      </a: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 يمنع الاجراء </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Aft>
                          <a:spcPts val="800"/>
                        </a:spcAft>
                        <a:buNone/>
                      </a:pPr>
                      <a:r>
                        <a:rPr lang="ar-SA" sz="1800" b="1" kern="1200" dirty="0">
                          <a:solidFill>
                            <a:schemeClr val="dk1"/>
                          </a:solidFill>
                          <a:effectLst/>
                          <a:latin typeface="+mn-lt"/>
                          <a:ea typeface="+mn-ea"/>
                          <a:cs typeface="+mn-cs"/>
                        </a:rPr>
                        <a:t>التدفقات البديلة</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127635880"/>
                  </a:ext>
                </a:extLst>
              </a:tr>
              <a:tr h="468602">
                <a:tc>
                  <a:txBody>
                    <a:bodyPr/>
                    <a:lstStyle/>
                    <a:p>
                      <a:pPr marL="0" marR="0" algn="r" rtl="1">
                        <a:lnSpc>
                          <a:spcPct val="115000"/>
                        </a:lnSpc>
                        <a:spcAft>
                          <a:spcPts val="800"/>
                        </a:spcAft>
                        <a:buNone/>
                      </a:pPr>
                      <a:r>
                        <a:rPr lang="ar-SY"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تحديث قاعدة البيانات بالعملية المنفذة بالإجراء الذي قمنا به</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indent="0" algn="r" defTabSz="914400" rtl="1" eaLnBrk="1" latinLnBrk="0" hangingPunct="1">
                        <a:lnSpc>
                          <a:spcPct val="150000"/>
                        </a:lnSpc>
                        <a:spcBef>
                          <a:spcPts val="5"/>
                        </a:spcBef>
                        <a:spcAft>
                          <a:spcPts val="800"/>
                        </a:spcAft>
                        <a:buNone/>
                      </a:pPr>
                      <a:r>
                        <a:rPr lang="en-US" sz="1800" b="1" kern="1200" dirty="0">
                          <a:solidFill>
                            <a:schemeClr val="dk1"/>
                          </a:solidFill>
                          <a:effectLst/>
                          <a:latin typeface="+mn-lt"/>
                          <a:ea typeface="+mn-ea"/>
                          <a:cs typeface="+mn-cs"/>
                        </a:rPr>
                        <a:t> </a:t>
                      </a:r>
                      <a:r>
                        <a:rPr lang="ar-SA" sz="1800" b="1" kern="1200" dirty="0">
                          <a:solidFill>
                            <a:schemeClr val="dk1"/>
                          </a:solidFill>
                          <a:effectLst/>
                          <a:latin typeface="+mn-lt"/>
                          <a:ea typeface="+mn-ea"/>
                          <a:cs typeface="+mn-cs"/>
                        </a:rPr>
                        <a:t>الشروط اللاحقة</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864292954"/>
                  </a:ext>
                </a:extLst>
              </a:tr>
              <a:tr h="550343">
                <a:tc>
                  <a:txBody>
                    <a:bodyPr/>
                    <a:lstStyle/>
                    <a:p>
                      <a:pPr marL="342900" marR="0" lvl="0" indent="-342900" algn="r" rtl="1">
                        <a:lnSpc>
                          <a:spcPct val="115000"/>
                        </a:lnSpc>
                        <a:buFont typeface="+mj-lt"/>
                        <a:buAutoNum type="arabicPeriod"/>
                      </a:pPr>
                      <a:r>
                        <a:rPr lang="ar-SY"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انقطاع الاتصال بقاعدة البيانات </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15000"/>
                        </a:lnSpc>
                        <a:spcAft>
                          <a:spcPts val="800"/>
                        </a:spcAft>
                        <a:buFont typeface="+mj-lt"/>
                        <a:buAutoNum type="arabicPeriod"/>
                      </a:pPr>
                      <a:r>
                        <a:rPr lang="ar-SY"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rPr>
                        <a:t>خطأ في عملية الحفظ</a:t>
                      </a:r>
                      <a:endParaRPr lang="en-US" sz="1600" b="1" kern="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الاستثناءات</a:t>
                      </a:r>
                      <a:endParaRPr lang="en-US" sz="1800" b="1" kern="1200" dirty="0">
                        <a:solidFill>
                          <a:schemeClr val="dk1"/>
                        </a:solidFill>
                        <a:effectLst/>
                        <a:latin typeface="+mn-lt"/>
                        <a:ea typeface="+mn-ea"/>
                        <a:cs typeface="+mn-cs"/>
                      </a:endParaRPr>
                    </a:p>
                  </a:txBody>
                  <a:tcPr marL="0" marR="0" marT="0" marB="0"/>
                </a:tc>
                <a:extLst>
                  <a:ext uri="{0D108BD9-81ED-4DB2-BD59-A6C34878D82A}">
                    <a16:rowId xmlns:a16="http://schemas.microsoft.com/office/drawing/2014/main" val="238928481"/>
                  </a:ext>
                </a:extLst>
              </a:tr>
              <a:tr h="718726">
                <a:tc>
                  <a:txBody>
                    <a:bodyPr/>
                    <a:lstStyle/>
                    <a:p>
                      <a:pPr marL="0" marR="0" algn="r" rtl="1">
                        <a:lnSpc>
                          <a:spcPct val="115000"/>
                        </a:lnSpc>
                        <a:spcAft>
                          <a:spcPts val="800"/>
                        </a:spcAft>
                        <a:buNone/>
                      </a:pPr>
                      <a:r>
                        <a:rPr lang="ar-SY"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rPr>
                        <a:t>الادوية تُدخل وفق التصنيفات</a:t>
                      </a:r>
                      <a:endParaRPr lang="en-US" sz="1600" b="1" kern="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0" marR="0" marT="0" marB="0">
                    <a:solidFill>
                      <a:srgbClr val="E7DBB3"/>
                    </a:solidFill>
                  </a:tcPr>
                </a:tc>
                <a:tc>
                  <a:txBody>
                    <a:bodyPr/>
                    <a:lstStyle/>
                    <a:p>
                      <a:pPr marL="90805" marR="59055" algn="r" defTabSz="914400" rtl="1" eaLnBrk="1" latinLnBrk="0" hangingPunct="1">
                        <a:lnSpc>
                          <a:spcPct val="150000"/>
                        </a:lnSpc>
                        <a:spcBef>
                          <a:spcPts val="5"/>
                        </a:spcBef>
                        <a:spcAft>
                          <a:spcPts val="800"/>
                        </a:spcAft>
                        <a:buNone/>
                      </a:pPr>
                      <a:r>
                        <a:rPr lang="ar-SY" sz="1800" b="1" kern="1200" dirty="0">
                          <a:solidFill>
                            <a:schemeClr val="dk1"/>
                          </a:solidFill>
                          <a:effectLst/>
                          <a:latin typeface="+mn-lt"/>
                          <a:ea typeface="+mn-ea"/>
                          <a:cs typeface="+mn-cs"/>
                        </a:rPr>
                        <a:t>الافتراضات</a:t>
                      </a:r>
                      <a:endParaRPr lang="en-US" sz="1800" b="1" kern="1200" dirty="0">
                        <a:solidFill>
                          <a:schemeClr val="dk1"/>
                        </a:solidFill>
                        <a:effectLst/>
                        <a:latin typeface="+mn-lt"/>
                        <a:ea typeface="+mn-ea"/>
                        <a:cs typeface="+mn-cs"/>
                      </a:endParaRPr>
                    </a:p>
                  </a:txBody>
                  <a:tcPr marL="0" marR="0" marT="0" marB="0">
                    <a:solidFill>
                      <a:srgbClr val="E7DBB3"/>
                    </a:solidFill>
                  </a:tcPr>
                </a:tc>
                <a:extLst>
                  <a:ext uri="{0D108BD9-81ED-4DB2-BD59-A6C34878D82A}">
                    <a16:rowId xmlns:a16="http://schemas.microsoft.com/office/drawing/2014/main" val="3971225522"/>
                  </a:ext>
                </a:extLst>
              </a:tr>
            </a:tbl>
          </a:graphicData>
        </a:graphic>
      </p:graphicFrame>
    </p:spTree>
    <p:extLst>
      <p:ext uri="{BB962C8B-B14F-4D97-AF65-F5344CB8AC3E}">
        <p14:creationId xmlns:p14="http://schemas.microsoft.com/office/powerpoint/2010/main" val="2923953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1929780A-51A4-A0C3-AECF-7CB3E9720DDE}"/>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B0BB8E65-BF3A-062C-9C93-35DABBB7BC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8944" y="1179619"/>
            <a:ext cx="10227076" cy="5422689"/>
          </a:xfrm>
          <a:prstGeom prst="rect">
            <a:avLst/>
          </a:prstGeom>
        </p:spPr>
      </p:pic>
      <p:sp>
        <p:nvSpPr>
          <p:cNvPr id="5" name="مستطيل: زوايا مستديرة 4">
            <a:extLst>
              <a:ext uri="{FF2B5EF4-FFF2-40B4-BE49-F238E27FC236}">
                <a16:creationId xmlns:a16="http://schemas.microsoft.com/office/drawing/2014/main" id="{AF097AAE-E07B-184B-B683-80D44A23D5B3}"/>
              </a:ext>
            </a:extLst>
          </p:cNvPr>
          <p:cNvSpPr/>
          <p:nvPr/>
        </p:nvSpPr>
        <p:spPr>
          <a:xfrm>
            <a:off x="982462" y="177351"/>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solidFill>
                  <a:schemeClr val="tx1"/>
                </a:solidFill>
              </a:rPr>
              <a:t>Use Case Diagram</a:t>
            </a:r>
            <a:endParaRPr lang="ar-SA" sz="5400" b="1" dirty="0">
              <a:solidFill>
                <a:schemeClr val="tx1"/>
              </a:solidFill>
            </a:endParaRPr>
          </a:p>
        </p:txBody>
      </p:sp>
    </p:spTree>
    <p:extLst>
      <p:ext uri="{BB962C8B-B14F-4D97-AF65-F5344CB8AC3E}">
        <p14:creationId xmlns:p14="http://schemas.microsoft.com/office/powerpoint/2010/main" val="2005492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09F59227-DFC8-6726-A707-D1B7646A3EFD}"/>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C35F581C-80EB-7D0E-6D1B-FCFA118C6C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94089" y="1079151"/>
            <a:ext cx="3789582" cy="5437059"/>
          </a:xfrm>
          <a:prstGeom prst="rect">
            <a:avLst/>
          </a:prstGeom>
        </p:spPr>
      </p:pic>
      <p:pic>
        <p:nvPicPr>
          <p:cNvPr id="4" name="صورة 3" descr="صورة تحتوي على نص, رسم بياني, لقطة شاشة, خطة&#10;&#10;قد يكون المحتوى الذي تم إنشاؤه بواسطة الذكاء الاصطناعي غير صحيح.">
            <a:extLst>
              <a:ext uri="{FF2B5EF4-FFF2-40B4-BE49-F238E27FC236}">
                <a16:creationId xmlns:a16="http://schemas.microsoft.com/office/drawing/2014/main" id="{4E15B9AA-D945-773C-4229-B523666741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4215" y="1079151"/>
            <a:ext cx="3870664" cy="5437059"/>
          </a:xfrm>
          <a:prstGeom prst="rect">
            <a:avLst/>
          </a:prstGeom>
        </p:spPr>
      </p:pic>
      <p:pic>
        <p:nvPicPr>
          <p:cNvPr id="5" name="صورة 4">
            <a:extLst>
              <a:ext uri="{FF2B5EF4-FFF2-40B4-BE49-F238E27FC236}">
                <a16:creationId xmlns:a16="http://schemas.microsoft.com/office/drawing/2014/main" id="{07792FFE-2D3C-68AF-F1B0-3AD9CF9E274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74342" y="1079152"/>
            <a:ext cx="3870664" cy="5437058"/>
          </a:xfrm>
          <a:prstGeom prst="rect">
            <a:avLst/>
          </a:prstGeom>
        </p:spPr>
      </p:pic>
      <p:sp>
        <p:nvSpPr>
          <p:cNvPr id="6" name="مستطيل: زوايا مستديرة 5">
            <a:extLst>
              <a:ext uri="{FF2B5EF4-FFF2-40B4-BE49-F238E27FC236}">
                <a16:creationId xmlns:a16="http://schemas.microsoft.com/office/drawing/2014/main" id="{42863745-09BC-2F99-7F16-27B7AA39BEC9}"/>
              </a:ext>
            </a:extLst>
          </p:cNvPr>
          <p:cNvSpPr/>
          <p:nvPr/>
        </p:nvSpPr>
        <p:spPr>
          <a:xfrm>
            <a:off x="1074198" y="106532"/>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5400" b="1" dirty="0">
                <a:solidFill>
                  <a:schemeClr val="tx1"/>
                </a:solidFill>
              </a:rPr>
              <a:t>مخططات النشاط</a:t>
            </a:r>
          </a:p>
        </p:txBody>
      </p:sp>
    </p:spTree>
    <p:extLst>
      <p:ext uri="{BB962C8B-B14F-4D97-AF65-F5344CB8AC3E}">
        <p14:creationId xmlns:p14="http://schemas.microsoft.com/office/powerpoint/2010/main" val="4103204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5ADAD5BF-DF03-F8B7-9B73-E3A864414B18}"/>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9B36A6A3-B0C1-BC7E-9249-DFB5226B20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94088" y="1312373"/>
            <a:ext cx="3789582" cy="5067314"/>
          </a:xfrm>
          <a:prstGeom prst="rect">
            <a:avLst/>
          </a:prstGeom>
        </p:spPr>
      </p:pic>
      <p:pic>
        <p:nvPicPr>
          <p:cNvPr id="4" name="صورة 3">
            <a:extLst>
              <a:ext uri="{FF2B5EF4-FFF2-40B4-BE49-F238E27FC236}">
                <a16:creationId xmlns:a16="http://schemas.microsoft.com/office/drawing/2014/main" id="{76BEBABC-023A-74E3-CFDA-84D67F9DF9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284215" y="1301372"/>
            <a:ext cx="3870664" cy="5067315"/>
          </a:xfrm>
          <a:prstGeom prst="rect">
            <a:avLst/>
          </a:prstGeom>
        </p:spPr>
      </p:pic>
      <p:pic>
        <p:nvPicPr>
          <p:cNvPr id="5" name="صورة 4">
            <a:extLst>
              <a:ext uri="{FF2B5EF4-FFF2-40B4-BE49-F238E27FC236}">
                <a16:creationId xmlns:a16="http://schemas.microsoft.com/office/drawing/2014/main" id="{046F5709-9F15-2FAF-A857-888CCAA592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74342" y="1290373"/>
            <a:ext cx="3870664" cy="5089314"/>
          </a:xfrm>
          <a:prstGeom prst="rect">
            <a:avLst/>
          </a:prstGeom>
        </p:spPr>
      </p:pic>
      <p:sp>
        <p:nvSpPr>
          <p:cNvPr id="2" name="مستطيل: زوايا مستديرة 1">
            <a:extLst>
              <a:ext uri="{FF2B5EF4-FFF2-40B4-BE49-F238E27FC236}">
                <a16:creationId xmlns:a16="http://schemas.microsoft.com/office/drawing/2014/main" id="{D713AF6E-EAEF-8070-0F97-E26E20027DE3}"/>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5400" b="1" dirty="0">
                <a:solidFill>
                  <a:schemeClr val="tx1"/>
                </a:solidFill>
              </a:rPr>
              <a:t>مخططات النشاط</a:t>
            </a:r>
          </a:p>
        </p:txBody>
      </p:sp>
    </p:spTree>
    <p:extLst>
      <p:ext uri="{BB962C8B-B14F-4D97-AF65-F5344CB8AC3E}">
        <p14:creationId xmlns:p14="http://schemas.microsoft.com/office/powerpoint/2010/main" val="343471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B26E87E1-FF64-13A5-AD12-A2E27150234E}"/>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EAC0C823-06EA-E5C5-69CA-A8AC5AB3824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25490" y="1485017"/>
            <a:ext cx="3691926" cy="4591037"/>
          </a:xfrm>
          <a:prstGeom prst="rect">
            <a:avLst/>
          </a:prstGeom>
          <a:solidFill>
            <a:srgbClr val="FFFFFF">
              <a:shade val="85000"/>
            </a:srgbClr>
          </a:solidFill>
          <a:ln w="88900" cap="sq">
            <a:solidFill>
              <a:srgbClr val="F4EEDC"/>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صورة 3">
            <a:extLst>
              <a:ext uri="{FF2B5EF4-FFF2-40B4-BE49-F238E27FC236}">
                <a16:creationId xmlns:a16="http://schemas.microsoft.com/office/drawing/2014/main" id="{7D88920F-4F1E-AF87-0B50-F0F9EA6B7A8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250037" y="1485016"/>
            <a:ext cx="3691926" cy="4591037"/>
          </a:xfrm>
          <a:prstGeom prst="rect">
            <a:avLst/>
          </a:prstGeom>
          <a:solidFill>
            <a:srgbClr val="FFFFFF">
              <a:shade val="85000"/>
            </a:srgbClr>
          </a:solidFill>
          <a:ln w="88900" cap="sq">
            <a:solidFill>
              <a:srgbClr val="F4EEDC"/>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صورة 4">
            <a:extLst>
              <a:ext uri="{FF2B5EF4-FFF2-40B4-BE49-F238E27FC236}">
                <a16:creationId xmlns:a16="http://schemas.microsoft.com/office/drawing/2014/main" id="{291AF672-9525-351B-12D9-009F4EDA702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74584" y="1485016"/>
            <a:ext cx="3691926" cy="4591037"/>
          </a:xfrm>
          <a:prstGeom prst="rect">
            <a:avLst/>
          </a:prstGeom>
          <a:solidFill>
            <a:srgbClr val="FFFFFF">
              <a:shade val="85000"/>
            </a:srgbClr>
          </a:solidFill>
          <a:ln w="88900" cap="sq">
            <a:solidFill>
              <a:srgbClr val="F4EEDC"/>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مستطيل: زوايا مستديرة 1">
            <a:extLst>
              <a:ext uri="{FF2B5EF4-FFF2-40B4-BE49-F238E27FC236}">
                <a16:creationId xmlns:a16="http://schemas.microsoft.com/office/drawing/2014/main" id="{748A839D-E002-720C-036B-3918BA8535CE}"/>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5400" b="1">
                <a:solidFill>
                  <a:schemeClr val="tx1"/>
                </a:solidFill>
              </a:rPr>
              <a:t>مخططات التدفق</a:t>
            </a:r>
            <a:endParaRPr lang="ar-SA" sz="5400" b="1" dirty="0">
              <a:solidFill>
                <a:schemeClr val="tx1"/>
              </a:solidFill>
            </a:endParaRPr>
          </a:p>
        </p:txBody>
      </p:sp>
    </p:spTree>
    <p:extLst>
      <p:ext uri="{BB962C8B-B14F-4D97-AF65-F5344CB8AC3E}">
        <p14:creationId xmlns:p14="http://schemas.microsoft.com/office/powerpoint/2010/main" val="3163149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484938B1-038B-D126-A326-ECEC0458D193}"/>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A0750F9C-07E1-1871-E6CC-81F57CD91B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26711" y="1483748"/>
            <a:ext cx="3694176" cy="4591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صورة 3">
            <a:extLst>
              <a:ext uri="{FF2B5EF4-FFF2-40B4-BE49-F238E27FC236}">
                <a16:creationId xmlns:a16="http://schemas.microsoft.com/office/drawing/2014/main" id="{E3C4CA86-D882-29FD-B98F-68077322F4E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248912" y="1495408"/>
            <a:ext cx="3694176" cy="4591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صورة 4">
            <a:extLst>
              <a:ext uri="{FF2B5EF4-FFF2-40B4-BE49-F238E27FC236}">
                <a16:creationId xmlns:a16="http://schemas.microsoft.com/office/drawing/2014/main" id="{08777023-916F-3DBF-714F-DA8F97AD7A2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66225" y="1483748"/>
            <a:ext cx="3694176" cy="4591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مستطيل: زوايا مستديرة 1">
            <a:extLst>
              <a:ext uri="{FF2B5EF4-FFF2-40B4-BE49-F238E27FC236}">
                <a16:creationId xmlns:a16="http://schemas.microsoft.com/office/drawing/2014/main" id="{77BDE623-2D63-F804-F4E4-A0DD7471BA01}"/>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5400" b="1" dirty="0">
                <a:solidFill>
                  <a:schemeClr val="tx1"/>
                </a:solidFill>
              </a:rPr>
              <a:t>مخططات التدفق</a:t>
            </a:r>
          </a:p>
        </p:txBody>
      </p:sp>
    </p:spTree>
    <p:extLst>
      <p:ext uri="{BB962C8B-B14F-4D97-AF65-F5344CB8AC3E}">
        <p14:creationId xmlns:p14="http://schemas.microsoft.com/office/powerpoint/2010/main" val="2397774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8D43782C-F045-EA08-F009-D3D9C6690553}"/>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6A19E579-F913-A620-7892-DE871D114B2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94518" y="1412282"/>
            <a:ext cx="3694176" cy="45910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صورة 3">
            <a:extLst>
              <a:ext uri="{FF2B5EF4-FFF2-40B4-BE49-F238E27FC236}">
                <a16:creationId xmlns:a16="http://schemas.microsoft.com/office/drawing/2014/main" id="{8C5B8409-FF23-0566-7AB7-FC2E1552EF5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248912" y="1412281"/>
            <a:ext cx="3694176" cy="4591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صورة 4">
            <a:extLst>
              <a:ext uri="{FF2B5EF4-FFF2-40B4-BE49-F238E27FC236}">
                <a16:creationId xmlns:a16="http://schemas.microsoft.com/office/drawing/2014/main" id="{EE17789F-0271-D7E0-8181-D1D4B198924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03306" y="1412280"/>
            <a:ext cx="3694176" cy="4591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مستطيل: زوايا مستديرة 1">
            <a:extLst>
              <a:ext uri="{FF2B5EF4-FFF2-40B4-BE49-F238E27FC236}">
                <a16:creationId xmlns:a16="http://schemas.microsoft.com/office/drawing/2014/main" id="{61A9EC38-A0D9-5072-11B7-73FC02A6D3EE}"/>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5400" b="1" dirty="0">
                <a:solidFill>
                  <a:schemeClr val="tx1"/>
                </a:solidFill>
              </a:rPr>
              <a:t>مخططات التدفق</a:t>
            </a:r>
          </a:p>
        </p:txBody>
      </p:sp>
    </p:spTree>
    <p:extLst>
      <p:ext uri="{BB962C8B-B14F-4D97-AF65-F5344CB8AC3E}">
        <p14:creationId xmlns:p14="http://schemas.microsoft.com/office/powerpoint/2010/main" val="3345491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7C80C8DF-8679-E92F-C461-D3ACA8F68B4C}"/>
            </a:ext>
          </a:extLst>
        </p:cNvPr>
        <p:cNvGrpSpPr/>
        <p:nvPr/>
      </p:nvGrpSpPr>
      <p:grpSpPr>
        <a:xfrm>
          <a:off x="0" y="0"/>
          <a:ext cx="0" cy="0"/>
          <a:chOff x="0" y="0"/>
          <a:chExt cx="0" cy="0"/>
        </a:xfrm>
      </p:grpSpPr>
      <p:sp>
        <p:nvSpPr>
          <p:cNvPr id="2" name="مستطيل: زوايا مستديرة 1">
            <a:extLst>
              <a:ext uri="{FF2B5EF4-FFF2-40B4-BE49-F238E27FC236}">
                <a16:creationId xmlns:a16="http://schemas.microsoft.com/office/drawing/2014/main" id="{7C159625-4281-7CBE-324B-C6D67C5665E6}"/>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solidFill>
                  <a:schemeClr val="tx1"/>
                </a:solidFill>
              </a:rPr>
              <a:t>Class Diagram</a:t>
            </a:r>
            <a:endParaRPr lang="ar-SA" sz="5400" b="1" dirty="0">
              <a:solidFill>
                <a:schemeClr val="tx1"/>
              </a:solidFill>
            </a:endParaRPr>
          </a:p>
        </p:txBody>
      </p:sp>
      <p:pic>
        <p:nvPicPr>
          <p:cNvPr id="7" name="صورة 6" descr="صورة تحتوي على نص, رسم بياني, لقطة شاشة, التصميم&#10;&#10;قد يكون المحتوى الذي تم إنشاؤه بواسطة الذكاء الاصطناعي غير صحيح.">
            <a:extLst>
              <a:ext uri="{FF2B5EF4-FFF2-40B4-BE49-F238E27FC236}">
                <a16:creationId xmlns:a16="http://schemas.microsoft.com/office/drawing/2014/main" id="{C980F655-96AC-C21B-4011-DF817685BA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2090" y="1246907"/>
            <a:ext cx="4530437" cy="5070765"/>
          </a:xfrm>
          <a:prstGeom prst="rect">
            <a:avLst/>
          </a:prstGeom>
        </p:spPr>
      </p:pic>
    </p:spTree>
    <p:extLst>
      <p:ext uri="{BB962C8B-B14F-4D97-AF65-F5344CB8AC3E}">
        <p14:creationId xmlns:p14="http://schemas.microsoft.com/office/powerpoint/2010/main" val="3652527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7A061151-CD67-DDE8-A857-DC7B638810E4}"/>
            </a:ext>
          </a:extLst>
        </p:cNvPr>
        <p:cNvGrpSpPr/>
        <p:nvPr/>
      </p:nvGrpSpPr>
      <p:grpSpPr>
        <a:xfrm>
          <a:off x="0" y="0"/>
          <a:ext cx="0" cy="0"/>
          <a:chOff x="0" y="0"/>
          <a:chExt cx="0" cy="0"/>
        </a:xfrm>
      </p:grpSpPr>
      <p:sp>
        <p:nvSpPr>
          <p:cNvPr id="2" name="مستطيل: زوايا مستديرة 1">
            <a:extLst>
              <a:ext uri="{FF2B5EF4-FFF2-40B4-BE49-F238E27FC236}">
                <a16:creationId xmlns:a16="http://schemas.microsoft.com/office/drawing/2014/main" id="{5703967D-DDF4-FDBD-FC38-39DA1D0930BA}"/>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a:solidFill>
                  <a:schemeClr val="tx1"/>
                </a:solidFill>
              </a:rPr>
              <a:t>ERD</a:t>
            </a:r>
            <a:endParaRPr lang="ar-SA" sz="5400" b="1" dirty="0">
              <a:solidFill>
                <a:schemeClr val="tx1"/>
              </a:solidFill>
            </a:endParaRPr>
          </a:p>
        </p:txBody>
      </p:sp>
      <p:pic>
        <p:nvPicPr>
          <p:cNvPr id="7" name="صورة 6">
            <a:extLst>
              <a:ext uri="{FF2B5EF4-FFF2-40B4-BE49-F238E27FC236}">
                <a16:creationId xmlns:a16="http://schemas.microsoft.com/office/drawing/2014/main" id="{47400D46-21BB-43AD-AE34-E4D27C32ED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82090" y="1539236"/>
            <a:ext cx="4530437" cy="4486107"/>
          </a:xfrm>
          <a:prstGeom prst="rect">
            <a:avLst/>
          </a:prstGeom>
        </p:spPr>
      </p:pic>
    </p:spTree>
    <p:extLst>
      <p:ext uri="{BB962C8B-B14F-4D97-AF65-F5344CB8AC3E}">
        <p14:creationId xmlns:p14="http://schemas.microsoft.com/office/powerpoint/2010/main" val="222691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13EC3FCF-6F4B-696D-127E-887975740F35}"/>
            </a:ext>
          </a:extLst>
        </p:cNvPr>
        <p:cNvGrpSpPr/>
        <p:nvPr/>
      </p:nvGrpSpPr>
      <p:grpSpPr>
        <a:xfrm>
          <a:off x="0" y="0"/>
          <a:ext cx="0" cy="0"/>
          <a:chOff x="0" y="0"/>
          <a:chExt cx="0" cy="0"/>
        </a:xfrm>
      </p:grpSpPr>
      <p:sp>
        <p:nvSpPr>
          <p:cNvPr id="2" name="مستطيل: زوايا مستديرة 1">
            <a:extLst>
              <a:ext uri="{FF2B5EF4-FFF2-40B4-BE49-F238E27FC236}">
                <a16:creationId xmlns:a16="http://schemas.microsoft.com/office/drawing/2014/main" id="{E097BE70-AF3F-4222-9B23-A57D135D4AD2}"/>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solidFill>
                  <a:schemeClr val="tx1"/>
                </a:solidFill>
              </a:rPr>
              <a:t>Interface Diagram</a:t>
            </a:r>
            <a:endParaRPr lang="ar-SA" sz="5400" b="1" dirty="0">
              <a:solidFill>
                <a:schemeClr val="tx1"/>
              </a:solidFill>
            </a:endParaRPr>
          </a:p>
        </p:txBody>
      </p:sp>
      <p:pic>
        <p:nvPicPr>
          <p:cNvPr id="7" name="صورة 6">
            <a:extLst>
              <a:ext uri="{FF2B5EF4-FFF2-40B4-BE49-F238E27FC236}">
                <a16:creationId xmlns:a16="http://schemas.microsoft.com/office/drawing/2014/main" id="{8A3E49A0-6E86-6A98-FFBF-31E4854A0E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82463" y="1143000"/>
            <a:ext cx="10227076" cy="5475302"/>
          </a:xfrm>
          <a:prstGeom prst="rect">
            <a:avLst/>
          </a:prstGeom>
        </p:spPr>
      </p:pic>
    </p:spTree>
    <p:extLst>
      <p:ext uri="{BB962C8B-B14F-4D97-AF65-F5344CB8AC3E}">
        <p14:creationId xmlns:p14="http://schemas.microsoft.com/office/powerpoint/2010/main" val="2780579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6C7FFE33-3F3B-51FE-4ABF-37F11290EF77}"/>
            </a:ext>
          </a:extLst>
        </p:cNvPr>
        <p:cNvGrpSpPr/>
        <p:nvPr/>
      </p:nvGrpSpPr>
      <p:grpSpPr>
        <a:xfrm>
          <a:off x="0" y="0"/>
          <a:ext cx="0" cy="0"/>
          <a:chOff x="0" y="0"/>
          <a:chExt cx="0" cy="0"/>
        </a:xfrm>
      </p:grpSpPr>
      <p:sp>
        <p:nvSpPr>
          <p:cNvPr id="2" name="مستطيل: زوايا مستديرة 1">
            <a:extLst>
              <a:ext uri="{FF2B5EF4-FFF2-40B4-BE49-F238E27FC236}">
                <a16:creationId xmlns:a16="http://schemas.microsoft.com/office/drawing/2014/main" id="{E3D94125-E4B8-256F-0E35-2A3E119D6ED9}"/>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solidFill>
                  <a:schemeClr val="tx1"/>
                </a:solidFill>
              </a:rPr>
              <a:t>Test Table</a:t>
            </a:r>
            <a:endParaRPr lang="ar-SA" sz="5400" b="1" dirty="0">
              <a:solidFill>
                <a:schemeClr val="tx1"/>
              </a:solidFill>
            </a:endParaRPr>
          </a:p>
        </p:txBody>
      </p:sp>
      <p:graphicFrame>
        <p:nvGraphicFramePr>
          <p:cNvPr id="3" name="جدول 2">
            <a:extLst>
              <a:ext uri="{FF2B5EF4-FFF2-40B4-BE49-F238E27FC236}">
                <a16:creationId xmlns:a16="http://schemas.microsoft.com/office/drawing/2014/main" id="{EEA6B410-91CA-84CE-F858-93D72D4E864F}"/>
              </a:ext>
            </a:extLst>
          </p:cNvPr>
          <p:cNvGraphicFramePr>
            <a:graphicFrameLocks noGrp="1"/>
          </p:cNvGraphicFramePr>
          <p:nvPr>
            <p:extLst>
              <p:ext uri="{D42A27DB-BD31-4B8C-83A1-F6EECF244321}">
                <p14:modId xmlns:p14="http://schemas.microsoft.com/office/powerpoint/2010/main" val="3985135440"/>
              </p:ext>
            </p:extLst>
          </p:nvPr>
        </p:nvGraphicFramePr>
        <p:xfrm>
          <a:off x="1236519" y="1184564"/>
          <a:ext cx="9705107" cy="5204936"/>
        </p:xfrm>
        <a:graphic>
          <a:graphicData uri="http://schemas.openxmlformats.org/drawingml/2006/table">
            <a:tbl>
              <a:tblPr firstRow="1" firstCol="1" bandRow="1">
                <a:tableStyleId>{0E3FDE45-AF77-4B5C-9715-49D594BDF05E}</a:tableStyleId>
              </a:tblPr>
              <a:tblGrid>
                <a:gridCol w="1714499">
                  <a:extLst>
                    <a:ext uri="{9D8B030D-6E8A-4147-A177-3AD203B41FA5}">
                      <a16:colId xmlns:a16="http://schemas.microsoft.com/office/drawing/2014/main" val="2410041012"/>
                    </a:ext>
                  </a:extLst>
                </a:gridCol>
                <a:gridCol w="1298864">
                  <a:extLst>
                    <a:ext uri="{9D8B030D-6E8A-4147-A177-3AD203B41FA5}">
                      <a16:colId xmlns:a16="http://schemas.microsoft.com/office/drawing/2014/main" val="502785518"/>
                    </a:ext>
                  </a:extLst>
                </a:gridCol>
                <a:gridCol w="1018309">
                  <a:extLst>
                    <a:ext uri="{9D8B030D-6E8A-4147-A177-3AD203B41FA5}">
                      <a16:colId xmlns:a16="http://schemas.microsoft.com/office/drawing/2014/main" val="3407647865"/>
                    </a:ext>
                  </a:extLst>
                </a:gridCol>
                <a:gridCol w="1163782">
                  <a:extLst>
                    <a:ext uri="{9D8B030D-6E8A-4147-A177-3AD203B41FA5}">
                      <a16:colId xmlns:a16="http://schemas.microsoft.com/office/drawing/2014/main" val="1623568726"/>
                    </a:ext>
                  </a:extLst>
                </a:gridCol>
                <a:gridCol w="1018309">
                  <a:extLst>
                    <a:ext uri="{9D8B030D-6E8A-4147-A177-3AD203B41FA5}">
                      <a16:colId xmlns:a16="http://schemas.microsoft.com/office/drawing/2014/main" val="1379540289"/>
                    </a:ext>
                  </a:extLst>
                </a:gridCol>
                <a:gridCol w="2613074">
                  <a:extLst>
                    <a:ext uri="{9D8B030D-6E8A-4147-A177-3AD203B41FA5}">
                      <a16:colId xmlns:a16="http://schemas.microsoft.com/office/drawing/2014/main" val="4005486520"/>
                    </a:ext>
                  </a:extLst>
                </a:gridCol>
                <a:gridCol w="878270">
                  <a:extLst>
                    <a:ext uri="{9D8B030D-6E8A-4147-A177-3AD203B41FA5}">
                      <a16:colId xmlns:a16="http://schemas.microsoft.com/office/drawing/2014/main" val="2146440131"/>
                    </a:ext>
                  </a:extLst>
                </a:gridCol>
              </a:tblGrid>
              <a:tr h="613063">
                <a:tc>
                  <a:txBody>
                    <a:bodyPr/>
                    <a:lstStyle/>
                    <a:p>
                      <a:pPr marL="0" marR="0" algn="ctr" rtl="1">
                        <a:lnSpc>
                          <a:spcPct val="115000"/>
                        </a:lnSpc>
                        <a:spcAft>
                          <a:spcPts val="800"/>
                        </a:spcAft>
                        <a:buNone/>
                      </a:pPr>
                      <a:r>
                        <a:rPr lang="ar-SY" sz="1600" b="1" kern="100">
                          <a:effectLst/>
                        </a:rPr>
                        <a:t>ملاحظات</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1">
                        <a:lnSpc>
                          <a:spcPct val="115000"/>
                        </a:lnSpc>
                        <a:spcAft>
                          <a:spcPts val="800"/>
                        </a:spcAft>
                        <a:buNone/>
                      </a:pPr>
                      <a:r>
                        <a:rPr lang="ar-SY" sz="1600" b="1" kern="100">
                          <a:effectLst/>
                        </a:rPr>
                        <a:t>حالات الاختبار</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1">
                        <a:lnSpc>
                          <a:spcPct val="115000"/>
                        </a:lnSpc>
                        <a:spcAft>
                          <a:spcPts val="800"/>
                        </a:spcAft>
                        <a:buNone/>
                      </a:pPr>
                      <a:r>
                        <a:rPr lang="ar-SY" sz="1600" b="1" kern="100">
                          <a:effectLst/>
                        </a:rPr>
                        <a:t>حالة المتطلب</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1">
                        <a:lnSpc>
                          <a:spcPct val="115000"/>
                        </a:lnSpc>
                        <a:spcAft>
                          <a:spcPts val="800"/>
                        </a:spcAft>
                        <a:buNone/>
                      </a:pPr>
                      <a:r>
                        <a:rPr lang="ar-SY" sz="1600" b="1" kern="100">
                          <a:effectLst/>
                        </a:rPr>
                        <a:t>أولوية المتطلب</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1">
                        <a:lnSpc>
                          <a:spcPct val="115000"/>
                        </a:lnSpc>
                        <a:spcAft>
                          <a:spcPts val="800"/>
                        </a:spcAft>
                        <a:buNone/>
                      </a:pPr>
                      <a:r>
                        <a:rPr lang="ar-SY" sz="1600" b="1" kern="100">
                          <a:effectLst/>
                        </a:rPr>
                        <a:t>نوع المتطلب</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1">
                        <a:lnSpc>
                          <a:spcPct val="115000"/>
                        </a:lnSpc>
                        <a:spcAft>
                          <a:spcPts val="800"/>
                        </a:spcAft>
                        <a:buNone/>
                      </a:pPr>
                      <a:r>
                        <a:rPr lang="ar-SY" sz="1600" b="1" kern="100">
                          <a:effectLst/>
                        </a:rPr>
                        <a:t>اسم المتطلب</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1">
                        <a:lnSpc>
                          <a:spcPct val="115000"/>
                        </a:lnSpc>
                        <a:spcAft>
                          <a:spcPts val="800"/>
                        </a:spcAft>
                        <a:buNone/>
                      </a:pPr>
                      <a:r>
                        <a:rPr lang="ar-SY" sz="1600" b="1" kern="100">
                          <a:effectLst/>
                        </a:rPr>
                        <a:t>معرف المتطلب</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2968073238"/>
                  </a:ext>
                </a:extLst>
              </a:tr>
              <a:tr h="284709">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TC-01</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تسجيل الدخول</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1</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2600853277"/>
                  </a:ext>
                </a:extLst>
              </a:tr>
              <a:tr h="284709">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TC-02</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dirty="0">
                          <a:effectLst/>
                        </a:rPr>
                        <a:t>إدارة نقاط البيع</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2</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3970468388"/>
                  </a:ext>
                </a:extLst>
              </a:tr>
              <a:tr h="508317">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TC-03</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تتبع المخزون في الوقت الحقيقي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en-US" sz="1800" b="1" kern="100">
                          <a:effectLst/>
                        </a:rPr>
                        <a:t>3</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1348995295"/>
                  </a:ext>
                </a:extLst>
              </a:tr>
              <a:tr h="508317">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TC-04</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إدارة تواريخ الصلاحية والتنبيهات</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4</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285076191"/>
                  </a:ext>
                </a:extLst>
              </a:tr>
              <a:tr h="508317">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TC-05</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إدارة فواتير الشراء والموردين</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5</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2250467859"/>
                  </a:ext>
                </a:extLst>
              </a:tr>
              <a:tr h="508317">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TC-06</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dirty="0">
                          <a:effectLst/>
                        </a:rPr>
                        <a:t>تسجيل الوصفات الطبية</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6</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1791114203"/>
                  </a:ext>
                </a:extLst>
              </a:tr>
              <a:tr h="508317">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TC-07</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إدارة حسابات العملاء الآجلة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7</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1236168898"/>
                  </a:ext>
                </a:extLst>
              </a:tr>
              <a:tr h="284709">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a:effectLst/>
                        </a:rPr>
                        <a:t>TC-08</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تم</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توليد التقارير المالية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8</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160325155"/>
                  </a:ext>
                </a:extLst>
              </a:tr>
              <a:tr h="508317">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TC-09</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قيد التنفيذ</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عالية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وظيفي</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a:effectLst/>
                        </a:rPr>
                        <a:t>البحث الذكي عن الادوية البديلة</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a:effectLst/>
                        </a:rPr>
                        <a:t>9</a:t>
                      </a:r>
                      <a:endParaRPr lang="en-US" sz="1400" b="1" kern="10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1578476494"/>
                  </a:ext>
                </a:extLst>
              </a:tr>
              <a:tr h="617062">
                <a:tc>
                  <a:txBody>
                    <a:bodyPr/>
                    <a:lstStyle/>
                    <a:p>
                      <a:pPr marL="0" marR="0" algn="ctr" defTabSz="914400" rtl="1" eaLnBrk="1" latinLnBrk="0" hangingPunct="1">
                        <a:lnSpc>
                          <a:spcPct val="115000"/>
                        </a:lnSpc>
                        <a:spcAft>
                          <a:spcPts val="800"/>
                        </a:spcAft>
                        <a:buNone/>
                      </a:pPr>
                      <a:r>
                        <a:rPr lang="en-US" sz="1600" b="1" kern="100" dirty="0">
                          <a:solidFill>
                            <a:schemeClr val="dk1"/>
                          </a:solidFill>
                          <a:effectLst/>
                        </a:rPr>
                        <a:t> </a:t>
                      </a:r>
                      <a:endParaRPr lang="en-US" sz="1600" b="1" kern="100" dirty="0">
                        <a:solidFill>
                          <a:schemeClr val="dk1"/>
                        </a:solidFill>
                        <a:effectLst/>
                        <a:latin typeface="+mn-lt"/>
                        <a:ea typeface="+mn-ea"/>
                        <a:cs typeface="+mn-cs"/>
                      </a:endParaRPr>
                    </a:p>
                  </a:txBody>
                  <a:tcPr marL="66586" marR="66586" marT="0" marB="0" anchor="ctr"/>
                </a:tc>
                <a:tc>
                  <a:txBody>
                    <a:bodyPr/>
                    <a:lstStyle/>
                    <a:p>
                      <a:pPr marL="0" marR="0" algn="ctr">
                        <a:lnSpc>
                          <a:spcPct val="115000"/>
                        </a:lnSpc>
                        <a:spcAft>
                          <a:spcPts val="800"/>
                        </a:spcAft>
                        <a:buNone/>
                      </a:pPr>
                      <a:r>
                        <a:rPr lang="en-US" sz="1600" b="1" kern="100" dirty="0">
                          <a:effectLst/>
                        </a:rPr>
                        <a:t>TC-10</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dirty="0">
                          <a:effectLst/>
                        </a:rPr>
                        <a:t>قيد</a:t>
                      </a:r>
                      <a:endParaRPr lang="en-US" sz="1400" b="1" kern="100" dirty="0">
                        <a:effectLst/>
                      </a:endParaRPr>
                    </a:p>
                    <a:p>
                      <a:pPr marL="0" marR="0" algn="ctr">
                        <a:lnSpc>
                          <a:spcPct val="115000"/>
                        </a:lnSpc>
                        <a:spcAft>
                          <a:spcPts val="800"/>
                        </a:spcAft>
                        <a:buNone/>
                      </a:pPr>
                      <a:r>
                        <a:rPr lang="ar-SY" sz="1600" b="1" kern="100" dirty="0">
                          <a:effectLst/>
                        </a:rPr>
                        <a:t>التنفيذ</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dirty="0">
                          <a:effectLst/>
                        </a:rPr>
                        <a:t>عالية</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Y" sz="1600" b="1" kern="100" dirty="0">
                          <a:effectLst/>
                        </a:rPr>
                        <a:t>وظيفي</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a:lnSpc>
                          <a:spcPct val="115000"/>
                        </a:lnSpc>
                        <a:spcAft>
                          <a:spcPts val="800"/>
                        </a:spcAft>
                        <a:buNone/>
                      </a:pPr>
                      <a:r>
                        <a:rPr lang="ar-SA" sz="1600" b="1" kern="100" dirty="0">
                          <a:effectLst/>
                        </a:rPr>
                        <a:t>إدارة الأصناف والأدوية</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tc>
                  <a:txBody>
                    <a:bodyPr/>
                    <a:lstStyle/>
                    <a:p>
                      <a:pPr marL="0" marR="0" algn="ctr" rtl="0">
                        <a:lnSpc>
                          <a:spcPct val="115000"/>
                        </a:lnSpc>
                        <a:spcAft>
                          <a:spcPts val="800"/>
                        </a:spcAft>
                        <a:buNone/>
                      </a:pPr>
                      <a:r>
                        <a:rPr lang="en-US" sz="1800" b="1" kern="100" dirty="0">
                          <a:effectLst/>
                        </a:rPr>
                        <a:t>10</a:t>
                      </a:r>
                      <a:endParaRPr lang="en-US" sz="1400" b="1" kern="100" dirty="0">
                        <a:effectLst/>
                        <a:latin typeface="Calibri" panose="020F0502020204030204" pitchFamily="34" charset="0"/>
                        <a:ea typeface="Calibri" panose="020F0502020204030204" pitchFamily="34" charset="0"/>
                        <a:cs typeface="Arial" panose="020B0604020202020204" pitchFamily="34" charset="0"/>
                      </a:endParaRPr>
                    </a:p>
                  </a:txBody>
                  <a:tcPr marL="66586" marR="66586" marT="0" marB="0" anchor="ctr"/>
                </a:tc>
                <a:extLst>
                  <a:ext uri="{0D108BD9-81ED-4DB2-BD59-A6C34878D82A}">
                    <a16:rowId xmlns:a16="http://schemas.microsoft.com/office/drawing/2014/main" val="2035720518"/>
                  </a:ext>
                </a:extLst>
              </a:tr>
            </a:tbl>
          </a:graphicData>
        </a:graphic>
      </p:graphicFrame>
    </p:spTree>
    <p:extLst>
      <p:ext uri="{BB962C8B-B14F-4D97-AF65-F5344CB8AC3E}">
        <p14:creationId xmlns:p14="http://schemas.microsoft.com/office/powerpoint/2010/main" val="2963943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pattFill prst="pct10">
          <a:fgClr>
            <a:schemeClr val="accent4">
              <a:lumMod val="40000"/>
              <a:lumOff val="60000"/>
            </a:schemeClr>
          </a:fgClr>
          <a:bgClr>
            <a:schemeClr val="bg1"/>
          </a:bgClr>
        </a:pattFill>
        <a:effectLst/>
      </p:bgPr>
    </p:bg>
    <p:spTree>
      <p:nvGrpSpPr>
        <p:cNvPr id="1" name="">
          <a:extLst>
            <a:ext uri="{FF2B5EF4-FFF2-40B4-BE49-F238E27FC236}">
              <a16:creationId xmlns:a16="http://schemas.microsoft.com/office/drawing/2014/main" id="{24E34CCF-A2E7-3AF5-5981-1CBFE32889B8}"/>
            </a:ext>
          </a:extLst>
        </p:cNvPr>
        <p:cNvGrpSpPr/>
        <p:nvPr/>
      </p:nvGrpSpPr>
      <p:grpSpPr>
        <a:xfrm>
          <a:off x="0" y="0"/>
          <a:ext cx="0" cy="0"/>
          <a:chOff x="0" y="0"/>
          <a:chExt cx="0" cy="0"/>
        </a:xfrm>
      </p:grpSpPr>
      <p:sp>
        <p:nvSpPr>
          <p:cNvPr id="2" name="مستطيل: زوايا مستديرة 1">
            <a:extLst>
              <a:ext uri="{FF2B5EF4-FFF2-40B4-BE49-F238E27FC236}">
                <a16:creationId xmlns:a16="http://schemas.microsoft.com/office/drawing/2014/main" id="{AA9601AB-9F6F-58BA-4692-829F2F6506EC}"/>
              </a:ext>
            </a:extLst>
          </p:cNvPr>
          <p:cNvSpPr/>
          <p:nvPr/>
        </p:nvSpPr>
        <p:spPr>
          <a:xfrm>
            <a:off x="982462" y="239697"/>
            <a:ext cx="10227076" cy="825623"/>
          </a:xfrm>
          <a:prstGeom prst="roundRect">
            <a:avLst/>
          </a:prstGeom>
          <a:solidFill>
            <a:srgbClr val="F4EEDC"/>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0"/>
            <a:r>
              <a:rPr lang="en-US" sz="4000" b="1" dirty="0">
                <a:solidFill>
                  <a:schemeClr val="tx1"/>
                </a:solidFill>
                <a:effectLst>
                  <a:outerShdw blurRad="38100" dist="19050" dir="2700000" algn="tl">
                    <a:schemeClr val="dk1">
                      <a:alpha val="40000"/>
                    </a:schemeClr>
                  </a:outerShdw>
                </a:effectLst>
              </a:rPr>
              <a:t>RTM </a:t>
            </a:r>
            <a:r>
              <a:rPr lang="ar-SA" sz="4000" b="1" dirty="0">
                <a:solidFill>
                  <a:schemeClr val="tx1"/>
                </a:solidFill>
                <a:effectLst>
                  <a:outerShdw blurRad="38100" dist="19050" dir="2700000" algn="tl">
                    <a:schemeClr val="dk1">
                      <a:alpha val="40000"/>
                    </a:schemeClr>
                  </a:outerShdw>
                </a:effectLst>
              </a:rPr>
              <a:t>مصفوفة تتبع المتطلبات</a:t>
            </a:r>
            <a:endParaRPr lang="en-US" sz="4000" b="1" dirty="0">
              <a:solidFill>
                <a:schemeClr val="tx1"/>
              </a:solidFill>
            </a:endParaRPr>
          </a:p>
        </p:txBody>
      </p:sp>
      <p:graphicFrame>
        <p:nvGraphicFramePr>
          <p:cNvPr id="3" name="جدول 2">
            <a:extLst>
              <a:ext uri="{FF2B5EF4-FFF2-40B4-BE49-F238E27FC236}">
                <a16:creationId xmlns:a16="http://schemas.microsoft.com/office/drawing/2014/main" id="{A39C2D2F-31E5-8426-FE95-33D1C8B0824A}"/>
              </a:ext>
            </a:extLst>
          </p:cNvPr>
          <p:cNvGraphicFramePr>
            <a:graphicFrameLocks noGrp="1"/>
          </p:cNvGraphicFramePr>
          <p:nvPr>
            <p:extLst>
              <p:ext uri="{D42A27DB-BD31-4B8C-83A1-F6EECF244321}">
                <p14:modId xmlns:p14="http://schemas.microsoft.com/office/powerpoint/2010/main" val="2449294078"/>
              </p:ext>
            </p:extLst>
          </p:nvPr>
        </p:nvGraphicFramePr>
        <p:xfrm>
          <a:off x="1236519" y="1184564"/>
          <a:ext cx="9705107" cy="5134154"/>
        </p:xfrm>
        <a:graphic>
          <a:graphicData uri="http://schemas.openxmlformats.org/drawingml/2006/table">
            <a:tbl>
              <a:tblPr firstRow="1" firstCol="1" bandRow="1">
                <a:tableStyleId>{0E3FDE45-AF77-4B5C-9715-49D594BDF05E}</a:tableStyleId>
              </a:tblPr>
              <a:tblGrid>
                <a:gridCol w="1714499">
                  <a:extLst>
                    <a:ext uri="{9D8B030D-6E8A-4147-A177-3AD203B41FA5}">
                      <a16:colId xmlns:a16="http://schemas.microsoft.com/office/drawing/2014/main" val="2410041012"/>
                    </a:ext>
                  </a:extLst>
                </a:gridCol>
                <a:gridCol w="1298864">
                  <a:extLst>
                    <a:ext uri="{9D8B030D-6E8A-4147-A177-3AD203B41FA5}">
                      <a16:colId xmlns:a16="http://schemas.microsoft.com/office/drawing/2014/main" val="502785518"/>
                    </a:ext>
                  </a:extLst>
                </a:gridCol>
                <a:gridCol w="1018309">
                  <a:extLst>
                    <a:ext uri="{9D8B030D-6E8A-4147-A177-3AD203B41FA5}">
                      <a16:colId xmlns:a16="http://schemas.microsoft.com/office/drawing/2014/main" val="3407647865"/>
                    </a:ext>
                  </a:extLst>
                </a:gridCol>
                <a:gridCol w="1163782">
                  <a:extLst>
                    <a:ext uri="{9D8B030D-6E8A-4147-A177-3AD203B41FA5}">
                      <a16:colId xmlns:a16="http://schemas.microsoft.com/office/drawing/2014/main" val="1623568726"/>
                    </a:ext>
                  </a:extLst>
                </a:gridCol>
                <a:gridCol w="1018309">
                  <a:extLst>
                    <a:ext uri="{9D8B030D-6E8A-4147-A177-3AD203B41FA5}">
                      <a16:colId xmlns:a16="http://schemas.microsoft.com/office/drawing/2014/main" val="1379540289"/>
                    </a:ext>
                  </a:extLst>
                </a:gridCol>
                <a:gridCol w="2613074">
                  <a:extLst>
                    <a:ext uri="{9D8B030D-6E8A-4147-A177-3AD203B41FA5}">
                      <a16:colId xmlns:a16="http://schemas.microsoft.com/office/drawing/2014/main" val="4005486520"/>
                    </a:ext>
                  </a:extLst>
                </a:gridCol>
                <a:gridCol w="878270">
                  <a:extLst>
                    <a:ext uri="{9D8B030D-6E8A-4147-A177-3AD203B41FA5}">
                      <a16:colId xmlns:a16="http://schemas.microsoft.com/office/drawing/2014/main" val="2146440131"/>
                    </a:ext>
                  </a:extLst>
                </a:gridCol>
              </a:tblGrid>
              <a:tr h="613063">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ملاحظات</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مخطط التسلسل</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مخطط النشاط</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مخطط الاستخدام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نوع المتطلب</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اسم المتطلب</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معرف المتطلب</a:t>
                      </a:r>
                      <a:endParaRPr lang="en-US" sz="1600" b="1" kern="10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2968073238"/>
                  </a:ext>
                </a:extLst>
              </a:tr>
              <a:tr h="284709">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3"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4"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rowSpan="10">
                  <a:txBody>
                    <a:bodyPr/>
                    <a:lstStyle/>
                    <a:p>
                      <a:pPr marL="0" marR="0" algn="ctr" defTabSz="914400" rtl="1" eaLnBrk="1" latinLnBrk="0" hangingPunct="1">
                        <a:lnSpc>
                          <a:spcPct val="115000"/>
                        </a:lnSpc>
                        <a:spcBef>
                          <a:spcPts val="6000"/>
                        </a:spcBef>
                        <a:spcAft>
                          <a:spcPts val="800"/>
                        </a:spcAft>
                        <a:buNone/>
                      </a:pPr>
                      <a:r>
                        <a:rPr lang="ar-SY" sz="1600" b="1" kern="100" dirty="0">
                          <a:solidFill>
                            <a:schemeClr val="tx1"/>
                          </a:solidFill>
                          <a:effectLst/>
                          <a:latin typeface="+mn-lt"/>
                          <a:ea typeface="+mn-ea"/>
                          <a:cs typeface="+mn-cs"/>
                          <a:hlinkClick r:id="rId5" action="ppaction://hlinksldjump">
                            <a:extLst>
                              <a:ext uri="{A12FA001-AC4F-418D-AE19-62706E023703}">
                                <ahyp:hlinkClr xmlns:ahyp="http://schemas.microsoft.com/office/drawing/2018/hyperlinkcolor" val="tx"/>
                              </a:ext>
                            </a:extLst>
                          </a:hlinkClick>
                        </a:rPr>
                        <a:t>تم</a:t>
                      </a:r>
                      <a:endParaRPr lang="en-US" sz="1600" b="1" kern="100" dirty="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6" action="ppaction://hlinkfile">
                            <a:extLst>
                              <a:ext uri="{A12FA001-AC4F-418D-AE19-62706E023703}">
                                <ahyp:hlinkClr xmlns:ahyp="http://schemas.microsoft.com/office/drawing/2018/hyperlinkcolor" val="tx"/>
                              </a:ext>
                            </a:extLst>
                          </a:hlinkClick>
                        </a:rPr>
                        <a:t>تسجيل الدخول</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1</a:t>
                      </a:r>
                    </a:p>
                  </a:txBody>
                  <a:tcPr marL="68580" marR="68580" marT="0" marB="0"/>
                </a:tc>
                <a:extLst>
                  <a:ext uri="{0D108BD9-81ED-4DB2-BD59-A6C34878D82A}">
                    <a16:rowId xmlns:a16="http://schemas.microsoft.com/office/drawing/2014/main" val="2600853277"/>
                  </a:ext>
                </a:extLst>
              </a:tr>
              <a:tr h="284709">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7"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rPr>
                        <a:t>____</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8" action="ppaction://hlinkfile">
                            <a:extLst>
                              <a:ext uri="{A12FA001-AC4F-418D-AE19-62706E023703}">
                                <ahyp:hlinkClr xmlns:ahyp="http://schemas.microsoft.com/office/drawing/2018/hyperlinkcolor" val="tx"/>
                              </a:ext>
                            </a:extLst>
                          </a:hlinkClick>
                        </a:rPr>
                        <a:t>إدارة نقاط البيع</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2</a:t>
                      </a:r>
                    </a:p>
                  </a:txBody>
                  <a:tcPr marL="68580" marR="68580" marT="0" marB="0"/>
                </a:tc>
                <a:extLst>
                  <a:ext uri="{0D108BD9-81ED-4DB2-BD59-A6C34878D82A}">
                    <a16:rowId xmlns:a16="http://schemas.microsoft.com/office/drawing/2014/main" val="3970468388"/>
                  </a:ext>
                </a:extLst>
              </a:tr>
              <a:tr h="508317">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9"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rPr>
                        <a:t>____</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10" action="ppaction://hlinkfile">
                            <a:extLst>
                              <a:ext uri="{A12FA001-AC4F-418D-AE19-62706E023703}">
                                <ahyp:hlinkClr xmlns:ahyp="http://schemas.microsoft.com/office/drawing/2018/hyperlinkcolor" val="tx"/>
                              </a:ext>
                            </a:extLst>
                          </a:hlinkClick>
                        </a:rPr>
                        <a:t>تتبع المخزون في الوقت الحقيقي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3</a:t>
                      </a:r>
                    </a:p>
                  </a:txBody>
                  <a:tcPr marL="68580" marR="68580" marT="0" marB="0"/>
                </a:tc>
                <a:extLst>
                  <a:ext uri="{0D108BD9-81ED-4DB2-BD59-A6C34878D82A}">
                    <a16:rowId xmlns:a16="http://schemas.microsoft.com/office/drawing/2014/main" val="1348995295"/>
                  </a:ext>
                </a:extLst>
              </a:tr>
              <a:tr h="508317">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11"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rPr>
                        <a:t>___</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12" action="ppaction://hlinkfile">
                            <a:extLst>
                              <a:ext uri="{A12FA001-AC4F-418D-AE19-62706E023703}">
                                <ahyp:hlinkClr xmlns:ahyp="http://schemas.microsoft.com/office/drawing/2018/hyperlinkcolor" val="tx"/>
                              </a:ext>
                            </a:extLst>
                          </a:hlinkClick>
                        </a:rPr>
                        <a:t>إدارة تواريخ الصلاحية والتنبيهات</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4</a:t>
                      </a:r>
                    </a:p>
                  </a:txBody>
                  <a:tcPr marL="68580" marR="68580" marT="0" marB="0"/>
                </a:tc>
                <a:extLst>
                  <a:ext uri="{0D108BD9-81ED-4DB2-BD59-A6C34878D82A}">
                    <a16:rowId xmlns:a16="http://schemas.microsoft.com/office/drawing/2014/main" val="285076191"/>
                  </a:ext>
                </a:extLst>
              </a:tr>
              <a:tr h="508317">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13"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14"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15" action="ppaction://hlinkfile">
                            <a:extLst>
                              <a:ext uri="{A12FA001-AC4F-418D-AE19-62706E023703}">
                                <ahyp:hlinkClr xmlns:ahyp="http://schemas.microsoft.com/office/drawing/2018/hyperlinkcolor" val="tx"/>
                              </a:ext>
                            </a:extLst>
                          </a:hlinkClick>
                        </a:rPr>
                        <a:t>إدارة فواتير الشراء والموردين</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5</a:t>
                      </a:r>
                    </a:p>
                  </a:txBody>
                  <a:tcPr marL="68580" marR="68580" marT="0" marB="0"/>
                </a:tc>
                <a:extLst>
                  <a:ext uri="{0D108BD9-81ED-4DB2-BD59-A6C34878D82A}">
                    <a16:rowId xmlns:a16="http://schemas.microsoft.com/office/drawing/2014/main" val="2250467859"/>
                  </a:ext>
                </a:extLst>
              </a:tr>
              <a:tr h="508317">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16"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17"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18" action="ppaction://hlinkfile">
                            <a:extLst>
                              <a:ext uri="{A12FA001-AC4F-418D-AE19-62706E023703}">
                                <ahyp:hlinkClr xmlns:ahyp="http://schemas.microsoft.com/office/drawing/2018/hyperlinkcolor" val="tx"/>
                              </a:ext>
                            </a:extLst>
                          </a:hlinkClick>
                        </a:rPr>
                        <a:t>تسجيل الوصفات الطبية</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6</a:t>
                      </a:r>
                      <a:endParaRPr lang="en-US" sz="1600" b="1" kern="10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791114203"/>
                  </a:ext>
                </a:extLst>
              </a:tr>
              <a:tr h="508317">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19"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20"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21" action="ppaction://hlinkfile">
                            <a:extLst>
                              <a:ext uri="{A12FA001-AC4F-418D-AE19-62706E023703}">
                                <ahyp:hlinkClr xmlns:ahyp="http://schemas.microsoft.com/office/drawing/2018/hyperlinkcolor" val="tx"/>
                              </a:ext>
                            </a:extLst>
                          </a:hlinkClick>
                        </a:rPr>
                        <a:t>إدارة حسابات العملاء الآجلة</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7</a:t>
                      </a:r>
                    </a:p>
                  </a:txBody>
                  <a:tcPr marL="68580" marR="68580" marT="0" marB="0"/>
                </a:tc>
                <a:extLst>
                  <a:ext uri="{0D108BD9-81ED-4DB2-BD59-A6C34878D82A}">
                    <a16:rowId xmlns:a16="http://schemas.microsoft.com/office/drawing/2014/main" val="1236168898"/>
                  </a:ext>
                </a:extLst>
              </a:tr>
              <a:tr h="284709">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22"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23"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24" action="ppaction://hlinkfile">
                            <a:extLst>
                              <a:ext uri="{A12FA001-AC4F-418D-AE19-62706E023703}">
                                <ahyp:hlinkClr xmlns:ahyp="http://schemas.microsoft.com/office/drawing/2018/hyperlinkcolor" val="tx"/>
                              </a:ext>
                            </a:extLst>
                          </a:hlinkClick>
                        </a:rPr>
                        <a:t>توليد التقارير المالية</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8</a:t>
                      </a:r>
                    </a:p>
                  </a:txBody>
                  <a:tcPr marL="68580" marR="68580" marT="0" marB="0"/>
                </a:tc>
                <a:extLst>
                  <a:ext uri="{0D108BD9-81ED-4DB2-BD59-A6C34878D82A}">
                    <a16:rowId xmlns:a16="http://schemas.microsoft.com/office/drawing/2014/main" val="160325155"/>
                  </a:ext>
                </a:extLst>
              </a:tr>
              <a:tr h="508317">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hlinkClick r:id="rId25" action="ppaction://hlinkfile">
                            <a:extLst>
                              <a:ext uri="{A12FA001-AC4F-418D-AE19-62706E023703}">
                                <ahyp:hlinkClr xmlns:ahyp="http://schemas.microsoft.com/office/drawing/2018/hyperlinkcolor" val="tx"/>
                              </a:ext>
                            </a:extLst>
                          </a:hlinkClick>
                        </a:rPr>
                        <a:t>تم</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a:solidFill>
                            <a:schemeClr val="tx1"/>
                          </a:solidFill>
                          <a:effectLst/>
                          <a:latin typeface="+mn-lt"/>
                          <a:ea typeface="+mn-ea"/>
                          <a:cs typeface="+mn-cs"/>
                        </a:rPr>
                        <a:t>_____</a:t>
                      </a:r>
                      <a:endParaRPr lang="en-US" sz="1600" b="1" kern="10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hlinkClick r:id="rId26" action="ppaction://hlinkfile">
                            <a:extLst>
                              <a:ext uri="{A12FA001-AC4F-418D-AE19-62706E023703}">
                                <ahyp:hlinkClr xmlns:ahyp="http://schemas.microsoft.com/office/drawing/2018/hyperlinkcolor" val="tx"/>
                              </a:ext>
                            </a:extLst>
                          </a:hlinkClick>
                        </a:rPr>
                        <a:t>البحث الذكي عن الادوية البديلة</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a:solidFill>
                            <a:schemeClr val="tx1"/>
                          </a:solidFill>
                          <a:effectLst/>
                          <a:latin typeface="+mn-lt"/>
                          <a:ea typeface="+mn-ea"/>
                          <a:cs typeface="+mn-cs"/>
                        </a:rPr>
                        <a:t>9</a:t>
                      </a:r>
                    </a:p>
                  </a:txBody>
                  <a:tcPr marL="68580" marR="68580" marT="0" marB="0"/>
                </a:tc>
                <a:extLst>
                  <a:ext uri="{0D108BD9-81ED-4DB2-BD59-A6C34878D82A}">
                    <a16:rowId xmlns:a16="http://schemas.microsoft.com/office/drawing/2014/main" val="1578476494"/>
                  </a:ext>
                </a:extLst>
              </a:tr>
              <a:tr h="617062">
                <a:tc>
                  <a:txBody>
                    <a:bodyPr/>
                    <a:lstStyle/>
                    <a:p>
                      <a:pPr marL="0" marR="0" algn="ctr" defTabSz="914400" rtl="1" eaLnBrk="1" latinLnBrk="0" hangingPunct="1">
                        <a:lnSpc>
                          <a:spcPct val="115000"/>
                        </a:lnSpc>
                        <a:spcAft>
                          <a:spcPts val="800"/>
                        </a:spcAft>
                        <a:buNone/>
                      </a:pPr>
                      <a:r>
                        <a:rPr lang="en-US" sz="1600" b="1" kern="100" dirty="0">
                          <a:solidFill>
                            <a:schemeClr val="tx1"/>
                          </a:solidFill>
                          <a:effectLst/>
                          <a:latin typeface="+mn-lt"/>
                          <a:ea typeface="+mn-ea"/>
                          <a:cs typeface="+mn-cs"/>
                        </a:rPr>
                        <a:t> </a:t>
                      </a:r>
                    </a:p>
                  </a:txBody>
                  <a:tcPr marL="68580" marR="68580" marT="0" marB="0"/>
                </a:tc>
                <a:tc>
                  <a:txBody>
                    <a:bodyPr/>
                    <a:lstStyle/>
                    <a:p>
                      <a:pPr marL="0" marR="0" algn="ctr" defTabSz="914400" rtl="1" eaLnBrk="1" latinLnBrk="0" hangingPunct="1">
                        <a:lnSpc>
                          <a:spcPct val="115000"/>
                        </a:lnSpc>
                        <a:spcAft>
                          <a:spcPts val="800"/>
                        </a:spcAft>
                        <a:buNone/>
                      </a:pPr>
                      <a:r>
                        <a:rPr lang="ar-SA" sz="1600" b="1" kern="100" dirty="0">
                          <a:solidFill>
                            <a:schemeClr val="tx1"/>
                          </a:solidFill>
                          <a:effectLst/>
                          <a:latin typeface="+mn-lt"/>
                          <a:ea typeface="+mn-ea"/>
                          <a:cs typeface="+mn-cs"/>
                          <a:hlinkClick r:id="rId27" action="ppaction://hlinkfile">
                            <a:extLst>
                              <a:ext uri="{A12FA001-AC4F-418D-AE19-62706E023703}">
                                <ahyp:hlinkClr xmlns:ahyp="http://schemas.microsoft.com/office/drawing/2018/hyperlinkcolor" val="tx"/>
                              </a:ext>
                            </a:extLst>
                          </a:hlinkClick>
                        </a:rPr>
                        <a:t>تم</a:t>
                      </a:r>
                      <a:endParaRPr lang="en-US" sz="1600" b="1" kern="100" dirty="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A" sz="1600" b="1" kern="100" dirty="0">
                          <a:solidFill>
                            <a:schemeClr val="tx1"/>
                          </a:solidFill>
                          <a:effectLst/>
                          <a:latin typeface="+mn-lt"/>
                          <a:ea typeface="+mn-ea"/>
                          <a:cs typeface="+mn-cs"/>
                        </a:rPr>
                        <a:t>_____</a:t>
                      </a:r>
                      <a:endParaRPr lang="en-US" sz="1600" b="1" kern="100" dirty="0">
                        <a:solidFill>
                          <a:schemeClr val="tx1"/>
                        </a:solidFill>
                        <a:effectLst/>
                        <a:latin typeface="+mn-lt"/>
                        <a:ea typeface="+mn-ea"/>
                        <a:cs typeface="+mn-cs"/>
                      </a:endParaRPr>
                    </a:p>
                  </a:txBody>
                  <a:tcPr marL="68580" marR="68580" marT="0" marB="0"/>
                </a:tc>
                <a:tc vMerge="1">
                  <a:txBody>
                    <a:bodyPr/>
                    <a:lstStyle/>
                    <a:p>
                      <a:pPr rtl="1"/>
                      <a:endParaRPr lang="ar-SA"/>
                    </a:p>
                  </a:txBody>
                  <a:tcPr/>
                </a:tc>
                <a:tc>
                  <a:txBody>
                    <a:bodyPr/>
                    <a:lstStyle/>
                    <a:p>
                      <a:pPr marL="0" marR="0" algn="ctr" defTabSz="914400" rtl="1" eaLnBrk="1" latinLnBrk="0" hangingPunct="1">
                        <a:lnSpc>
                          <a:spcPct val="115000"/>
                        </a:lnSpc>
                        <a:spcAft>
                          <a:spcPts val="800"/>
                        </a:spcAft>
                        <a:buNone/>
                      </a:pPr>
                      <a:r>
                        <a:rPr lang="ar-SY" sz="1600" b="1" kern="100">
                          <a:solidFill>
                            <a:schemeClr val="tx1"/>
                          </a:solidFill>
                          <a:effectLst/>
                          <a:latin typeface="+mn-lt"/>
                          <a:ea typeface="+mn-ea"/>
                          <a:cs typeface="+mn-cs"/>
                        </a:rPr>
                        <a:t>وظيفي</a:t>
                      </a:r>
                      <a:endParaRPr lang="en-US" sz="1600" b="1" kern="10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ar-SY" sz="1600" b="1" kern="100" dirty="0">
                          <a:solidFill>
                            <a:schemeClr val="tx1"/>
                          </a:solidFill>
                          <a:effectLst/>
                          <a:latin typeface="+mn-lt"/>
                          <a:ea typeface="+mn-ea"/>
                          <a:cs typeface="+mn-cs"/>
                          <a:hlinkClick r:id="rId28" action="ppaction://hlinkfile">
                            <a:extLst>
                              <a:ext uri="{A12FA001-AC4F-418D-AE19-62706E023703}">
                                <ahyp:hlinkClr xmlns:ahyp="http://schemas.microsoft.com/office/drawing/2018/hyperlinkcolor" val="tx"/>
                              </a:ext>
                            </a:extLst>
                          </a:hlinkClick>
                        </a:rPr>
                        <a:t>إدارة الأصناف والادوية</a:t>
                      </a:r>
                      <a:endParaRPr lang="en-US" sz="1600" b="1" kern="100" dirty="0">
                        <a:solidFill>
                          <a:schemeClr val="tx1"/>
                        </a:solidFill>
                        <a:effectLst/>
                        <a:latin typeface="+mn-lt"/>
                        <a:ea typeface="+mn-ea"/>
                        <a:cs typeface="+mn-cs"/>
                      </a:endParaRPr>
                    </a:p>
                  </a:txBody>
                  <a:tcPr marL="68580" marR="68580" marT="0" marB="0"/>
                </a:tc>
                <a:tc>
                  <a:txBody>
                    <a:bodyPr/>
                    <a:lstStyle/>
                    <a:p>
                      <a:pPr marL="0" marR="0" algn="ctr" defTabSz="914400" rtl="1" eaLnBrk="1" latinLnBrk="0" hangingPunct="1">
                        <a:lnSpc>
                          <a:spcPct val="115000"/>
                        </a:lnSpc>
                        <a:spcAft>
                          <a:spcPts val="800"/>
                        </a:spcAft>
                        <a:buNone/>
                      </a:pPr>
                      <a:r>
                        <a:rPr lang="en-US" sz="1600" b="1" kern="100" dirty="0">
                          <a:solidFill>
                            <a:schemeClr val="tx1"/>
                          </a:solidFill>
                          <a:effectLst/>
                          <a:latin typeface="+mn-lt"/>
                          <a:ea typeface="+mn-ea"/>
                          <a:cs typeface="+mn-cs"/>
                        </a:rPr>
                        <a:t>10</a:t>
                      </a:r>
                    </a:p>
                  </a:txBody>
                  <a:tcPr marL="68580" marR="68580" marT="0" marB="0"/>
                </a:tc>
                <a:extLst>
                  <a:ext uri="{0D108BD9-81ED-4DB2-BD59-A6C34878D82A}">
                    <a16:rowId xmlns:a16="http://schemas.microsoft.com/office/drawing/2014/main" val="2035720518"/>
                  </a:ext>
                </a:extLst>
              </a:tr>
            </a:tbl>
          </a:graphicData>
        </a:graphic>
      </p:graphicFrame>
    </p:spTree>
    <p:extLst>
      <p:ext uri="{BB962C8B-B14F-4D97-AF65-F5344CB8AC3E}">
        <p14:creationId xmlns:p14="http://schemas.microsoft.com/office/powerpoint/2010/main" val="2887656335"/>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443</TotalTime>
  <Words>2418</Words>
  <Application>Microsoft Office PowerPoint</Application>
  <PresentationFormat>شاشة عريضة</PresentationFormat>
  <Paragraphs>707</Paragraphs>
  <Slides>35</Slides>
  <Notes>30</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35</vt:i4>
      </vt:variant>
    </vt:vector>
  </HeadingPairs>
  <TitlesOfParts>
    <vt:vector size="43" baseType="lpstr">
      <vt:lpstr>Aptos</vt:lpstr>
      <vt:lpstr>Aptos Display</vt:lpstr>
      <vt:lpstr>Arial</vt:lpstr>
      <vt:lpstr>Calibri</vt:lpstr>
      <vt:lpstr>Courier New</vt:lpstr>
      <vt:lpstr>Microsoft Sans Serif</vt:lpstr>
      <vt:lpstr>Wingdings</vt:lpstr>
      <vt:lpstr>نسق Office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Elsalih</dc:creator>
  <cp:lastModifiedBy>Mohammed Elsalih</cp:lastModifiedBy>
  <cp:revision>5</cp:revision>
  <dcterms:created xsi:type="dcterms:W3CDTF">2025-12-24T14:52:32Z</dcterms:created>
  <dcterms:modified xsi:type="dcterms:W3CDTF">2025-12-25T12:33:28Z</dcterms:modified>
</cp:coreProperties>
</file>